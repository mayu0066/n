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264" r:id="rId5"/>
    <p:sldId id="262" r:id="rId6"/>
    <p:sldId id="263" r:id="rId7"/>
    <p:sldId id="2147483642" r:id="rId8"/>
    <p:sldId id="259" r:id="rId9"/>
    <p:sldId id="2147483643" r:id="rId10"/>
    <p:sldId id="265" r:id="rId11"/>
    <p:sldId id="302" r:id="rId12"/>
    <p:sldId id="303" r:id="rId13"/>
    <p:sldId id="304" r:id="rId14"/>
    <p:sldId id="305" r:id="rId15"/>
    <p:sldId id="306" r:id="rId16"/>
    <p:sldId id="307" r:id="rId17"/>
    <p:sldId id="266" r:id="rId18"/>
    <p:sldId id="267" r:id="rId19"/>
    <p:sldId id="268" r:id="rId20"/>
    <p:sldId id="287" r:id="rId21"/>
    <p:sldId id="258" r:id="rId22"/>
    <p:sldId id="2147483647" r:id="rId2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 id="{0657CC6B-A6B1-C44B-9B5F-C6E4A5705504}">
          <p14:sldIdLst>
            <p14:sldId id="264"/>
            <p14:sldId id="262"/>
          </p14:sldIdLst>
        </p14:section>
        <p14:section name="Section 1導入" id="{1F3414C1-626E-C440-8FAA-3DBDED9A736D}">
          <p14:sldIdLst>
            <p14:sldId id="263"/>
            <p14:sldId id="2147483642"/>
          </p14:sldIdLst>
        </p14:section>
        <p14:section name="Section 2スコープと目的" id="{561ED1C4-8CC9-1D49-B246-49F64D526D4F}">
          <p14:sldIdLst>
            <p14:sldId id="259"/>
            <p14:sldId id="2147483643"/>
          </p14:sldIdLst>
        </p14:section>
        <p14:section name="Section 3用語と定義" id="{BC0E5B95-F3CD-5348-8EB1-392422750966}">
          <p14:sldIdLst>
            <p14:sldId id="265"/>
            <p14:sldId id="302"/>
            <p14:sldId id="303"/>
            <p14:sldId id="304"/>
            <p14:sldId id="305"/>
            <p14:sldId id="306"/>
            <p14:sldId id="307"/>
          </p14:sldIdLst>
        </p14:section>
        <p14:section name="Section 4 ADSの安全要件、評価および検証の概要" id="{9CAA25FE-1F48-3B45-BA86-1C55559595A1}">
          <p14:sldIdLst>
            <p14:sldId id="266"/>
            <p14:sldId id="267"/>
            <p14:sldId id="268"/>
            <p14:sldId id="287"/>
            <p14:sldId id="258"/>
            <p14:sldId id="214748364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66FF"/>
    <a:srgbClr val="FFFC00"/>
    <a:srgbClr val="00CC99"/>
    <a:srgbClr val="FFFFCC"/>
    <a:srgbClr val="FFCCCC"/>
    <a:srgbClr val="F0EC00"/>
    <a:srgbClr val="E9EBF5"/>
    <a:srgbClr val="FFFF6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17" autoAdjust="0"/>
    <p:restoredTop sz="96318" autoAdjust="0"/>
  </p:normalViewPr>
  <p:slideViewPr>
    <p:cSldViewPr snapToGrid="0">
      <p:cViewPr varScale="1">
        <p:scale>
          <a:sx n="128" d="100"/>
          <a:sy n="128" d="100"/>
        </p:scale>
        <p:origin x="4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F091CD-8465-354C-ABEA-AD1499905E46}" type="datetimeFigureOut">
              <a:rPr kumimoji="1" lang="ja-JP" altLang="en-US" smtClean="0"/>
              <a:t>2026/3/1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1A1BBA-52CA-5643-A011-E72F48AD8288}" type="slidenum">
              <a:rPr kumimoji="1" lang="ja-JP" altLang="en-US" smtClean="0"/>
              <a:t>‹#›</a:t>
            </a:fld>
            <a:endParaRPr kumimoji="1" lang="ja-JP" altLang="en-US"/>
          </a:p>
        </p:txBody>
      </p:sp>
    </p:spTree>
    <p:extLst>
      <p:ext uri="{BB962C8B-B14F-4D97-AF65-F5344CB8AC3E}">
        <p14:creationId xmlns:p14="http://schemas.microsoft.com/office/powerpoint/2010/main" val="202731906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661D4179-DAC5-3848-80A2-3FDD25A6C701}" type="slidenum">
              <a:rPr kumimoji="1" lang="ja-JP" altLang="en-US" smtClean="0"/>
              <a:t>15</a:t>
            </a:fld>
            <a:endParaRPr kumimoji="1" lang="ja-JP" altLang="en-US"/>
          </a:p>
        </p:txBody>
      </p:sp>
    </p:spTree>
    <p:extLst>
      <p:ext uri="{BB962C8B-B14F-4D97-AF65-F5344CB8AC3E}">
        <p14:creationId xmlns:p14="http://schemas.microsoft.com/office/powerpoint/2010/main" val="3794619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661D4179-DAC5-3848-80A2-3FDD25A6C701}" type="slidenum">
              <a:rPr kumimoji="1" lang="ja-JP" altLang="en-US" smtClean="0"/>
              <a:t>16</a:t>
            </a:fld>
            <a:endParaRPr kumimoji="1" lang="ja-JP" altLang="en-US"/>
          </a:p>
        </p:txBody>
      </p:sp>
    </p:spTree>
    <p:extLst>
      <p:ext uri="{BB962C8B-B14F-4D97-AF65-F5344CB8AC3E}">
        <p14:creationId xmlns:p14="http://schemas.microsoft.com/office/powerpoint/2010/main" val="3779452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661D4179-DAC5-3848-80A2-3FDD25A6C701}" type="slidenum">
              <a:rPr kumimoji="1" lang="ja-JP" altLang="en-US" smtClean="0"/>
              <a:t>17</a:t>
            </a:fld>
            <a:endParaRPr kumimoji="1" lang="ja-JP" altLang="en-US"/>
          </a:p>
        </p:txBody>
      </p:sp>
    </p:spTree>
    <p:extLst>
      <p:ext uri="{BB962C8B-B14F-4D97-AF65-F5344CB8AC3E}">
        <p14:creationId xmlns:p14="http://schemas.microsoft.com/office/powerpoint/2010/main" val="192668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AC51F2-4F13-2FFD-B406-D0AB939E2B8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20C9095-8D4D-00B3-7E2F-FC7E969F99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62DF9EF-68CB-231A-737E-81DCC837B261}"/>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5" name="フッター プレースホルダー 4">
            <a:extLst>
              <a:ext uri="{FF2B5EF4-FFF2-40B4-BE49-F238E27FC236}">
                <a16:creationId xmlns:a16="http://schemas.microsoft.com/office/drawing/2014/main" id="{353618EA-5EDD-414A-4877-DB1ABC4248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892B238-F9AB-EAA6-6FFD-4F3F252DBF57}"/>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1147006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857988-6CF3-D541-189F-50A9FE8CE08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AADC086-639A-4F3F-8219-62D07C2EC65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F119F4-4DE3-6412-66A0-99710DA22864}"/>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5" name="フッター プレースホルダー 4">
            <a:extLst>
              <a:ext uri="{FF2B5EF4-FFF2-40B4-BE49-F238E27FC236}">
                <a16:creationId xmlns:a16="http://schemas.microsoft.com/office/drawing/2014/main" id="{57A1A98A-C752-E37D-A374-03EF8F20CC5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AF6E664-9F68-E346-36C3-2F8A3FB508F6}"/>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1575020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1AE214-7F0F-5AE6-E3BF-C570BEAB1B1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4FA8EDD-8D59-AE32-6A5E-6BB9C9BD33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69779DC-1137-2F3F-28D6-545BD59880FB}"/>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5" name="フッター プレースホルダー 4">
            <a:extLst>
              <a:ext uri="{FF2B5EF4-FFF2-40B4-BE49-F238E27FC236}">
                <a16:creationId xmlns:a16="http://schemas.microsoft.com/office/drawing/2014/main" id="{7108A0A6-162B-3663-0497-93CDAB1A151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B97D105-703A-71B2-7BAA-FFC38138D76E}"/>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1174375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D5D666-BB64-8D4F-6679-653ED368C4C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46AB980-BD36-E43D-DC6F-B02D3D20B6D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DF8E8D1-C63A-4D37-8194-83C7CC24826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61AD86F-EEFA-2F8F-2880-A147BBE2DE32}"/>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6" name="フッター プレースホルダー 5">
            <a:extLst>
              <a:ext uri="{FF2B5EF4-FFF2-40B4-BE49-F238E27FC236}">
                <a16:creationId xmlns:a16="http://schemas.microsoft.com/office/drawing/2014/main" id="{5600EAD9-ADA7-CBD0-4365-8EBAA6F81FD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6E6A4EC-D330-239C-FAB4-5EBC027066CD}"/>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174823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6D78F4-B2C7-4290-961C-EECFF3D96AD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E57E769-6849-1797-93CC-7862DB97D4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CFF6819-DBDA-75C5-7457-A7F8396538D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6A0214E-3EC9-2E13-5DC0-C1778FBEA9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75AF940-B169-2DCD-F3D2-82E5330C680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3F88EDD-9098-FF28-E55B-E25FDBD03E5F}"/>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8" name="フッター プレースホルダー 7">
            <a:extLst>
              <a:ext uri="{FF2B5EF4-FFF2-40B4-BE49-F238E27FC236}">
                <a16:creationId xmlns:a16="http://schemas.microsoft.com/office/drawing/2014/main" id="{918E3E12-5D92-E231-081F-61C826782FD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92BDAF8-243C-BA9A-37E1-1303DE4582AA}"/>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952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B69B75-3DFF-5FD7-CB71-BCD53F25B34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BEE9002-EBAD-CB24-E46A-DFDFA4394E46}"/>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4" name="フッター プレースホルダー 3">
            <a:extLst>
              <a:ext uri="{FF2B5EF4-FFF2-40B4-BE49-F238E27FC236}">
                <a16:creationId xmlns:a16="http://schemas.microsoft.com/office/drawing/2014/main" id="{3B80209D-B6B1-FFA8-A169-F342840B6EA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6BAE0CA-2AC4-1A94-5356-68DDD02FAB0E}"/>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274262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04D173D-A681-3FDF-9583-1D2A8CCAA08A}"/>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3" name="フッター プレースホルダー 2">
            <a:extLst>
              <a:ext uri="{FF2B5EF4-FFF2-40B4-BE49-F238E27FC236}">
                <a16:creationId xmlns:a16="http://schemas.microsoft.com/office/drawing/2014/main" id="{CBA2A33C-2A87-F1A2-439E-521A8153B76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60352B4-A47A-E2CC-4634-789B1653C46D}"/>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
        <p:nvSpPr>
          <p:cNvPr id="5" name="正方形/長方形 4">
            <a:extLst>
              <a:ext uri="{FF2B5EF4-FFF2-40B4-BE49-F238E27FC236}">
                <a16:creationId xmlns:a16="http://schemas.microsoft.com/office/drawing/2014/main" id="{182CC2FA-A2E0-9597-7682-A98CD12FDABD}"/>
              </a:ext>
            </a:extLst>
          </p:cNvPr>
          <p:cNvSpPr/>
          <p:nvPr userDrawn="1"/>
        </p:nvSpPr>
        <p:spPr>
          <a:xfrm>
            <a:off x="0" y="0"/>
            <a:ext cx="12192000" cy="437322"/>
          </a:xfrm>
          <a:prstGeom prst="rect">
            <a:avLst/>
          </a:prstGeom>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054D90CE-6D3D-FF96-B7EC-E066A2236F93}"/>
              </a:ext>
            </a:extLst>
          </p:cNvPr>
          <p:cNvSpPr/>
          <p:nvPr userDrawn="1"/>
        </p:nvSpPr>
        <p:spPr>
          <a:xfrm>
            <a:off x="0" y="6420679"/>
            <a:ext cx="12192000" cy="437321"/>
          </a:xfrm>
          <a:prstGeom prst="rect">
            <a:avLst/>
          </a:prstGeom>
          <a:gradFill flip="none" rotWithShape="1">
            <a:gsLst>
              <a:gs pos="0">
                <a:schemeClr val="bg2">
                  <a:lumMod val="25000"/>
                  <a:tint val="66000"/>
                  <a:satMod val="160000"/>
                </a:schemeClr>
              </a:gs>
              <a:gs pos="50000">
                <a:schemeClr val="bg2">
                  <a:lumMod val="25000"/>
                  <a:tint val="44500"/>
                  <a:satMod val="160000"/>
                </a:schemeClr>
              </a:gs>
              <a:gs pos="100000">
                <a:schemeClr val="bg2">
                  <a:lumMod val="25000"/>
                  <a:tint val="23500"/>
                  <a:satMod val="160000"/>
                </a:schemeClr>
              </a:gs>
            </a:gsLst>
            <a:lin ang="10800000" scaled="1"/>
            <a:tileRect/>
          </a:gradFill>
          <a:ln>
            <a:noFill/>
          </a:ln>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29031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04D173D-A681-3FDF-9583-1D2A8CCAA08A}"/>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3" name="フッター プレースホルダー 2">
            <a:extLst>
              <a:ext uri="{FF2B5EF4-FFF2-40B4-BE49-F238E27FC236}">
                <a16:creationId xmlns:a16="http://schemas.microsoft.com/office/drawing/2014/main" id="{CBA2A33C-2A87-F1A2-439E-521A8153B76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60352B4-A47A-E2CC-4634-789B1653C46D}"/>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
        <p:nvSpPr>
          <p:cNvPr id="5" name="正方形/長方形 4">
            <a:extLst>
              <a:ext uri="{FF2B5EF4-FFF2-40B4-BE49-F238E27FC236}">
                <a16:creationId xmlns:a16="http://schemas.microsoft.com/office/drawing/2014/main" id="{182CC2FA-A2E0-9597-7682-A98CD12FDABD}"/>
              </a:ext>
            </a:extLst>
          </p:cNvPr>
          <p:cNvSpPr/>
          <p:nvPr userDrawn="1"/>
        </p:nvSpPr>
        <p:spPr>
          <a:xfrm>
            <a:off x="0" y="0"/>
            <a:ext cx="12192000" cy="437322"/>
          </a:xfrm>
          <a:prstGeom prst="rect">
            <a:avLst/>
          </a:prstGeom>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68514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A78D8B-71EE-BF66-D7AA-3427A7FD130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D9F643F-E8AA-9933-42C5-311E588E74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6C785AE-03F4-5FC5-E27B-6D2AB2AC2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DFA9488-9C3E-CDEB-0DA8-1AD09A484496}"/>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6" name="フッター プレースホルダー 5">
            <a:extLst>
              <a:ext uri="{FF2B5EF4-FFF2-40B4-BE49-F238E27FC236}">
                <a16:creationId xmlns:a16="http://schemas.microsoft.com/office/drawing/2014/main" id="{D3AAD571-B0D9-E7C3-E91A-76C349DB12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9055177-84B3-2AD2-29D6-733286B13937}"/>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4244951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F28489-A0EA-C5AE-8562-2A8F876C5F4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4DD04A6-3053-71A3-9193-6A460F02F9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9B5B815-3B66-C263-058B-9C4DED4B61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7545918-5E8C-AEA9-AC94-22E1111B97DB}"/>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6" name="フッター プレースホルダー 5">
            <a:extLst>
              <a:ext uri="{FF2B5EF4-FFF2-40B4-BE49-F238E27FC236}">
                <a16:creationId xmlns:a16="http://schemas.microsoft.com/office/drawing/2014/main" id="{10B1EE3B-3378-A309-AA95-71679583C63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8A9B1F9-5ED4-BC42-3F2E-203E29BF37DB}"/>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2432608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6CDE9A-3B12-06BA-14B4-68C8288F43D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2118651-ED10-4F2A-EFDF-FCD0D2E0989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49A8348-3864-25A9-E900-462EA4F38C73}"/>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5" name="フッター プレースホルダー 4">
            <a:extLst>
              <a:ext uri="{FF2B5EF4-FFF2-40B4-BE49-F238E27FC236}">
                <a16:creationId xmlns:a16="http://schemas.microsoft.com/office/drawing/2014/main" id="{5E8A842C-6FCD-653B-70B1-7F3D0402933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E0BD913-81B8-F138-A759-8E9B8288834B}"/>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31025982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5C6771C-220B-721C-C1D8-EE08CCBD025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42AEF2B-4282-DB9F-761E-3861C2834C8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8AD3E42-0E83-7884-93D9-70FFE1F73190}"/>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5" name="フッター プレースホルダー 4">
            <a:extLst>
              <a:ext uri="{FF2B5EF4-FFF2-40B4-BE49-F238E27FC236}">
                <a16:creationId xmlns:a16="http://schemas.microsoft.com/office/drawing/2014/main" id="{EFDF40C6-5598-6D1B-B8E5-52DA949C4ED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103280B-44E2-2B0E-58D8-AA697A115EF4}"/>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2696766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2A96049-BD50-E478-55D8-A8AE12A059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B967E1C-CD64-9B8B-9248-7CF6D5E514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C58627C-DAFA-31C4-59E0-9E10E0F3D6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C6E085-954B-7F41-A056-8A6168313553}" type="datetimeFigureOut">
              <a:rPr kumimoji="1" lang="ja-JP" altLang="en-US" smtClean="0"/>
              <a:t>2026/3/1</a:t>
            </a:fld>
            <a:endParaRPr kumimoji="1" lang="ja-JP" altLang="en-US"/>
          </a:p>
        </p:txBody>
      </p:sp>
      <p:sp>
        <p:nvSpPr>
          <p:cNvPr id="5" name="フッター プレースホルダー 4">
            <a:extLst>
              <a:ext uri="{FF2B5EF4-FFF2-40B4-BE49-F238E27FC236}">
                <a16:creationId xmlns:a16="http://schemas.microsoft.com/office/drawing/2014/main" id="{B15D0ACB-E7BF-C951-5A5D-3EBDB7BBC2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C12DB8C-5AEA-3185-1FCA-93C7370BF4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496158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unece.org/info/publications/pub/365097"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425024-661E-C74B-D98B-8EF9C6D82CDA}"/>
              </a:ext>
            </a:extLst>
          </p:cNvPr>
          <p:cNvSpPr>
            <a:spLocks noGrp="1"/>
          </p:cNvSpPr>
          <p:nvPr>
            <p:ph type="ctrTitle"/>
          </p:nvPr>
        </p:nvSpPr>
        <p:spPr/>
        <p:txBody>
          <a:bodyPr>
            <a:normAutofit/>
          </a:bodyPr>
          <a:lstStyle/>
          <a:p>
            <a:r>
              <a:rPr lang="en" altLang="ja-JP" sz="4000" b="1">
                <a:effectLst/>
                <a:latin typeface="Times New Roman" panose="02020603050405020304" pitchFamily="18" charset="0"/>
              </a:rPr>
              <a:t>Guidelines and recommendations for ADS safety requirements, assessments and test methods to inform regulatory development</a:t>
            </a:r>
            <a:endParaRPr lang="en" altLang="ja-JP" sz="4000">
              <a:effectLst/>
              <a:latin typeface="Times New Roman" panose="02020603050405020304" pitchFamily="18" charset="0"/>
            </a:endParaRPr>
          </a:p>
        </p:txBody>
      </p:sp>
      <p:sp>
        <p:nvSpPr>
          <p:cNvPr id="3" name="字幕 2">
            <a:extLst>
              <a:ext uri="{FF2B5EF4-FFF2-40B4-BE49-F238E27FC236}">
                <a16:creationId xmlns:a16="http://schemas.microsoft.com/office/drawing/2014/main" id="{AF59D9B2-48F1-E84A-72B1-3644FC89C5AE}"/>
              </a:ext>
            </a:extLst>
          </p:cNvPr>
          <p:cNvSpPr>
            <a:spLocks noGrp="1"/>
          </p:cNvSpPr>
          <p:nvPr>
            <p:ph type="subTitle" idx="1"/>
          </p:nvPr>
        </p:nvSpPr>
        <p:spPr/>
        <p:txBody>
          <a:bodyPr>
            <a:normAutofit/>
          </a:bodyPr>
          <a:lstStyle/>
          <a:p>
            <a:r>
              <a:rPr lang="ja-JP" altLang="ja-JP" dirty="0">
                <a:latin typeface="Meiryo UI" panose="020B0604030504040204" pitchFamily="34" charset="-128"/>
                <a:ea typeface="Meiryo UI" panose="020B0604030504040204" pitchFamily="34" charset="-128"/>
              </a:rPr>
              <a:t>規制の策定に情報を提供するADS の安全性要件、評価</a:t>
            </a:r>
            <a:r>
              <a:rPr lang="ja-JP" altLang="en-US" dirty="0">
                <a:latin typeface="Meiryo UI" panose="020B0604030504040204" pitchFamily="34" charset="-128"/>
                <a:ea typeface="Meiryo UI" panose="020B0604030504040204" pitchFamily="34" charset="-128"/>
              </a:rPr>
              <a:t>、</a:t>
            </a:r>
            <a:r>
              <a:rPr lang="ja-JP" altLang="ja-JP" dirty="0">
                <a:latin typeface="Meiryo UI" panose="020B0604030504040204" pitchFamily="34" charset="-128"/>
                <a:ea typeface="Meiryo UI" panose="020B0604030504040204" pitchFamily="34" charset="-128"/>
              </a:rPr>
              <a:t>試験方法に関する</a:t>
            </a:r>
            <a:r>
              <a:rPr lang="ja-JP" altLang="en-US" dirty="0">
                <a:latin typeface="Meiryo UI" panose="020B0604030504040204" pitchFamily="34" charset="-128"/>
                <a:ea typeface="Meiryo UI" panose="020B0604030504040204" pitchFamily="34" charset="-128"/>
              </a:rPr>
              <a:t>指針</a:t>
            </a:r>
            <a:r>
              <a:rPr lang="ja-JP" altLang="ja-JP" dirty="0">
                <a:latin typeface="Meiryo UI" panose="020B0604030504040204" pitchFamily="34" charset="-128"/>
                <a:ea typeface="Meiryo UI" panose="020B0604030504040204" pitchFamily="34" charset="-128"/>
              </a:rPr>
              <a:t>と推奨事項</a:t>
            </a:r>
            <a:endParaRPr kumimoji="1" lang="ja-JP" altLang="en-US"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3062876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E3708BD-98C4-44FB-6491-65D21015DF69}"/>
              </a:ext>
            </a:extLst>
          </p:cNvPr>
          <p:cNvSpPr txBox="1"/>
          <p:nvPr/>
        </p:nvSpPr>
        <p:spPr>
          <a:xfrm>
            <a:off x="319404" y="46585"/>
            <a:ext cx="11528188" cy="369332"/>
          </a:xfrm>
          <a:prstGeom prst="rect">
            <a:avLst/>
          </a:prstGeom>
          <a:noFill/>
        </p:spPr>
        <p:txBody>
          <a:bodyPr wrap="square" rtlCol="0">
            <a:spAutoFit/>
          </a:bodyPr>
          <a:lstStyle/>
          <a:p>
            <a:pPr algn="ctr"/>
            <a:r>
              <a:rPr lang="ja-JP" altLang="en-US">
                <a:solidFill>
                  <a:schemeClr val="bg1"/>
                </a:solidFill>
                <a:latin typeface="Meiryo UI" panose="020B0604030504040204" pitchFamily="50" charset="-128"/>
                <a:ea typeface="Meiryo UI" panose="020B0604030504040204" pitchFamily="50" charset="-128"/>
              </a:rPr>
              <a:t>目次</a:t>
            </a:r>
            <a:endParaRPr lang="en-US" altLang="ja-JP">
              <a:solidFill>
                <a:schemeClr val="bg1"/>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4F28E2CA-1709-5690-3F63-443B9CA14882}"/>
              </a:ext>
            </a:extLst>
          </p:cNvPr>
          <p:cNvSpPr txBox="1"/>
          <p:nvPr/>
        </p:nvSpPr>
        <p:spPr>
          <a:xfrm>
            <a:off x="965734" y="920621"/>
            <a:ext cx="8361145" cy="5016758"/>
          </a:xfrm>
          <a:prstGeom prst="rect">
            <a:avLst/>
          </a:prstGeom>
          <a:noFill/>
        </p:spPr>
        <p:txBody>
          <a:bodyPr wrap="square" rtlCol="0">
            <a:spAutoFit/>
          </a:bodyPr>
          <a:lstStyle/>
          <a:p>
            <a:r>
              <a:rPr kumimoji="1" lang="en-US" altLang="ja-JP" sz="1600" dirty="0"/>
              <a:t>Section1</a:t>
            </a:r>
            <a:r>
              <a:rPr kumimoji="1" lang="ja-JP" altLang="en-US" sz="1600" dirty="0"/>
              <a:t>　導入</a:t>
            </a:r>
            <a:endParaRPr kumimoji="1" lang="en-US" altLang="ja-JP" sz="1600" dirty="0"/>
          </a:p>
          <a:p>
            <a:r>
              <a:rPr kumimoji="1" lang="en-US" altLang="ja-JP" sz="1600" dirty="0"/>
              <a:t>Section2</a:t>
            </a:r>
            <a:r>
              <a:rPr kumimoji="1" lang="ja-JP" altLang="en-US" sz="1600" dirty="0"/>
              <a:t>　スコープと目的</a:t>
            </a:r>
            <a:endParaRPr lang="en-US" altLang="ja-JP" sz="1600" dirty="0"/>
          </a:p>
          <a:p>
            <a:r>
              <a:rPr kumimoji="1" lang="en-US" altLang="ja-JP" sz="1600" dirty="0"/>
              <a:t>Section3</a:t>
            </a:r>
            <a:r>
              <a:rPr kumimoji="1" lang="ja-JP" altLang="en-US" sz="1600" dirty="0"/>
              <a:t>　用語とその定義</a:t>
            </a:r>
            <a:endParaRPr lang="en-US" altLang="ja-JP" sz="1600" dirty="0"/>
          </a:p>
          <a:p>
            <a:r>
              <a:rPr kumimoji="1" lang="en-US" altLang="ja-JP" sz="1600" dirty="0"/>
              <a:t>Section4</a:t>
            </a:r>
            <a:r>
              <a:rPr kumimoji="1" lang="ja-JP" altLang="en-US" sz="1600" dirty="0"/>
              <a:t>　</a:t>
            </a:r>
            <a:r>
              <a:rPr kumimoji="1" lang="en" altLang="ja-JP" sz="1600" dirty="0"/>
              <a:t> ADS</a:t>
            </a:r>
            <a:r>
              <a:rPr kumimoji="1" lang="ja-JP" altLang="en-US" sz="1600" dirty="0"/>
              <a:t>の安全要件、評価および検証の概要</a:t>
            </a:r>
            <a:endParaRPr kumimoji="1" lang="en-US" altLang="ja-JP" sz="1600" dirty="0"/>
          </a:p>
          <a:p>
            <a:r>
              <a:rPr kumimoji="1" lang="en-US" altLang="ja-JP" sz="1600" dirty="0"/>
              <a:t>Section5</a:t>
            </a:r>
            <a:r>
              <a:rPr kumimoji="1" lang="ja-JP" altLang="en-US" sz="1600" dirty="0"/>
              <a:t>　審査、安全性評価、メーカのシステムに関する文書</a:t>
            </a:r>
            <a:endParaRPr lang="en-US" altLang="ja-JP" sz="1600" dirty="0"/>
          </a:p>
          <a:p>
            <a:r>
              <a:rPr kumimoji="1" lang="en-US" altLang="ja-JP" sz="1600" dirty="0"/>
              <a:t>Section6</a:t>
            </a:r>
            <a:r>
              <a:rPr kumimoji="1" lang="ja-JP" altLang="en-US" sz="1600" dirty="0"/>
              <a:t>　</a:t>
            </a:r>
            <a:r>
              <a:rPr kumimoji="1" lang="en" altLang="ja-JP" sz="1600" dirty="0"/>
              <a:t> </a:t>
            </a:r>
            <a:r>
              <a:rPr kumimoji="1" lang="en-US" altLang="ja-JP" sz="1600" dirty="0"/>
              <a:t>ADS</a:t>
            </a:r>
            <a:r>
              <a:rPr kumimoji="1" lang="ja-JP" altLang="en-US" sz="1600" dirty="0"/>
              <a:t>の動的運転タスク性能要件</a:t>
            </a:r>
            <a:endParaRPr kumimoji="1" lang="en-US" altLang="ja-JP" sz="1600" dirty="0"/>
          </a:p>
          <a:p>
            <a:r>
              <a:rPr kumimoji="1" lang="en-US" altLang="ja-JP" sz="1600" dirty="0"/>
              <a:t>Section7</a:t>
            </a:r>
            <a:r>
              <a:rPr kumimoji="1" lang="ja-JP" altLang="en-US" sz="1600" dirty="0"/>
              <a:t>　ユーザと</a:t>
            </a:r>
            <a:r>
              <a:rPr kumimoji="1" lang="en" altLang="ja-JP" sz="1600" dirty="0"/>
              <a:t>ADS</a:t>
            </a:r>
            <a:r>
              <a:rPr kumimoji="1" lang="ja-JP" altLang="en-US" sz="1600" dirty="0"/>
              <a:t>の安全なインタラクションの要件</a:t>
            </a:r>
            <a:endParaRPr lang="en-US" altLang="ja-JP" sz="1600" dirty="0"/>
          </a:p>
          <a:p>
            <a:r>
              <a:rPr kumimoji="1" lang="en-US" altLang="ja-JP" sz="1600" dirty="0"/>
              <a:t>Section8</a:t>
            </a:r>
            <a:r>
              <a:rPr kumimoji="1" lang="ja-JP" altLang="en-US" sz="1600" dirty="0"/>
              <a:t>　使用中の監視と報告</a:t>
            </a:r>
            <a:endParaRPr kumimoji="1" lang="en-US" altLang="ja-JP" sz="1600" dirty="0"/>
          </a:p>
          <a:p>
            <a:endParaRPr lang="en-US" altLang="ja-JP" sz="1600" dirty="0"/>
          </a:p>
          <a:p>
            <a:r>
              <a:rPr lang="en-US" altLang="ja-JP" sz="1600" dirty="0"/>
              <a:t>Annex1</a:t>
            </a:r>
            <a:r>
              <a:rPr lang="ja-JP" altLang="en-US" sz="1600" dirty="0"/>
              <a:t>　</a:t>
            </a:r>
            <a:r>
              <a:rPr lang="en" altLang="ja-JP" sz="1600" dirty="0"/>
              <a:t> ADS</a:t>
            </a:r>
            <a:r>
              <a:rPr lang="ja-JP" altLang="en-US" sz="1600" dirty="0"/>
              <a:t>安全要件の作成の背景</a:t>
            </a:r>
            <a:endParaRPr lang="en-US" altLang="ja-JP" sz="1600" dirty="0"/>
          </a:p>
          <a:p>
            <a:r>
              <a:rPr lang="en-US" altLang="ja-JP" sz="1600" dirty="0"/>
              <a:t>Annex2</a:t>
            </a:r>
            <a:r>
              <a:rPr lang="ja-JP" altLang="en-US" sz="1600" dirty="0"/>
              <a:t>　適切な検証ピラーへの</a:t>
            </a:r>
            <a:r>
              <a:rPr lang="en" altLang="ja-JP" sz="1600" dirty="0"/>
              <a:t>DDT </a:t>
            </a:r>
            <a:r>
              <a:rPr lang="ja-JP" altLang="en-US" sz="1600" dirty="0"/>
              <a:t>とユーザ要件の基準</a:t>
            </a:r>
            <a:endParaRPr lang="en-US" altLang="ja-JP" sz="1600" dirty="0"/>
          </a:p>
          <a:p>
            <a:r>
              <a:rPr lang="en-US" altLang="ja-JP" sz="1600" dirty="0"/>
              <a:t>Annex3</a:t>
            </a:r>
            <a:r>
              <a:rPr lang="ja-JP" altLang="en-US" sz="1600" dirty="0"/>
              <a:t>　検証可能な性能基準を導くアプローチ</a:t>
            </a:r>
            <a:endParaRPr lang="en-US" altLang="ja-JP" sz="1600" dirty="0"/>
          </a:p>
          <a:p>
            <a:r>
              <a:rPr lang="en-US" altLang="ja-JP" sz="1600" dirty="0"/>
              <a:t>Annex4</a:t>
            </a:r>
            <a:r>
              <a:rPr lang="ja-JP" altLang="en-US" sz="1600" dirty="0"/>
              <a:t>　交通シナリオ</a:t>
            </a:r>
            <a:endParaRPr lang="en-US" altLang="ja-JP" sz="1600" dirty="0"/>
          </a:p>
          <a:p>
            <a:r>
              <a:rPr lang="en-US" altLang="ja-JP" sz="1600" dirty="0"/>
              <a:t>Annex5</a:t>
            </a:r>
            <a:r>
              <a:rPr lang="ja-JP" altLang="en-US" sz="1600" dirty="0"/>
              <a:t>　シュミレーションと信頼性評価</a:t>
            </a:r>
            <a:endParaRPr lang="en-US" altLang="ja-JP" sz="1600" dirty="0"/>
          </a:p>
          <a:p>
            <a:r>
              <a:rPr lang="en-US" altLang="ja-JP" sz="1600" dirty="0"/>
              <a:t>Annex6</a:t>
            </a:r>
            <a:r>
              <a:rPr lang="ja-JP" altLang="en-US" sz="1600" dirty="0"/>
              <a:t>　トラック試験と実世界での試験</a:t>
            </a:r>
            <a:endParaRPr lang="en-US" altLang="ja-JP" sz="1600" dirty="0"/>
          </a:p>
          <a:p>
            <a:r>
              <a:rPr lang="en-US" altLang="ja-JP" sz="1600" dirty="0"/>
              <a:t>Annex7</a:t>
            </a:r>
            <a:r>
              <a:rPr lang="ja-JP" altLang="en-US" sz="1600" dirty="0"/>
              <a:t>　</a:t>
            </a:r>
            <a:r>
              <a:rPr lang="en" altLang="ja-JP" sz="1600" dirty="0"/>
              <a:t> ISMR</a:t>
            </a:r>
            <a:r>
              <a:rPr lang="ja-JP" altLang="en-US" sz="1600" dirty="0"/>
              <a:t>と安全要件のマトリクス</a:t>
            </a:r>
            <a:endParaRPr lang="en-US" altLang="ja-JP" sz="1600" dirty="0"/>
          </a:p>
          <a:p>
            <a:r>
              <a:rPr lang="en-US" altLang="ja-JP" sz="1600" dirty="0"/>
              <a:t>Annex8</a:t>
            </a:r>
            <a:r>
              <a:rPr lang="ja-JP" altLang="en-US" sz="1600" dirty="0"/>
              <a:t>　</a:t>
            </a:r>
            <a:r>
              <a:rPr lang="en" altLang="ja-JP" sz="1600" dirty="0"/>
              <a:t> ISMR</a:t>
            </a:r>
            <a:r>
              <a:rPr lang="ja-JP" altLang="en-US" sz="1600" dirty="0"/>
              <a:t>報告テンプレート</a:t>
            </a:r>
            <a:endParaRPr lang="en-US" altLang="ja-JP" sz="1600" dirty="0"/>
          </a:p>
          <a:p>
            <a:r>
              <a:rPr lang="en-US" altLang="ja-JP" sz="1600" dirty="0"/>
              <a:t>Annex9</a:t>
            </a:r>
            <a:r>
              <a:rPr lang="ja-JP" altLang="en-US" sz="1600" dirty="0"/>
              <a:t>　使用中の監視を効果的に実施するための推奨事項</a:t>
            </a:r>
            <a:endParaRPr lang="en-US" altLang="ja-JP" sz="1600" dirty="0"/>
          </a:p>
          <a:p>
            <a:r>
              <a:rPr lang="en-US" altLang="ja-JP" sz="1600" dirty="0"/>
              <a:t>Annex10</a:t>
            </a:r>
            <a:r>
              <a:rPr lang="ja-JP" altLang="en-US" sz="1600" dirty="0"/>
              <a:t>　今後の活動におけるさらなる議論</a:t>
            </a:r>
            <a:endParaRPr lang="en-US" altLang="ja-JP" sz="1600" dirty="0"/>
          </a:p>
          <a:p>
            <a:endParaRPr kumimoji="1" lang="en-US" altLang="ja-JP" sz="1600" dirty="0"/>
          </a:p>
        </p:txBody>
      </p:sp>
    </p:spTree>
    <p:extLst>
      <p:ext uri="{BB962C8B-B14F-4D97-AF65-F5344CB8AC3E}">
        <p14:creationId xmlns:p14="http://schemas.microsoft.com/office/powerpoint/2010/main" val="3748939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E3708BD-98C4-44FB-6491-65D21015DF69}"/>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1</a:t>
            </a:r>
            <a:r>
              <a:rPr lang="ja-JP" altLang="en-US">
                <a:solidFill>
                  <a:schemeClr val="bg1"/>
                </a:solidFill>
                <a:latin typeface="Meiryo UI" panose="020B0604030504040204" pitchFamily="50" charset="-128"/>
                <a:ea typeface="Meiryo UI" panose="020B0604030504040204" pitchFamily="50" charset="-128"/>
              </a:rPr>
              <a:t>　導入</a:t>
            </a:r>
            <a:endParaRPr lang="en-US" altLang="ja-JP">
              <a:solidFill>
                <a:schemeClr val="bg1"/>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4F28E2CA-1709-5690-3F63-443B9CA14882}"/>
              </a:ext>
            </a:extLst>
          </p:cNvPr>
          <p:cNvSpPr txBox="1"/>
          <p:nvPr/>
        </p:nvSpPr>
        <p:spPr>
          <a:xfrm>
            <a:off x="965734" y="920621"/>
            <a:ext cx="8361145" cy="5016758"/>
          </a:xfrm>
          <a:prstGeom prst="rect">
            <a:avLst/>
          </a:prstGeom>
          <a:noFill/>
        </p:spPr>
        <p:txBody>
          <a:bodyPr wrap="square" rtlCol="0">
            <a:spAutoFit/>
          </a:bodyPr>
          <a:lstStyle/>
          <a:p>
            <a:r>
              <a:rPr kumimoji="1" lang="en-US" altLang="ja-JP" sz="1600" dirty="0">
                <a:solidFill>
                  <a:srgbClr val="0000FF"/>
                </a:solidFill>
              </a:rPr>
              <a:t>Section1</a:t>
            </a:r>
            <a:r>
              <a:rPr kumimoji="1" lang="ja-JP" altLang="en-US" sz="1600" dirty="0">
                <a:solidFill>
                  <a:srgbClr val="0000FF"/>
                </a:solidFill>
              </a:rPr>
              <a:t>　導入</a:t>
            </a:r>
            <a:endParaRPr kumimoji="1" lang="en-US" altLang="ja-JP" sz="1600" dirty="0">
              <a:solidFill>
                <a:srgbClr val="0000FF"/>
              </a:solidFill>
            </a:endParaRPr>
          </a:p>
          <a:p>
            <a:r>
              <a:rPr kumimoji="1" lang="en-US" altLang="ja-JP" sz="1600" dirty="0"/>
              <a:t>Section2</a:t>
            </a:r>
            <a:r>
              <a:rPr kumimoji="1" lang="ja-JP" altLang="en-US" sz="1600" dirty="0"/>
              <a:t>　スコープと目的</a:t>
            </a:r>
            <a:endParaRPr lang="en-US" altLang="ja-JP" sz="1600" dirty="0"/>
          </a:p>
          <a:p>
            <a:r>
              <a:rPr kumimoji="1" lang="en-US" altLang="ja-JP" sz="1600" dirty="0"/>
              <a:t>Section3</a:t>
            </a:r>
            <a:r>
              <a:rPr kumimoji="1" lang="ja-JP" altLang="en-US" sz="1600" dirty="0"/>
              <a:t>　用語とその定義</a:t>
            </a:r>
            <a:endParaRPr lang="en-US" altLang="ja-JP" sz="1600" dirty="0"/>
          </a:p>
          <a:p>
            <a:r>
              <a:rPr kumimoji="1" lang="en-US" altLang="ja-JP" sz="1600" dirty="0"/>
              <a:t>Section4</a:t>
            </a:r>
            <a:r>
              <a:rPr kumimoji="1" lang="ja-JP" altLang="en-US" sz="1600" dirty="0"/>
              <a:t>　</a:t>
            </a:r>
            <a:r>
              <a:rPr kumimoji="1" lang="en" altLang="ja-JP" sz="1600" dirty="0"/>
              <a:t> ADS</a:t>
            </a:r>
            <a:r>
              <a:rPr kumimoji="1" lang="ja-JP" altLang="en-US" sz="1600" dirty="0"/>
              <a:t>の安全要件、評価および検証の概要</a:t>
            </a:r>
            <a:endParaRPr kumimoji="1" lang="en-US" altLang="ja-JP" sz="1600" dirty="0"/>
          </a:p>
          <a:p>
            <a:r>
              <a:rPr kumimoji="1" lang="en-US" altLang="ja-JP" sz="1600" dirty="0"/>
              <a:t>Section5</a:t>
            </a:r>
            <a:r>
              <a:rPr kumimoji="1" lang="ja-JP" altLang="en-US" sz="1600" dirty="0"/>
              <a:t>　審査、安全性評価、メーカのシステムに関する文書</a:t>
            </a:r>
            <a:endParaRPr lang="en-US" altLang="ja-JP" sz="1600" dirty="0"/>
          </a:p>
          <a:p>
            <a:r>
              <a:rPr kumimoji="1" lang="en-US" altLang="ja-JP" sz="1600" dirty="0"/>
              <a:t>Section6</a:t>
            </a:r>
            <a:r>
              <a:rPr kumimoji="1" lang="ja-JP" altLang="en-US" sz="1600" dirty="0"/>
              <a:t>　</a:t>
            </a:r>
            <a:r>
              <a:rPr kumimoji="1" lang="en" altLang="ja-JP" sz="1600" dirty="0"/>
              <a:t> </a:t>
            </a:r>
            <a:r>
              <a:rPr kumimoji="1" lang="en-US" altLang="ja-JP" sz="1600" dirty="0"/>
              <a:t>ADS</a:t>
            </a:r>
            <a:r>
              <a:rPr kumimoji="1" lang="ja-JP" altLang="en-US" sz="1600" dirty="0"/>
              <a:t>の動的運転タスク性能要件</a:t>
            </a:r>
            <a:endParaRPr kumimoji="1" lang="en-US" altLang="ja-JP" sz="1600" dirty="0"/>
          </a:p>
          <a:p>
            <a:r>
              <a:rPr kumimoji="1" lang="en-US" altLang="ja-JP" sz="1600" dirty="0"/>
              <a:t>Section7</a:t>
            </a:r>
            <a:r>
              <a:rPr kumimoji="1" lang="ja-JP" altLang="en-US" sz="1600" dirty="0"/>
              <a:t>　ユーザと</a:t>
            </a:r>
            <a:r>
              <a:rPr kumimoji="1" lang="en" altLang="ja-JP" sz="1600" dirty="0"/>
              <a:t>ADS</a:t>
            </a:r>
            <a:r>
              <a:rPr kumimoji="1" lang="ja-JP" altLang="en-US" sz="1600" dirty="0"/>
              <a:t>の安全なインタラクションの要件</a:t>
            </a:r>
            <a:endParaRPr lang="en-US" altLang="ja-JP" sz="1600" dirty="0"/>
          </a:p>
          <a:p>
            <a:r>
              <a:rPr kumimoji="1" lang="en-US" altLang="ja-JP" sz="1600" dirty="0"/>
              <a:t>Section8</a:t>
            </a:r>
            <a:r>
              <a:rPr kumimoji="1" lang="ja-JP" altLang="en-US" sz="1600" dirty="0"/>
              <a:t>　使用中の監視と報告</a:t>
            </a:r>
            <a:endParaRPr kumimoji="1" lang="en-US" altLang="ja-JP" sz="1600" dirty="0"/>
          </a:p>
          <a:p>
            <a:endParaRPr lang="en-US" altLang="ja-JP" sz="1600" dirty="0"/>
          </a:p>
          <a:p>
            <a:r>
              <a:rPr lang="en-US" altLang="ja-JP" sz="1600" dirty="0"/>
              <a:t>Annex1</a:t>
            </a:r>
            <a:r>
              <a:rPr lang="ja-JP" altLang="en-US" sz="1600" dirty="0"/>
              <a:t>　</a:t>
            </a:r>
            <a:r>
              <a:rPr lang="en" altLang="ja-JP" sz="1600" dirty="0"/>
              <a:t> ADS</a:t>
            </a:r>
            <a:r>
              <a:rPr lang="ja-JP" altLang="en-US" sz="1600" dirty="0"/>
              <a:t>安全要件の作成の背景</a:t>
            </a:r>
            <a:endParaRPr lang="en-US" altLang="ja-JP" sz="1600" dirty="0"/>
          </a:p>
          <a:p>
            <a:r>
              <a:rPr lang="en-US" altLang="ja-JP" sz="1600" dirty="0"/>
              <a:t>Annex2</a:t>
            </a:r>
            <a:r>
              <a:rPr lang="ja-JP" altLang="en-US" sz="1600" dirty="0"/>
              <a:t>　適切な検証ピラーへの</a:t>
            </a:r>
            <a:r>
              <a:rPr lang="en" altLang="ja-JP" sz="1600" dirty="0"/>
              <a:t>DDT </a:t>
            </a:r>
            <a:r>
              <a:rPr lang="ja-JP" altLang="en-US" sz="1600" dirty="0"/>
              <a:t>とユーザ要件の基準</a:t>
            </a:r>
            <a:endParaRPr lang="en-US" altLang="ja-JP" sz="1600" dirty="0"/>
          </a:p>
          <a:p>
            <a:r>
              <a:rPr lang="en-US" altLang="ja-JP" sz="1600" dirty="0"/>
              <a:t>Annex3</a:t>
            </a:r>
            <a:r>
              <a:rPr lang="ja-JP" altLang="en-US" sz="1600" dirty="0"/>
              <a:t>　検証可能な性能基準を導くアプローチ</a:t>
            </a:r>
            <a:endParaRPr lang="en-US" altLang="ja-JP" sz="1600" dirty="0"/>
          </a:p>
          <a:p>
            <a:r>
              <a:rPr lang="en-US" altLang="ja-JP" sz="1600" dirty="0"/>
              <a:t>Annex4</a:t>
            </a:r>
            <a:r>
              <a:rPr lang="ja-JP" altLang="en-US" sz="1600" dirty="0"/>
              <a:t>　交通シナリオ</a:t>
            </a:r>
            <a:endParaRPr lang="en-US" altLang="ja-JP" sz="1600" dirty="0"/>
          </a:p>
          <a:p>
            <a:r>
              <a:rPr lang="en-US" altLang="ja-JP" sz="1600" dirty="0"/>
              <a:t>Annex5</a:t>
            </a:r>
            <a:r>
              <a:rPr lang="ja-JP" altLang="en-US" sz="1600" dirty="0"/>
              <a:t>　シュミレーションと信頼性評価</a:t>
            </a:r>
            <a:endParaRPr lang="en-US" altLang="ja-JP" sz="1600" dirty="0"/>
          </a:p>
          <a:p>
            <a:r>
              <a:rPr lang="en-US" altLang="ja-JP" sz="1600" dirty="0"/>
              <a:t>Annex6</a:t>
            </a:r>
            <a:r>
              <a:rPr lang="ja-JP" altLang="en-US" sz="1600" dirty="0"/>
              <a:t>　トラック試験と実世界での試験</a:t>
            </a:r>
            <a:endParaRPr lang="en-US" altLang="ja-JP" sz="1600" dirty="0"/>
          </a:p>
          <a:p>
            <a:r>
              <a:rPr lang="en-US" altLang="ja-JP" sz="1600" dirty="0"/>
              <a:t>Annex7</a:t>
            </a:r>
            <a:r>
              <a:rPr lang="ja-JP" altLang="en-US" sz="1600" dirty="0"/>
              <a:t>　</a:t>
            </a:r>
            <a:r>
              <a:rPr lang="en" altLang="ja-JP" sz="1600" dirty="0"/>
              <a:t> ISMR</a:t>
            </a:r>
            <a:r>
              <a:rPr lang="ja-JP" altLang="en-US" sz="1600" dirty="0"/>
              <a:t>と安全要件のマトリクス</a:t>
            </a:r>
            <a:endParaRPr lang="en-US" altLang="ja-JP" sz="1600" dirty="0"/>
          </a:p>
          <a:p>
            <a:r>
              <a:rPr lang="en-US" altLang="ja-JP" sz="1600" dirty="0"/>
              <a:t>Annex8</a:t>
            </a:r>
            <a:r>
              <a:rPr lang="ja-JP" altLang="en-US" sz="1600" dirty="0"/>
              <a:t>　</a:t>
            </a:r>
            <a:r>
              <a:rPr lang="en" altLang="ja-JP" sz="1600" dirty="0"/>
              <a:t> ISMR</a:t>
            </a:r>
            <a:r>
              <a:rPr lang="ja-JP" altLang="en-US" sz="1600" dirty="0"/>
              <a:t>報告テンプレート</a:t>
            </a:r>
            <a:endParaRPr lang="en-US" altLang="ja-JP" sz="1600" dirty="0"/>
          </a:p>
          <a:p>
            <a:r>
              <a:rPr lang="en-US" altLang="ja-JP" sz="1600" dirty="0"/>
              <a:t>Annex9</a:t>
            </a:r>
            <a:r>
              <a:rPr lang="ja-JP" altLang="en-US" sz="1600" dirty="0"/>
              <a:t>　使用中の監視を効果的に実施するための推奨事項</a:t>
            </a:r>
            <a:endParaRPr lang="en-US" altLang="ja-JP" sz="1600" dirty="0"/>
          </a:p>
          <a:p>
            <a:r>
              <a:rPr lang="en-US" altLang="ja-JP" sz="1600" dirty="0"/>
              <a:t>Annex10</a:t>
            </a:r>
            <a:r>
              <a:rPr lang="ja-JP" altLang="en-US" sz="1600" dirty="0"/>
              <a:t>　今後の活動におけるさらなる議論</a:t>
            </a:r>
            <a:endParaRPr lang="en-US" altLang="ja-JP" sz="1600" dirty="0"/>
          </a:p>
          <a:p>
            <a:endParaRPr kumimoji="1" lang="en-US" altLang="ja-JP" sz="1600" dirty="0"/>
          </a:p>
        </p:txBody>
      </p:sp>
    </p:spTree>
    <p:extLst>
      <p:ext uri="{BB962C8B-B14F-4D97-AF65-F5344CB8AC3E}">
        <p14:creationId xmlns:p14="http://schemas.microsoft.com/office/powerpoint/2010/main" val="2465533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E3708BD-98C4-44FB-6491-65D21015DF69}"/>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1</a:t>
            </a:r>
            <a:r>
              <a:rPr lang="ja-JP" altLang="en-US">
                <a:solidFill>
                  <a:schemeClr val="bg1"/>
                </a:solidFill>
                <a:latin typeface="Meiryo UI" panose="020B0604030504040204" pitchFamily="50" charset="-128"/>
                <a:ea typeface="Meiryo UI" panose="020B0604030504040204" pitchFamily="50" charset="-128"/>
              </a:rPr>
              <a:t>　導入</a:t>
            </a:r>
            <a:endParaRPr lang="en-US" altLang="ja-JP">
              <a:solidFill>
                <a:schemeClr val="bg1"/>
              </a:solidFill>
              <a:latin typeface="Meiryo UI" panose="020B0604030504040204" pitchFamily="50" charset="-128"/>
              <a:ea typeface="Meiryo UI" panose="020B0604030504040204" pitchFamily="50" charset="-128"/>
            </a:endParaRPr>
          </a:p>
        </p:txBody>
      </p:sp>
      <p:graphicFrame>
        <p:nvGraphicFramePr>
          <p:cNvPr id="5" name="表 4">
            <a:extLst>
              <a:ext uri="{FF2B5EF4-FFF2-40B4-BE49-F238E27FC236}">
                <a16:creationId xmlns:a16="http://schemas.microsoft.com/office/drawing/2014/main" id="{9366D639-CD0B-9A3A-2B2D-010F3CDC2A98}"/>
              </a:ext>
            </a:extLst>
          </p:cNvPr>
          <p:cNvGraphicFramePr>
            <a:graphicFrameLocks noGrp="1"/>
          </p:cNvGraphicFramePr>
          <p:nvPr>
            <p:extLst>
              <p:ext uri="{D42A27DB-BD31-4B8C-83A1-F6EECF244321}">
                <p14:modId xmlns:p14="http://schemas.microsoft.com/office/powerpoint/2010/main" val="4146137019"/>
              </p:ext>
            </p:extLst>
          </p:nvPr>
        </p:nvGraphicFramePr>
        <p:xfrm>
          <a:off x="62004" y="842052"/>
          <a:ext cx="12120011" cy="518160"/>
        </p:xfrm>
        <a:graphic>
          <a:graphicData uri="http://schemas.openxmlformats.org/drawingml/2006/table">
            <a:tbl>
              <a:tblPr firstRow="1" bandRow="1">
                <a:tableStyleId>{B301B821-A1FF-4177-AEE7-76D212191A09}</a:tableStyleId>
              </a:tblPr>
              <a:tblGrid>
                <a:gridCol w="6233693">
                  <a:extLst>
                    <a:ext uri="{9D8B030D-6E8A-4147-A177-3AD203B41FA5}">
                      <a16:colId xmlns:a16="http://schemas.microsoft.com/office/drawing/2014/main" val="4236392585"/>
                    </a:ext>
                  </a:extLst>
                </a:gridCol>
                <a:gridCol w="5886318">
                  <a:extLst>
                    <a:ext uri="{9D8B030D-6E8A-4147-A177-3AD203B41FA5}">
                      <a16:colId xmlns:a16="http://schemas.microsoft.com/office/drawing/2014/main" val="2140796303"/>
                    </a:ext>
                  </a:extLst>
                </a:gridCol>
              </a:tblGrid>
              <a:tr h="248036">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a:t>自動運転プログラムを推進するワーキンググループとその活動</a:t>
                      </a: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kumimoji="1" lang="ja-JP" altLang="en-US"/>
                    </a:p>
                  </a:txBody>
                  <a:tcPr>
                    <a:lnL w="12700" cap="flat" cmpd="sng" algn="ctr">
                      <a:solidFill>
                        <a:schemeClr val="accent1">
                          <a:lumMod val="20000"/>
                          <a:lumOff val="80000"/>
                        </a:schemeClr>
                      </a:solidFill>
                      <a:prstDash val="solid"/>
                      <a:round/>
                      <a:headEnd type="none" w="med" len="med"/>
                      <a:tailEnd type="none" w="med" len="med"/>
                    </a:lnL>
                  </a:tcPr>
                </a:tc>
                <a:extLst>
                  <a:ext uri="{0D108BD9-81ED-4DB2-BD59-A6C34878D82A}">
                    <a16:rowId xmlns:a16="http://schemas.microsoft.com/office/drawing/2014/main" val="683256609"/>
                  </a:ext>
                </a:extLst>
              </a:tr>
              <a:tr h="151473">
                <a:tc>
                  <a:txBody>
                    <a:bodyPr/>
                    <a:lstStyle/>
                    <a:p>
                      <a:pPr algn="ctr"/>
                      <a:r>
                        <a:rPr kumimoji="1" lang="ja-JP" altLang="en-US" sz="1100">
                          <a:solidFill>
                            <a:sysClr val="windowText" lastClr="000000"/>
                          </a:solidFill>
                        </a:rPr>
                        <a:t>ワーキンググループ</a:t>
                      </a: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100">
                          <a:solidFill>
                            <a:sysClr val="windowText" lastClr="000000"/>
                          </a:solidFill>
                        </a:rPr>
                        <a:t>活動</a:t>
                      </a: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13659793"/>
                  </a:ext>
                </a:extLst>
              </a:tr>
            </a:tbl>
          </a:graphicData>
        </a:graphic>
      </p:graphicFrame>
      <p:sp>
        <p:nvSpPr>
          <p:cNvPr id="3" name="角丸四角形 2">
            <a:extLst>
              <a:ext uri="{FF2B5EF4-FFF2-40B4-BE49-F238E27FC236}">
                <a16:creationId xmlns:a16="http://schemas.microsoft.com/office/drawing/2014/main" id="{892C020B-6C03-CC74-0CD1-A661AAE18E20}"/>
              </a:ext>
            </a:extLst>
          </p:cNvPr>
          <p:cNvSpPr/>
          <p:nvPr/>
        </p:nvSpPr>
        <p:spPr>
          <a:xfrm>
            <a:off x="0" y="503944"/>
            <a:ext cx="11811923" cy="289572"/>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wrap="none" rtlCol="0" anchor="t"/>
          <a:lstStyle/>
          <a:p>
            <a:r>
              <a:rPr kumimoji="1" lang="en-US" altLang="ja-JP" sz="1400" b="1">
                <a:solidFill>
                  <a:schemeClr val="tx1"/>
                </a:solidFill>
                <a:latin typeface="Meiryo UI" panose="020B0604030504040204" pitchFamily="50" charset="-128"/>
                <a:ea typeface="Meiryo UI" panose="020B0604030504040204" pitchFamily="50" charset="-128"/>
              </a:rPr>
              <a:t>Section1</a:t>
            </a:r>
            <a:r>
              <a:rPr kumimoji="1" lang="ja-JP" altLang="en-US" sz="1400" b="1">
                <a:solidFill>
                  <a:schemeClr val="tx1"/>
                </a:solidFill>
                <a:latin typeface="Meiryo UI" panose="020B0604030504040204" pitchFamily="50" charset="-128"/>
                <a:ea typeface="Meiryo UI" panose="020B0604030504040204" pitchFamily="50" charset="-128"/>
              </a:rPr>
              <a:t>では、</a:t>
            </a:r>
            <a:r>
              <a:rPr kumimoji="1" lang="en-US" altLang="ja-JP" sz="1400" b="1">
                <a:solidFill>
                  <a:schemeClr val="tx1"/>
                </a:solidFill>
                <a:latin typeface="Meiryo UI" panose="020B0604030504040204" pitchFamily="50" charset="-128"/>
                <a:ea typeface="Meiryo UI" panose="020B0604030504040204" pitchFamily="50" charset="-128"/>
              </a:rPr>
              <a:t>WP.29</a:t>
            </a:r>
            <a:r>
              <a:rPr kumimoji="1" lang="ja-JP" altLang="en-US" sz="1400" b="1">
                <a:solidFill>
                  <a:schemeClr val="tx1"/>
                </a:solidFill>
                <a:latin typeface="Meiryo UI" panose="020B0604030504040204" pitchFamily="50" charset="-128"/>
                <a:ea typeface="Meiryo UI" panose="020B0604030504040204" pitchFamily="50" charset="-128"/>
              </a:rPr>
              <a:t>傘下の自動運転プログラムを推進するワーキンググループ</a:t>
            </a:r>
            <a:r>
              <a:rPr lang="ja-JP" altLang="en-US" sz="1400" b="1">
                <a:solidFill>
                  <a:schemeClr val="tx1"/>
                </a:solidFill>
                <a:latin typeface="Meiryo UI" panose="020B0604030504040204" pitchFamily="50" charset="-128"/>
                <a:ea typeface="Meiryo UI" panose="020B0604030504040204" pitchFamily="50" charset="-128"/>
              </a:rPr>
              <a:t>と</a:t>
            </a:r>
            <a:r>
              <a:rPr lang="en-US" altLang="ja-JP" sz="1400" b="1">
                <a:solidFill>
                  <a:schemeClr val="tx1"/>
                </a:solidFill>
                <a:latin typeface="Meiryo UI" panose="020B0604030504040204" pitchFamily="50" charset="-128"/>
                <a:ea typeface="Meiryo UI" panose="020B0604030504040204" pitchFamily="50" charset="-128"/>
              </a:rPr>
              <a:t>ADS</a:t>
            </a:r>
            <a:r>
              <a:rPr kumimoji="1" lang="ja-JP" altLang="en-US" sz="1400" b="1">
                <a:solidFill>
                  <a:schemeClr val="tx1"/>
                </a:solidFill>
                <a:latin typeface="Meiryo UI" panose="020B0604030504040204" pitchFamily="50" charset="-128"/>
                <a:ea typeface="Meiryo UI" panose="020B0604030504040204" pitchFamily="50" charset="-128"/>
              </a:rPr>
              <a:t>ガイドライン作成に関わるそれらの活動</a:t>
            </a:r>
            <a:r>
              <a:rPr lang="ja-JP" altLang="en-US" sz="1400" b="1">
                <a:solidFill>
                  <a:schemeClr val="tx1"/>
                </a:solidFill>
                <a:latin typeface="Meiryo UI" panose="020B0604030504040204" pitchFamily="50" charset="-128"/>
                <a:ea typeface="Meiryo UI" panose="020B0604030504040204" pitchFamily="50" charset="-128"/>
              </a:rPr>
              <a:t>を述べる</a:t>
            </a:r>
            <a:endParaRPr kumimoji="1" lang="en-US" altLang="ja-JP" sz="1400" b="1">
              <a:solidFill>
                <a:schemeClr val="tx1"/>
              </a:solidFill>
              <a:latin typeface="Meiryo UI" panose="020B0604030504040204" pitchFamily="50" charset="-128"/>
              <a:ea typeface="Meiryo UI" panose="020B0604030504040204" pitchFamily="50" charset="-128"/>
            </a:endParaRPr>
          </a:p>
        </p:txBody>
      </p:sp>
      <p:sp>
        <p:nvSpPr>
          <p:cNvPr id="134" name="角丸四角形 133">
            <a:extLst>
              <a:ext uri="{FF2B5EF4-FFF2-40B4-BE49-F238E27FC236}">
                <a16:creationId xmlns:a16="http://schemas.microsoft.com/office/drawing/2014/main" id="{8DAFE494-7A7D-2C7C-6B44-301C2DB29CEC}"/>
              </a:ext>
            </a:extLst>
          </p:cNvPr>
          <p:cNvSpPr/>
          <p:nvPr/>
        </p:nvSpPr>
        <p:spPr>
          <a:xfrm>
            <a:off x="6569052" y="5247368"/>
            <a:ext cx="5411492" cy="583181"/>
          </a:xfrm>
          <a:prstGeom prst="roundRect">
            <a:avLst>
              <a:gd name="adj" fmla="val 9673"/>
            </a:avLst>
          </a:prstGeom>
          <a:solidFill>
            <a:schemeClr val="accent1">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altLang="ja-JP" sz="1200" b="1" dirty="0">
                <a:solidFill>
                  <a:schemeClr val="tx1"/>
                </a:solidFill>
              </a:rPr>
              <a:t>ADS</a:t>
            </a:r>
            <a:r>
              <a:rPr lang="ja-JP" altLang="en-US" sz="1200" b="1" dirty="0">
                <a:solidFill>
                  <a:schemeClr val="tx1"/>
                </a:solidFill>
              </a:rPr>
              <a:t>ガイドライン</a:t>
            </a:r>
            <a:r>
              <a:rPr lang="ja-JP" altLang="en-US" sz="1200" dirty="0">
                <a:solidFill>
                  <a:schemeClr val="tx1"/>
                </a:solidFill>
              </a:rPr>
              <a:t>：</a:t>
            </a:r>
            <a:endParaRPr lang="en-US" altLang="ja-JP" sz="1200" dirty="0">
              <a:solidFill>
                <a:schemeClr val="tx1"/>
              </a:solidFill>
            </a:endParaRPr>
          </a:p>
          <a:p>
            <a:pPr algn="ctr"/>
            <a:r>
              <a:rPr lang="ja-JP" altLang="en-US" sz="1200" dirty="0">
                <a:solidFill>
                  <a:schemeClr val="tx1"/>
                </a:solidFill>
              </a:rPr>
              <a:t>「規制の策定に情報を提供する</a:t>
            </a:r>
            <a:r>
              <a:rPr lang="en" altLang="ja-JP" sz="1200" u="sng" dirty="0">
                <a:solidFill>
                  <a:srgbClr val="0070C0"/>
                </a:solidFill>
              </a:rPr>
              <a:t>ADS </a:t>
            </a:r>
            <a:r>
              <a:rPr lang="ja-JP" altLang="en-US" sz="1200" u="sng" dirty="0">
                <a:solidFill>
                  <a:srgbClr val="0070C0"/>
                </a:solidFill>
              </a:rPr>
              <a:t>の安全性要件</a:t>
            </a:r>
            <a:r>
              <a:rPr lang="ja-JP" altLang="en-US" sz="1200" dirty="0">
                <a:solidFill>
                  <a:schemeClr val="tx1"/>
                </a:solidFill>
              </a:rPr>
              <a:t>、</a:t>
            </a:r>
            <a:endParaRPr lang="en-US" altLang="ja-JP" sz="1200" dirty="0">
              <a:solidFill>
                <a:schemeClr val="tx1"/>
              </a:solidFill>
            </a:endParaRPr>
          </a:p>
          <a:p>
            <a:pPr algn="ctr"/>
            <a:r>
              <a:rPr lang="ja-JP" altLang="en-US" sz="1200" u="sng" dirty="0">
                <a:solidFill>
                  <a:srgbClr val="0070C0"/>
                </a:solidFill>
              </a:rPr>
              <a:t>評価、試験方法</a:t>
            </a:r>
            <a:r>
              <a:rPr lang="ja-JP" altLang="en-US" sz="1200" dirty="0">
                <a:solidFill>
                  <a:schemeClr val="tx1"/>
                </a:solidFill>
              </a:rPr>
              <a:t>に関する指針と推奨事項」</a:t>
            </a:r>
            <a:endParaRPr lang="en-US" altLang="ja-JP" sz="1200" dirty="0">
              <a:solidFill>
                <a:schemeClr val="tx1"/>
              </a:solidFill>
            </a:endParaRPr>
          </a:p>
        </p:txBody>
      </p:sp>
      <p:sp>
        <p:nvSpPr>
          <p:cNvPr id="46" name="テキスト ボックス 45">
            <a:extLst>
              <a:ext uri="{FF2B5EF4-FFF2-40B4-BE49-F238E27FC236}">
                <a16:creationId xmlns:a16="http://schemas.microsoft.com/office/drawing/2014/main" id="{EA969A20-3125-6DF8-EAD5-E2AA34F6F513}"/>
              </a:ext>
            </a:extLst>
          </p:cNvPr>
          <p:cNvSpPr txBox="1"/>
          <p:nvPr/>
        </p:nvSpPr>
        <p:spPr>
          <a:xfrm>
            <a:off x="6449379" y="1408399"/>
            <a:ext cx="5414124" cy="276999"/>
          </a:xfrm>
          <a:prstGeom prst="rect">
            <a:avLst/>
          </a:prstGeom>
          <a:noFill/>
        </p:spPr>
        <p:txBody>
          <a:bodyPr wrap="square">
            <a:spAutoFit/>
          </a:bodyPr>
          <a:lstStyle/>
          <a:p>
            <a:r>
              <a:rPr kumimoji="1" lang="en-US" altLang="ja-JP" sz="1200">
                <a:solidFill>
                  <a:schemeClr val="tx1"/>
                </a:solidFill>
              </a:rPr>
              <a:t>WP.29</a:t>
            </a:r>
            <a:r>
              <a:rPr kumimoji="1" lang="ja-JP" altLang="en-US" sz="1200">
                <a:solidFill>
                  <a:schemeClr val="tx1"/>
                </a:solidFill>
              </a:rPr>
              <a:t>は、</a:t>
            </a:r>
            <a:r>
              <a:rPr kumimoji="1" lang="en-US" altLang="ja-JP" sz="1200">
                <a:solidFill>
                  <a:schemeClr val="tx1"/>
                </a:solidFill>
              </a:rPr>
              <a:t>FRAV / VMAD</a:t>
            </a:r>
            <a:r>
              <a:rPr lang="ja-JP" altLang="en-US" sz="1200"/>
              <a:t>の</a:t>
            </a:r>
            <a:r>
              <a:rPr kumimoji="1" lang="ja-JP" altLang="en-US" sz="1200">
                <a:solidFill>
                  <a:schemeClr val="tx1"/>
                </a:solidFill>
              </a:rPr>
              <a:t>活動として以下を指示した</a:t>
            </a:r>
            <a:endParaRPr lang="en-US" altLang="ja-JP" sz="1200"/>
          </a:p>
        </p:txBody>
      </p:sp>
      <p:sp>
        <p:nvSpPr>
          <p:cNvPr id="16" name="正方形/長方形 15">
            <a:extLst>
              <a:ext uri="{FF2B5EF4-FFF2-40B4-BE49-F238E27FC236}">
                <a16:creationId xmlns:a16="http://schemas.microsoft.com/office/drawing/2014/main" id="{1FBB5B79-A188-358A-45F5-EF2AC93B900D}"/>
              </a:ext>
            </a:extLst>
          </p:cNvPr>
          <p:cNvSpPr/>
          <p:nvPr/>
        </p:nvSpPr>
        <p:spPr>
          <a:xfrm>
            <a:off x="329303" y="1442688"/>
            <a:ext cx="636737" cy="37071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kumimoji="1" lang="en-US" altLang="ja-JP" sz="1200" b="1">
                <a:solidFill>
                  <a:schemeClr val="tx1"/>
                </a:solidFill>
                <a:latin typeface="Meiryo UI" panose="020B0604030504040204" pitchFamily="50" charset="-128"/>
                <a:ea typeface="Meiryo UI" panose="020B0604030504040204" pitchFamily="50" charset="-128"/>
              </a:rPr>
              <a:t>WP29</a:t>
            </a:r>
          </a:p>
        </p:txBody>
      </p:sp>
      <p:sp>
        <p:nvSpPr>
          <p:cNvPr id="17" name="正方形/長方形 16">
            <a:extLst>
              <a:ext uri="{FF2B5EF4-FFF2-40B4-BE49-F238E27FC236}">
                <a16:creationId xmlns:a16="http://schemas.microsoft.com/office/drawing/2014/main" id="{6B5B1C7B-4C72-54D0-0CF9-E707FC4B7C94}"/>
              </a:ext>
            </a:extLst>
          </p:cNvPr>
          <p:cNvSpPr/>
          <p:nvPr/>
        </p:nvSpPr>
        <p:spPr>
          <a:xfrm>
            <a:off x="602307" y="1821576"/>
            <a:ext cx="4123972" cy="370713"/>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kumimoji="1" lang="ja-JP" altLang="en-US" sz="1200">
                <a:solidFill>
                  <a:schemeClr val="tx1"/>
                </a:solidFill>
                <a:latin typeface="Meiryo UI" panose="020B0604030504040204" pitchFamily="50" charset="-128"/>
                <a:ea typeface="Meiryo UI" panose="020B0604030504040204" pitchFamily="50" charset="-128"/>
              </a:rPr>
              <a:t>高度道路交通システムインフォーマルワーキンググループ</a:t>
            </a:r>
            <a:r>
              <a:rPr kumimoji="1" lang="en-US" altLang="ja-JP" sz="1200">
                <a:solidFill>
                  <a:schemeClr val="tx1"/>
                </a:solidFill>
                <a:latin typeface="Meiryo UI" panose="020B0604030504040204" pitchFamily="50" charset="-128"/>
                <a:ea typeface="Meiryo UI" panose="020B0604030504040204" pitchFamily="50" charset="-128"/>
              </a:rPr>
              <a:t>(ITS/AD)</a:t>
            </a:r>
          </a:p>
        </p:txBody>
      </p:sp>
      <p:sp>
        <p:nvSpPr>
          <p:cNvPr id="29" name="正方形/長方形 28">
            <a:extLst>
              <a:ext uri="{FF2B5EF4-FFF2-40B4-BE49-F238E27FC236}">
                <a16:creationId xmlns:a16="http://schemas.microsoft.com/office/drawing/2014/main" id="{40B37280-B1F7-6DD9-1453-402DF3B59EF1}"/>
              </a:ext>
            </a:extLst>
          </p:cNvPr>
          <p:cNvSpPr/>
          <p:nvPr/>
        </p:nvSpPr>
        <p:spPr>
          <a:xfrm>
            <a:off x="971772" y="2200983"/>
            <a:ext cx="2231649" cy="37071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kumimoji="1" lang="ja-JP" altLang="en-US" sz="1200">
                <a:solidFill>
                  <a:schemeClr val="tx1"/>
                </a:solidFill>
                <a:latin typeface="Meiryo UI" panose="020B0604030504040204" pitchFamily="50" charset="-128"/>
                <a:ea typeface="Meiryo UI" panose="020B0604030504040204" pitchFamily="50" charset="-128"/>
              </a:rPr>
              <a:t>自動車両試験</a:t>
            </a:r>
            <a:r>
              <a:rPr lang="ja-JP" altLang="en-US" sz="1200">
                <a:solidFill>
                  <a:schemeClr val="tx1"/>
                </a:solidFill>
                <a:latin typeface="Meiryo UI" panose="020B0604030504040204" pitchFamily="50" charset="-128"/>
                <a:ea typeface="Meiryo UI" panose="020B0604030504040204" pitchFamily="50" charset="-128"/>
              </a:rPr>
              <a:t>特別部門</a:t>
            </a:r>
            <a:r>
              <a:rPr kumimoji="1" lang="en-US" altLang="ja-JP" sz="1200">
                <a:solidFill>
                  <a:schemeClr val="tx1"/>
                </a:solidFill>
                <a:latin typeface="Meiryo UI" panose="020B0604030504040204" pitchFamily="50" charset="-128"/>
                <a:ea typeface="Meiryo UI" panose="020B0604030504040204" pitchFamily="50" charset="-128"/>
              </a:rPr>
              <a:t>(TFAV)</a:t>
            </a:r>
          </a:p>
        </p:txBody>
      </p:sp>
      <p:cxnSp>
        <p:nvCxnSpPr>
          <p:cNvPr id="31" name="コネクタ: カギ線 30">
            <a:extLst>
              <a:ext uri="{FF2B5EF4-FFF2-40B4-BE49-F238E27FC236}">
                <a16:creationId xmlns:a16="http://schemas.microsoft.com/office/drawing/2014/main" id="{427B5E2E-F74C-EF47-C0B2-86B067B24A66}"/>
              </a:ext>
            </a:extLst>
          </p:cNvPr>
          <p:cNvCxnSpPr>
            <a:cxnSpLocks/>
            <a:endCxn id="17" idx="1"/>
          </p:cNvCxnSpPr>
          <p:nvPr/>
        </p:nvCxnSpPr>
        <p:spPr>
          <a:xfrm>
            <a:off x="393045" y="1813401"/>
            <a:ext cx="209262" cy="193532"/>
          </a:xfrm>
          <a:prstGeom prst="bentConnector3">
            <a:avLst>
              <a:gd name="adj1" fmla="val -226"/>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36" name="コネクタ: カギ線 35">
            <a:extLst>
              <a:ext uri="{FF2B5EF4-FFF2-40B4-BE49-F238E27FC236}">
                <a16:creationId xmlns:a16="http://schemas.microsoft.com/office/drawing/2014/main" id="{39B4DC68-3FB8-ED37-2B92-75CF052236BF}"/>
              </a:ext>
            </a:extLst>
          </p:cNvPr>
          <p:cNvCxnSpPr>
            <a:cxnSpLocks/>
          </p:cNvCxnSpPr>
          <p:nvPr/>
        </p:nvCxnSpPr>
        <p:spPr>
          <a:xfrm>
            <a:off x="756778" y="2190166"/>
            <a:ext cx="209262" cy="193531"/>
          </a:xfrm>
          <a:prstGeom prst="bentConnector3">
            <a:avLst>
              <a:gd name="adj1" fmla="val 4571"/>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37" name="正方形/長方形 36">
            <a:extLst>
              <a:ext uri="{FF2B5EF4-FFF2-40B4-BE49-F238E27FC236}">
                <a16:creationId xmlns:a16="http://schemas.microsoft.com/office/drawing/2014/main" id="{F09B75F3-1FE5-B81D-0B1B-67E29D095B5A}"/>
              </a:ext>
            </a:extLst>
          </p:cNvPr>
          <p:cNvSpPr/>
          <p:nvPr/>
        </p:nvSpPr>
        <p:spPr>
          <a:xfrm>
            <a:off x="1405614" y="2581635"/>
            <a:ext cx="2369712" cy="71516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kumimoji="1" lang="en-US" altLang="ja-JP" sz="1200">
                <a:solidFill>
                  <a:schemeClr val="tx1"/>
                </a:solidFill>
                <a:latin typeface="Meiryo UI" panose="020B0604030504040204" pitchFamily="50" charset="-128"/>
                <a:ea typeface="Meiryo UI" panose="020B0604030504040204" pitchFamily="50" charset="-128"/>
              </a:rPr>
              <a:t>&lt;</a:t>
            </a:r>
            <a:r>
              <a:rPr kumimoji="1" lang="ja-JP" altLang="en-US" sz="1200">
                <a:solidFill>
                  <a:schemeClr val="tx1"/>
                </a:solidFill>
                <a:latin typeface="Meiryo UI" panose="020B0604030504040204" pitchFamily="50" charset="-128"/>
                <a:ea typeface="Meiryo UI" panose="020B0604030504040204" pitchFamily="50" charset="-128"/>
              </a:rPr>
              <a:t>サブグループ</a:t>
            </a:r>
            <a:r>
              <a:rPr kumimoji="1" lang="en-US" altLang="ja-JP" sz="1200">
                <a:solidFill>
                  <a:schemeClr val="tx1"/>
                </a:solidFill>
                <a:latin typeface="Meiryo UI" panose="020B0604030504040204" pitchFamily="50" charset="-128"/>
                <a:ea typeface="Meiryo UI" panose="020B0604030504040204" pitchFamily="50" charset="-128"/>
              </a:rPr>
              <a:t>&gt;</a:t>
            </a:r>
          </a:p>
          <a:p>
            <a:r>
              <a:rPr kumimoji="1" lang="ja-JP" altLang="en-US" sz="1200">
                <a:solidFill>
                  <a:schemeClr val="tx1"/>
                </a:solidFill>
                <a:latin typeface="Meiryo UI" panose="020B0604030504040204" pitchFamily="50" charset="-128"/>
                <a:ea typeface="Meiryo UI" panose="020B0604030504040204" pitchFamily="50" charset="-128"/>
              </a:rPr>
              <a:t>・物理証明試験と審査</a:t>
            </a:r>
          </a:p>
          <a:p>
            <a:r>
              <a:rPr kumimoji="1" lang="ja-JP" altLang="en-US" sz="1200">
                <a:solidFill>
                  <a:schemeClr val="tx1"/>
                </a:solidFill>
                <a:latin typeface="Meiryo UI" panose="020B0604030504040204" pitchFamily="50" charset="-128"/>
                <a:ea typeface="Meiryo UI" panose="020B0604030504040204" pitchFamily="50" charset="-128"/>
              </a:rPr>
              <a:t>・実世界での試運転</a:t>
            </a:r>
          </a:p>
        </p:txBody>
      </p:sp>
      <p:cxnSp>
        <p:nvCxnSpPr>
          <p:cNvPr id="38" name="コネクタ: カギ線 37">
            <a:extLst>
              <a:ext uri="{FF2B5EF4-FFF2-40B4-BE49-F238E27FC236}">
                <a16:creationId xmlns:a16="http://schemas.microsoft.com/office/drawing/2014/main" id="{16DECBE3-5E86-5166-0E66-81EC1475DD6D}"/>
              </a:ext>
            </a:extLst>
          </p:cNvPr>
          <p:cNvCxnSpPr>
            <a:cxnSpLocks/>
            <a:endCxn id="37" idx="1"/>
          </p:cNvCxnSpPr>
          <p:nvPr/>
        </p:nvCxnSpPr>
        <p:spPr>
          <a:xfrm rot="16200000" flipH="1">
            <a:off x="1113916" y="2647518"/>
            <a:ext cx="368396" cy="215000"/>
          </a:xfrm>
          <a:prstGeom prst="bentConnector2">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39" name="正方形/長方形 38">
            <a:extLst>
              <a:ext uri="{FF2B5EF4-FFF2-40B4-BE49-F238E27FC236}">
                <a16:creationId xmlns:a16="http://schemas.microsoft.com/office/drawing/2014/main" id="{3C382687-1466-1894-E396-70B323440519}"/>
              </a:ext>
            </a:extLst>
          </p:cNvPr>
          <p:cNvSpPr/>
          <p:nvPr/>
        </p:nvSpPr>
        <p:spPr>
          <a:xfrm>
            <a:off x="1405612" y="3298248"/>
            <a:ext cx="2369713" cy="110770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kumimoji="1" lang="en-US" altLang="ja-JP" sz="1200">
                <a:solidFill>
                  <a:schemeClr val="tx1"/>
                </a:solidFill>
                <a:latin typeface="Meiryo UI" panose="020B0604030504040204" pitchFamily="50" charset="-128"/>
                <a:ea typeface="Meiryo UI" panose="020B0604030504040204" pitchFamily="50" charset="-128"/>
              </a:rPr>
              <a:t>&lt;</a:t>
            </a:r>
            <a:r>
              <a:rPr kumimoji="1" lang="ja-JP" altLang="en-US" sz="1200">
                <a:solidFill>
                  <a:schemeClr val="tx1"/>
                </a:solidFill>
                <a:latin typeface="Meiryo UI" panose="020B0604030504040204" pitchFamily="50" charset="-128"/>
                <a:ea typeface="Meiryo UI" panose="020B0604030504040204" pitchFamily="50" charset="-128"/>
              </a:rPr>
              <a:t>インフォーマルワーキンググループ</a:t>
            </a:r>
            <a:r>
              <a:rPr kumimoji="1" lang="en-US" altLang="ja-JP" sz="1200">
                <a:solidFill>
                  <a:schemeClr val="tx1"/>
                </a:solidFill>
                <a:latin typeface="Meiryo UI" panose="020B0604030504040204" pitchFamily="50" charset="-128"/>
                <a:ea typeface="Meiryo UI" panose="020B0604030504040204" pitchFamily="50" charset="-128"/>
              </a:rPr>
              <a:t>&gt;</a:t>
            </a:r>
          </a:p>
          <a:p>
            <a:r>
              <a:rPr kumimoji="1" lang="ja-JP" altLang="en-US" sz="1200">
                <a:solidFill>
                  <a:schemeClr val="tx1"/>
                </a:solidFill>
                <a:latin typeface="Meiryo UI" panose="020B0604030504040204" pitchFamily="50" charset="-128"/>
                <a:ea typeface="Meiryo UI" panose="020B0604030504040204" pitchFamily="50" charset="-128"/>
              </a:rPr>
              <a:t>・ 管理された環境</a:t>
            </a:r>
            <a:r>
              <a:rPr kumimoji="1" lang="en-US" altLang="ja-JP" sz="1200">
                <a:solidFill>
                  <a:schemeClr val="tx1"/>
                </a:solidFill>
                <a:latin typeface="Meiryo UI" panose="020B0604030504040204" pitchFamily="50" charset="-128"/>
                <a:ea typeface="Meiryo UI" panose="020B0604030504040204" pitchFamily="50" charset="-128"/>
              </a:rPr>
              <a:t>;</a:t>
            </a:r>
          </a:p>
          <a:p>
            <a:r>
              <a:rPr kumimoji="1" lang="ja-JP" altLang="en-US" sz="120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OEM</a:t>
            </a:r>
            <a:r>
              <a:rPr kumimoji="1" lang="ja-JP" altLang="en-US" sz="1200">
                <a:solidFill>
                  <a:schemeClr val="tx1"/>
                </a:solidFill>
                <a:latin typeface="Meiryo UI" panose="020B0604030504040204" pitchFamily="50" charset="-128"/>
                <a:ea typeface="Meiryo UI" panose="020B0604030504040204" pitchFamily="50" charset="-128"/>
              </a:rPr>
              <a:t>プロセスの審査</a:t>
            </a:r>
            <a:r>
              <a:rPr kumimoji="1" lang="en-US" altLang="ja-JP" sz="1200">
                <a:solidFill>
                  <a:schemeClr val="tx1"/>
                </a:solidFill>
                <a:latin typeface="Meiryo UI" panose="020B0604030504040204" pitchFamily="50" charset="-128"/>
                <a:ea typeface="Meiryo UI" panose="020B0604030504040204" pitchFamily="50" charset="-128"/>
              </a:rPr>
              <a:t>;</a:t>
            </a:r>
          </a:p>
          <a:p>
            <a:r>
              <a:rPr kumimoji="1" lang="ja-JP" altLang="en-US" sz="1200">
                <a:solidFill>
                  <a:schemeClr val="tx1"/>
                </a:solidFill>
                <a:latin typeface="Meiryo UI" panose="020B0604030504040204" pitchFamily="50" charset="-128"/>
                <a:ea typeface="Meiryo UI" panose="020B0604030504040204" pitchFamily="50" charset="-128"/>
              </a:rPr>
              <a:t>・ シミュレーションと仮想テスト</a:t>
            </a:r>
            <a:r>
              <a:rPr kumimoji="1" lang="en-US" altLang="ja-JP" sz="1200">
                <a:solidFill>
                  <a:schemeClr val="tx1"/>
                </a:solidFill>
                <a:latin typeface="Meiryo UI" panose="020B0604030504040204" pitchFamily="50" charset="-128"/>
                <a:ea typeface="Meiryo UI" panose="020B0604030504040204" pitchFamily="50" charset="-128"/>
              </a:rPr>
              <a:t>;</a:t>
            </a:r>
          </a:p>
          <a:p>
            <a:r>
              <a:rPr kumimoji="1" lang="ja-JP" altLang="en-US" sz="1200">
                <a:solidFill>
                  <a:schemeClr val="tx1"/>
                </a:solidFill>
                <a:latin typeface="Meiryo UI" panose="020B0604030504040204" pitchFamily="50" charset="-128"/>
                <a:ea typeface="Meiryo UI" panose="020B0604030504040204" pitchFamily="50" charset="-128"/>
              </a:rPr>
              <a:t>・ 現実世界状況</a:t>
            </a:r>
            <a:r>
              <a:rPr kumimoji="1" lang="en-US" altLang="ja-JP" sz="1200">
                <a:solidFill>
                  <a:schemeClr val="tx1"/>
                </a:solidFill>
                <a:latin typeface="Meiryo UI" panose="020B0604030504040204" pitchFamily="50" charset="-128"/>
                <a:ea typeface="Meiryo UI" panose="020B0604030504040204" pitchFamily="50" charset="-128"/>
              </a:rPr>
              <a:t>;</a:t>
            </a:r>
          </a:p>
        </p:txBody>
      </p:sp>
      <p:cxnSp>
        <p:nvCxnSpPr>
          <p:cNvPr id="40" name="コネクタ: カギ線 39">
            <a:extLst>
              <a:ext uri="{FF2B5EF4-FFF2-40B4-BE49-F238E27FC236}">
                <a16:creationId xmlns:a16="http://schemas.microsoft.com/office/drawing/2014/main" id="{5C9D962B-1354-2FDB-934F-9949FCA61C41}"/>
              </a:ext>
            </a:extLst>
          </p:cNvPr>
          <p:cNvCxnSpPr>
            <a:cxnSpLocks/>
            <a:endCxn id="39" idx="1"/>
          </p:cNvCxnSpPr>
          <p:nvPr/>
        </p:nvCxnSpPr>
        <p:spPr>
          <a:xfrm rot="16200000" flipH="1">
            <a:off x="765505" y="3211992"/>
            <a:ext cx="1065172" cy="215042"/>
          </a:xfrm>
          <a:prstGeom prst="bentConnector2">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69" name="正方形/長方形 68">
            <a:extLst>
              <a:ext uri="{FF2B5EF4-FFF2-40B4-BE49-F238E27FC236}">
                <a16:creationId xmlns:a16="http://schemas.microsoft.com/office/drawing/2014/main" id="{DCAFBEE5-194F-8C84-BD54-14E30974D858}"/>
              </a:ext>
            </a:extLst>
          </p:cNvPr>
          <p:cNvSpPr/>
          <p:nvPr/>
        </p:nvSpPr>
        <p:spPr>
          <a:xfrm>
            <a:off x="476961" y="4528234"/>
            <a:ext cx="4263922" cy="36840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kumimoji="1" lang="zh-TW" altLang="en-US" sz="1200">
                <a:solidFill>
                  <a:schemeClr val="tx1"/>
                </a:solidFill>
                <a:latin typeface="Meiryo UI" panose="020B0604030504040204" pitchFamily="50" charset="-128"/>
                <a:ea typeface="Meiryo UI" panose="020B0604030504040204" pitchFamily="50" charset="-128"/>
              </a:rPr>
              <a:t>自動運転車</a:t>
            </a:r>
            <a:r>
              <a:rPr kumimoji="1" lang="ja-JP" altLang="en-US" sz="1200">
                <a:solidFill>
                  <a:schemeClr val="tx1"/>
                </a:solidFill>
                <a:latin typeface="Meiryo UI" panose="020B0604030504040204" pitchFamily="50" charset="-128"/>
                <a:ea typeface="Meiryo UI" panose="020B0604030504040204" pitchFamily="50" charset="-128"/>
              </a:rPr>
              <a:t>とコネクテッドカーに</a:t>
            </a:r>
            <a:r>
              <a:rPr kumimoji="1" lang="zh-TW" altLang="en-US" sz="1200">
                <a:solidFill>
                  <a:schemeClr val="tx1"/>
                </a:solidFill>
                <a:latin typeface="Meiryo UI" panose="020B0604030504040204" pitchFamily="50" charset="-128"/>
                <a:ea typeface="Meiryo UI" panose="020B0604030504040204" pitchFamily="50" charset="-128"/>
              </a:rPr>
              <a:t>関</a:t>
            </a:r>
            <a:r>
              <a:rPr kumimoji="1" lang="ja-JP" altLang="en-US" sz="1200">
                <a:solidFill>
                  <a:schemeClr val="tx1"/>
                </a:solidFill>
                <a:latin typeface="Meiryo UI" panose="020B0604030504040204" pitchFamily="50" charset="-128"/>
                <a:ea typeface="Meiryo UI" panose="020B0604030504040204" pitchFamily="50" charset="-128"/>
              </a:rPr>
              <a:t>する</a:t>
            </a:r>
            <a:r>
              <a:rPr lang="ja-JP" altLang="en-US" sz="1200">
                <a:solidFill>
                  <a:schemeClr val="tx1"/>
                </a:solidFill>
                <a:latin typeface="Meiryo UI" panose="020B0604030504040204" pitchFamily="50" charset="-128"/>
                <a:ea typeface="Meiryo UI" panose="020B0604030504040204" pitchFamily="50" charset="-128"/>
              </a:rPr>
              <a:t>ワーキンググループ</a:t>
            </a:r>
            <a:r>
              <a:rPr kumimoji="1" lang="zh-TW" altLang="en-US" sz="1200">
                <a:solidFill>
                  <a:schemeClr val="tx1"/>
                </a:solidFill>
                <a:latin typeface="Meiryo UI" panose="020B0604030504040204" pitchFamily="50" charset="-128"/>
                <a:ea typeface="Meiryo UI" panose="020B0604030504040204" pitchFamily="50" charset="-128"/>
              </a:rPr>
              <a:t>（</a:t>
            </a:r>
            <a:r>
              <a:rPr kumimoji="1" lang="en-US" altLang="zh-TW" sz="1200">
                <a:solidFill>
                  <a:schemeClr val="tx1"/>
                </a:solidFill>
                <a:latin typeface="Meiryo UI" panose="020B0604030504040204" pitchFamily="50" charset="-128"/>
                <a:ea typeface="Meiryo UI" panose="020B0604030504040204" pitchFamily="50" charset="-128"/>
              </a:rPr>
              <a:t>GRVA</a:t>
            </a:r>
            <a:r>
              <a:rPr kumimoji="1" lang="zh-TW" altLang="en-US" sz="1200">
                <a:solidFill>
                  <a:schemeClr val="tx1"/>
                </a:solidFill>
                <a:latin typeface="Meiryo UI" panose="020B0604030504040204" pitchFamily="50" charset="-128"/>
                <a:ea typeface="Meiryo UI" panose="020B0604030504040204" pitchFamily="50" charset="-128"/>
              </a:rPr>
              <a:t>）</a:t>
            </a:r>
            <a:endParaRPr kumimoji="1" lang="en-US" altLang="ja-JP" sz="1200">
              <a:solidFill>
                <a:schemeClr val="tx1"/>
              </a:solidFill>
              <a:latin typeface="Meiryo UI" panose="020B0604030504040204" pitchFamily="50" charset="-128"/>
              <a:ea typeface="Meiryo UI" panose="020B0604030504040204" pitchFamily="50" charset="-128"/>
            </a:endParaRPr>
          </a:p>
        </p:txBody>
      </p:sp>
      <p:cxnSp>
        <p:nvCxnSpPr>
          <p:cNvPr id="70" name="コネクタ: カギ線 69">
            <a:extLst>
              <a:ext uri="{FF2B5EF4-FFF2-40B4-BE49-F238E27FC236}">
                <a16:creationId xmlns:a16="http://schemas.microsoft.com/office/drawing/2014/main" id="{61D01C1D-F5AA-E5E7-03A6-BA982363FD40}"/>
              </a:ext>
            </a:extLst>
          </p:cNvPr>
          <p:cNvCxnSpPr>
            <a:cxnSpLocks/>
            <a:endCxn id="69" idx="1"/>
          </p:cNvCxnSpPr>
          <p:nvPr/>
        </p:nvCxnSpPr>
        <p:spPr>
          <a:xfrm rot="16200000" flipH="1">
            <a:off x="-1014514" y="3220958"/>
            <a:ext cx="2899033" cy="83918"/>
          </a:xfrm>
          <a:prstGeom prst="bentConnector2">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76" name="正方形/長方形 75">
            <a:extLst>
              <a:ext uri="{FF2B5EF4-FFF2-40B4-BE49-F238E27FC236}">
                <a16:creationId xmlns:a16="http://schemas.microsoft.com/office/drawing/2014/main" id="{D83D5D61-AD4D-CCBE-F3E3-BEDEF5094ACD}"/>
              </a:ext>
            </a:extLst>
          </p:cNvPr>
          <p:cNvSpPr/>
          <p:nvPr/>
        </p:nvSpPr>
        <p:spPr>
          <a:xfrm>
            <a:off x="606460" y="4922218"/>
            <a:ext cx="5563103" cy="37071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lang="en-US" altLang="ja-JP" sz="1200">
                <a:solidFill>
                  <a:srgbClr val="000000"/>
                </a:solidFill>
                <a:latin typeface="Meiryo UI" panose="020B0604030504040204" pitchFamily="50" charset="-128"/>
                <a:ea typeface="Meiryo UI" panose="020B0604030504040204" pitchFamily="50" charset="-128"/>
              </a:rPr>
              <a:t>①</a:t>
            </a:r>
            <a:r>
              <a:rPr lang="ja-JP" altLang="en-US" sz="1200" b="0" u="none" strike="noStrike">
                <a:solidFill>
                  <a:srgbClr val="0070C0"/>
                </a:solidFill>
                <a:effectLst/>
                <a:latin typeface="Meiryo UI" panose="020B0604030504040204" pitchFamily="50" charset="-128"/>
                <a:ea typeface="Meiryo UI" panose="020B0604030504040204" pitchFamily="50" charset="-128"/>
              </a:rPr>
              <a:t>自動運転車の機能的要件 </a:t>
            </a:r>
            <a:r>
              <a:rPr lang="en-US" altLang="ja-JP" sz="1200" b="0" u="none" strike="noStrike">
                <a:solidFill>
                  <a:srgbClr val="0070C0"/>
                </a:solidFill>
                <a:effectLst/>
                <a:latin typeface="Meiryo UI" panose="020B0604030504040204" pitchFamily="50" charset="-128"/>
                <a:ea typeface="Meiryo UI" panose="020B0604030504040204" pitchFamily="50" charset="-128"/>
              </a:rPr>
              <a:t>(</a:t>
            </a:r>
            <a:r>
              <a:rPr lang="en" altLang="ja-JP" sz="1200" b="0" u="none" strike="noStrike">
                <a:solidFill>
                  <a:srgbClr val="0070C0"/>
                </a:solidFill>
                <a:effectLst/>
                <a:latin typeface="Meiryo UI" panose="020B0604030504040204" pitchFamily="50" charset="-128"/>
                <a:ea typeface="Meiryo UI" panose="020B0604030504040204" pitchFamily="50" charset="-128"/>
              </a:rPr>
              <a:t>FRAV)</a:t>
            </a:r>
            <a:endParaRPr kumimoji="1" lang="en-US" altLang="ja-JP" sz="1200">
              <a:solidFill>
                <a:srgbClr val="0070C0"/>
              </a:solidFill>
              <a:latin typeface="Meiryo UI" panose="020B0604030504040204" pitchFamily="50" charset="-128"/>
              <a:ea typeface="Meiryo UI" panose="020B0604030504040204" pitchFamily="50" charset="-128"/>
            </a:endParaRPr>
          </a:p>
        </p:txBody>
      </p:sp>
      <p:cxnSp>
        <p:nvCxnSpPr>
          <p:cNvPr id="77" name="コネクタ: カギ線 76">
            <a:extLst>
              <a:ext uri="{FF2B5EF4-FFF2-40B4-BE49-F238E27FC236}">
                <a16:creationId xmlns:a16="http://schemas.microsoft.com/office/drawing/2014/main" id="{41CB6384-8A61-5A26-AF02-2ABB2D1F449E}"/>
              </a:ext>
            </a:extLst>
          </p:cNvPr>
          <p:cNvCxnSpPr>
            <a:cxnSpLocks/>
            <a:endCxn id="76" idx="1"/>
          </p:cNvCxnSpPr>
          <p:nvPr/>
        </p:nvCxnSpPr>
        <p:spPr>
          <a:xfrm rot="16200000" flipH="1">
            <a:off x="457933" y="4959048"/>
            <a:ext cx="202526" cy="94528"/>
          </a:xfrm>
          <a:prstGeom prst="bentConnector2">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78" name="正方形/長方形 77">
            <a:extLst>
              <a:ext uri="{FF2B5EF4-FFF2-40B4-BE49-F238E27FC236}">
                <a16:creationId xmlns:a16="http://schemas.microsoft.com/office/drawing/2014/main" id="{670FF345-528E-CE66-9E02-FA315510E815}"/>
              </a:ext>
            </a:extLst>
          </p:cNvPr>
          <p:cNvSpPr/>
          <p:nvPr/>
        </p:nvSpPr>
        <p:spPr>
          <a:xfrm>
            <a:off x="606460" y="5303992"/>
            <a:ext cx="5563103" cy="37071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lang="en-US" altLang="ja-JP" sz="1200" b="0" u="none" strike="noStrike">
                <a:solidFill>
                  <a:srgbClr val="000000"/>
                </a:solidFill>
                <a:effectLst/>
                <a:latin typeface="Meiryo UI" panose="020B0604030504040204" pitchFamily="50" charset="-128"/>
                <a:ea typeface="Meiryo UI" panose="020B0604030504040204" pitchFamily="50" charset="-128"/>
              </a:rPr>
              <a:t>②</a:t>
            </a:r>
            <a:r>
              <a:rPr lang="ja-JP" altLang="en-US" sz="1200" b="0" u="none" strike="noStrike">
                <a:solidFill>
                  <a:srgbClr val="0070C0"/>
                </a:solidFill>
                <a:effectLst/>
                <a:latin typeface="Meiryo UI" panose="020B0604030504040204" pitchFamily="50" charset="-128"/>
                <a:ea typeface="Meiryo UI" panose="020B0604030504040204" pitchFamily="50" charset="-128"/>
              </a:rPr>
              <a:t>自動運転の検証方法 </a:t>
            </a:r>
            <a:r>
              <a:rPr lang="en-US" altLang="ja-JP" sz="1200" b="0" u="none" strike="noStrike">
                <a:solidFill>
                  <a:srgbClr val="0070C0"/>
                </a:solidFill>
                <a:effectLst/>
                <a:latin typeface="Meiryo UI" panose="020B0604030504040204" pitchFamily="50" charset="-128"/>
                <a:ea typeface="Meiryo UI" panose="020B0604030504040204" pitchFamily="50" charset="-128"/>
              </a:rPr>
              <a:t>(VMAD)</a:t>
            </a:r>
            <a:endParaRPr kumimoji="1" lang="en-US" altLang="ja-JP" sz="1200">
              <a:solidFill>
                <a:srgbClr val="0070C0"/>
              </a:solidFill>
              <a:latin typeface="Meiryo UI" panose="020B0604030504040204" pitchFamily="50" charset="-128"/>
              <a:ea typeface="Meiryo UI" panose="020B0604030504040204" pitchFamily="50" charset="-128"/>
            </a:endParaRPr>
          </a:p>
        </p:txBody>
      </p:sp>
      <p:cxnSp>
        <p:nvCxnSpPr>
          <p:cNvPr id="79" name="コネクタ: カギ線 78">
            <a:extLst>
              <a:ext uri="{FF2B5EF4-FFF2-40B4-BE49-F238E27FC236}">
                <a16:creationId xmlns:a16="http://schemas.microsoft.com/office/drawing/2014/main" id="{9BB1EEF0-F473-A8C8-D487-A682BFEB4674}"/>
              </a:ext>
            </a:extLst>
          </p:cNvPr>
          <p:cNvCxnSpPr>
            <a:cxnSpLocks/>
            <a:endCxn id="78" idx="1"/>
          </p:cNvCxnSpPr>
          <p:nvPr/>
        </p:nvCxnSpPr>
        <p:spPr>
          <a:xfrm rot="16200000" flipH="1">
            <a:off x="372895" y="5255784"/>
            <a:ext cx="370716" cy="96414"/>
          </a:xfrm>
          <a:prstGeom prst="bentConnector2">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80" name="正方形/長方形 79">
            <a:extLst>
              <a:ext uri="{FF2B5EF4-FFF2-40B4-BE49-F238E27FC236}">
                <a16:creationId xmlns:a16="http://schemas.microsoft.com/office/drawing/2014/main" id="{587ABF02-0814-76BE-5EA7-39D85EE94834}"/>
              </a:ext>
            </a:extLst>
          </p:cNvPr>
          <p:cNvSpPr/>
          <p:nvPr/>
        </p:nvSpPr>
        <p:spPr>
          <a:xfrm>
            <a:off x="606460" y="5670528"/>
            <a:ext cx="5563103" cy="37071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lang="en-US" altLang="ja-JP" sz="1200" b="0" u="none" strike="noStrike" dirty="0">
                <a:solidFill>
                  <a:srgbClr val="000000"/>
                </a:solidFill>
                <a:effectLst/>
                <a:latin typeface="Meiryo UI" panose="020B0604030504040204" pitchFamily="50" charset="-128"/>
                <a:ea typeface="Meiryo UI" panose="020B0604030504040204" pitchFamily="50" charset="-128"/>
              </a:rPr>
              <a:t>③</a:t>
            </a:r>
            <a:r>
              <a:rPr lang="ja-JP" altLang="en-US" sz="1200" b="0" u="none" strike="noStrike" dirty="0">
                <a:solidFill>
                  <a:srgbClr val="000000"/>
                </a:solidFill>
                <a:effectLst/>
                <a:latin typeface="Meiryo UI" panose="020B0604030504040204" pitchFamily="50" charset="-128"/>
                <a:ea typeface="Meiryo UI" panose="020B0604030504040204" pitchFamily="50" charset="-128"/>
              </a:rPr>
              <a:t>サイバセキュリティと無線通信でのソフトウェア更新 </a:t>
            </a:r>
            <a:r>
              <a:rPr lang="en-US" altLang="ja-JP" sz="1200" b="0" u="none" strike="noStrike" dirty="0">
                <a:solidFill>
                  <a:srgbClr val="000000"/>
                </a:solidFill>
                <a:effectLst/>
                <a:latin typeface="Meiryo UI" panose="020B0604030504040204" pitchFamily="50" charset="-128"/>
                <a:ea typeface="Meiryo UI" panose="020B0604030504040204" pitchFamily="50" charset="-128"/>
              </a:rPr>
              <a:t>(CS/OTA)</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81" name="コネクタ: カギ線 80">
            <a:extLst>
              <a:ext uri="{FF2B5EF4-FFF2-40B4-BE49-F238E27FC236}">
                <a16:creationId xmlns:a16="http://schemas.microsoft.com/office/drawing/2014/main" id="{A0359A03-8E2C-3FC4-CEF5-2A11278F0E9F}"/>
              </a:ext>
            </a:extLst>
          </p:cNvPr>
          <p:cNvCxnSpPr>
            <a:cxnSpLocks/>
            <a:endCxn id="80" idx="1"/>
          </p:cNvCxnSpPr>
          <p:nvPr/>
        </p:nvCxnSpPr>
        <p:spPr>
          <a:xfrm rot="16200000" flipH="1">
            <a:off x="373839" y="5623264"/>
            <a:ext cx="370714" cy="94528"/>
          </a:xfrm>
          <a:prstGeom prst="bentConnector2">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82" name="正方形/長方形 81">
            <a:extLst>
              <a:ext uri="{FF2B5EF4-FFF2-40B4-BE49-F238E27FC236}">
                <a16:creationId xmlns:a16="http://schemas.microsoft.com/office/drawing/2014/main" id="{456E5D6C-AA06-C255-1840-FDF68FA8BD37}"/>
              </a:ext>
            </a:extLst>
          </p:cNvPr>
          <p:cNvSpPr/>
          <p:nvPr/>
        </p:nvSpPr>
        <p:spPr>
          <a:xfrm>
            <a:off x="606460" y="6025495"/>
            <a:ext cx="5563103" cy="37071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lang="en-US" altLang="ja-JP" sz="1200" b="0" u="none" strike="noStrike">
                <a:solidFill>
                  <a:srgbClr val="000000"/>
                </a:solidFill>
                <a:effectLst/>
                <a:latin typeface="Meiryo UI" panose="020B0604030504040204" pitchFamily="50" charset="-128"/>
                <a:ea typeface="Meiryo UI" panose="020B0604030504040204" pitchFamily="50" charset="-128"/>
              </a:rPr>
              <a:t>④</a:t>
            </a:r>
            <a:r>
              <a:rPr lang="ja-JP" altLang="en-US" sz="1200" b="0" u="none" strike="noStrike">
                <a:solidFill>
                  <a:srgbClr val="000000"/>
                </a:solidFill>
                <a:effectLst/>
                <a:latin typeface="Meiryo UI" panose="020B0604030504040204" pitchFamily="50" charset="-128"/>
                <a:ea typeface="Meiryo UI" panose="020B0604030504040204" pitchFamily="50" charset="-128"/>
              </a:rPr>
              <a:t>自動運転のためのイベントデータレコーダー</a:t>
            </a:r>
            <a:r>
              <a:rPr lang="en-US" altLang="ja-JP" sz="1200" b="0" u="none" strike="noStrike">
                <a:solidFill>
                  <a:srgbClr val="000000"/>
                </a:solidFill>
                <a:effectLst/>
                <a:latin typeface="Meiryo UI" panose="020B0604030504040204" pitchFamily="50" charset="-128"/>
                <a:ea typeface="Meiryo UI" panose="020B0604030504040204" pitchFamily="50" charset="-128"/>
              </a:rPr>
              <a:t>/</a:t>
            </a:r>
            <a:r>
              <a:rPr lang="ja-JP" altLang="en-US" sz="1200" b="0" u="none" strike="noStrike">
                <a:solidFill>
                  <a:srgbClr val="000000"/>
                </a:solidFill>
                <a:effectLst/>
                <a:latin typeface="Meiryo UI" panose="020B0604030504040204" pitchFamily="50" charset="-128"/>
                <a:ea typeface="Meiryo UI" panose="020B0604030504040204" pitchFamily="50" charset="-128"/>
              </a:rPr>
              <a:t>データストレージシステム </a:t>
            </a:r>
            <a:r>
              <a:rPr lang="en-US" altLang="ja-JP" sz="1200" b="0" u="none" strike="noStrike">
                <a:solidFill>
                  <a:srgbClr val="000000"/>
                </a:solidFill>
                <a:effectLst/>
                <a:latin typeface="Meiryo UI" panose="020B0604030504040204" pitchFamily="50" charset="-128"/>
                <a:ea typeface="Meiryo UI" panose="020B0604030504040204" pitchFamily="50" charset="-128"/>
              </a:rPr>
              <a:t>(EDR/DSSAD)</a:t>
            </a:r>
            <a:endParaRPr kumimoji="1" lang="en-US" altLang="ja-JP" sz="1200">
              <a:solidFill>
                <a:schemeClr val="tx1"/>
              </a:solidFill>
              <a:latin typeface="Meiryo UI" panose="020B0604030504040204" pitchFamily="50" charset="-128"/>
              <a:ea typeface="Meiryo UI" panose="020B0604030504040204" pitchFamily="50" charset="-128"/>
            </a:endParaRPr>
          </a:p>
        </p:txBody>
      </p:sp>
      <p:cxnSp>
        <p:nvCxnSpPr>
          <p:cNvPr id="83" name="コネクタ: カギ線 82">
            <a:extLst>
              <a:ext uri="{FF2B5EF4-FFF2-40B4-BE49-F238E27FC236}">
                <a16:creationId xmlns:a16="http://schemas.microsoft.com/office/drawing/2014/main" id="{214B4896-E837-ABF9-8A8C-E19E1B3D7F47}"/>
              </a:ext>
            </a:extLst>
          </p:cNvPr>
          <p:cNvCxnSpPr>
            <a:cxnSpLocks/>
            <a:endCxn id="82" idx="1"/>
          </p:cNvCxnSpPr>
          <p:nvPr/>
        </p:nvCxnSpPr>
        <p:spPr>
          <a:xfrm rot="16200000" flipH="1">
            <a:off x="383394" y="5987786"/>
            <a:ext cx="343908" cy="102224"/>
          </a:xfrm>
          <a:prstGeom prst="bentConnector2">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16" name="直線コネクタ 115">
            <a:extLst>
              <a:ext uri="{FF2B5EF4-FFF2-40B4-BE49-F238E27FC236}">
                <a16:creationId xmlns:a16="http://schemas.microsoft.com/office/drawing/2014/main" id="{6E85E646-80CA-73CB-8264-8FF93DE4B890}"/>
              </a:ext>
            </a:extLst>
          </p:cNvPr>
          <p:cNvCxnSpPr>
            <a:cxnSpLocks/>
          </p:cNvCxnSpPr>
          <p:nvPr/>
        </p:nvCxnSpPr>
        <p:spPr>
          <a:xfrm>
            <a:off x="6302531" y="1360287"/>
            <a:ext cx="0" cy="5113249"/>
          </a:xfrm>
          <a:prstGeom prst="line">
            <a:avLst/>
          </a:prstGeom>
          <a:ln w="9525">
            <a:solidFill>
              <a:schemeClr val="accent4"/>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58" name="表 57">
            <a:extLst>
              <a:ext uri="{FF2B5EF4-FFF2-40B4-BE49-F238E27FC236}">
                <a16:creationId xmlns:a16="http://schemas.microsoft.com/office/drawing/2014/main" id="{CA7606E5-4342-83E8-2834-841052706839}"/>
              </a:ext>
            </a:extLst>
          </p:cNvPr>
          <p:cNvGraphicFramePr>
            <a:graphicFrameLocks noGrp="1"/>
          </p:cNvGraphicFramePr>
          <p:nvPr>
            <p:extLst>
              <p:ext uri="{D42A27DB-BD31-4B8C-83A1-F6EECF244321}">
                <p14:modId xmlns:p14="http://schemas.microsoft.com/office/powerpoint/2010/main" val="112403100"/>
              </p:ext>
            </p:extLst>
          </p:nvPr>
        </p:nvGraphicFramePr>
        <p:xfrm>
          <a:off x="6571660" y="1713510"/>
          <a:ext cx="5411499" cy="2766060"/>
        </p:xfrm>
        <a:graphic>
          <a:graphicData uri="http://schemas.openxmlformats.org/drawingml/2006/table">
            <a:tbl>
              <a:tblPr firstRow="1" bandRow="1">
                <a:tableStyleId>{5C22544A-7EE6-4342-B048-85BDC9FD1C3A}</a:tableStyleId>
              </a:tblPr>
              <a:tblGrid>
                <a:gridCol w="702842">
                  <a:extLst>
                    <a:ext uri="{9D8B030D-6E8A-4147-A177-3AD203B41FA5}">
                      <a16:colId xmlns:a16="http://schemas.microsoft.com/office/drawing/2014/main" val="2039631741"/>
                    </a:ext>
                  </a:extLst>
                </a:gridCol>
                <a:gridCol w="2223505">
                  <a:extLst>
                    <a:ext uri="{9D8B030D-6E8A-4147-A177-3AD203B41FA5}">
                      <a16:colId xmlns:a16="http://schemas.microsoft.com/office/drawing/2014/main" val="440316885"/>
                    </a:ext>
                  </a:extLst>
                </a:gridCol>
                <a:gridCol w="2485152">
                  <a:extLst>
                    <a:ext uri="{9D8B030D-6E8A-4147-A177-3AD203B41FA5}">
                      <a16:colId xmlns:a16="http://schemas.microsoft.com/office/drawing/2014/main" val="2114306956"/>
                    </a:ext>
                  </a:extLst>
                </a:gridCol>
              </a:tblGrid>
              <a:tr h="181960">
                <a:tc>
                  <a:txBody>
                    <a:bodyPr/>
                    <a:lstStyle/>
                    <a:p>
                      <a:pPr algn="ctr"/>
                      <a:r>
                        <a:rPr kumimoji="1" lang="en-US" altLang="ja-JP" sz="1050" b="0">
                          <a:solidFill>
                            <a:sysClr val="windowText" lastClr="000000"/>
                          </a:solidFill>
                        </a:rPr>
                        <a:t>WG</a:t>
                      </a:r>
                      <a:endParaRPr kumimoji="1" lang="ja-JP" altLang="en-US" sz="1050" b="0">
                        <a:solidFill>
                          <a:sysClr val="windowText" lastClr="000000"/>
                        </a:solidFill>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050" b="0">
                          <a:solidFill>
                            <a:sysClr val="windowText" lastClr="000000"/>
                          </a:solidFill>
                        </a:rPr>
                        <a:t>活動</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050" b="0">
                          <a:solidFill>
                            <a:sysClr val="windowText" lastClr="000000"/>
                          </a:solidFill>
                        </a:rPr>
                        <a:t>検討事項</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3866421"/>
                  </a:ext>
                </a:extLst>
              </a:tr>
              <a:tr h="181960">
                <a:tc rowSpan="5">
                  <a:txBody>
                    <a:bodyPr/>
                    <a:lstStyle/>
                    <a:p>
                      <a:pPr algn="ctr"/>
                      <a:r>
                        <a:rPr kumimoji="1" lang="en-US" altLang="ja-JP" sz="1050" b="0">
                          <a:solidFill>
                            <a:schemeClr val="tx1"/>
                          </a:solidFill>
                        </a:rPr>
                        <a:t>①FRAV</a:t>
                      </a:r>
                      <a:endParaRPr kumimoji="1" lang="ja-JP" altLang="en-US" sz="1050" b="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5">
                  <a:txBody>
                    <a:bodyPr/>
                    <a:lstStyle/>
                    <a:p>
                      <a:pPr algn="ctr"/>
                      <a:r>
                        <a:rPr kumimoji="1" lang="en" altLang="ja-JP" sz="1050" b="0" u="sng">
                          <a:solidFill>
                            <a:srgbClr val="0070C0"/>
                          </a:solidFill>
                        </a:rPr>
                        <a:t>ADS </a:t>
                      </a:r>
                      <a:r>
                        <a:rPr kumimoji="1" lang="ja-JP" altLang="en-US" sz="1050" b="0" u="sng">
                          <a:solidFill>
                            <a:srgbClr val="0070C0"/>
                          </a:solidFill>
                        </a:rPr>
                        <a:t>安全要件</a:t>
                      </a:r>
                      <a:r>
                        <a:rPr kumimoji="1" lang="ja-JP" altLang="en-US" sz="1050" b="0">
                          <a:solidFill>
                            <a:schemeClr val="tx1"/>
                          </a:solidFill>
                        </a:rPr>
                        <a:t>に関する</a:t>
                      </a:r>
                      <a:endParaRPr kumimoji="1" lang="en-US" altLang="ja-JP" sz="1050" b="0">
                        <a:solidFill>
                          <a:schemeClr val="tx1"/>
                        </a:solidFill>
                      </a:endParaRPr>
                    </a:p>
                    <a:p>
                      <a:pPr algn="ctr"/>
                      <a:r>
                        <a:rPr kumimoji="1" lang="en" altLang="ja-JP" sz="1050" b="0">
                          <a:solidFill>
                            <a:schemeClr val="tx1"/>
                          </a:solidFill>
                        </a:rPr>
                        <a:t>WP.29</a:t>
                      </a:r>
                      <a:r>
                        <a:rPr kumimoji="1" lang="ja-JP" altLang="en-US" sz="1050" b="0">
                          <a:solidFill>
                            <a:schemeClr val="tx1"/>
                          </a:solidFill>
                        </a:rPr>
                        <a:t>指針の提案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kumimoji="1" lang="ja-JP" altLang="en-US" sz="1050" b="0">
                          <a:solidFill>
                            <a:schemeClr val="tx1"/>
                          </a:solidFill>
                        </a:rPr>
                        <a:t>システムの安全性</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6824009"/>
                  </a:ext>
                </a:extLst>
              </a:tr>
              <a:tr h="181960">
                <a:tc vMerge="1">
                  <a:txBody>
                    <a:bodyPr/>
                    <a:lstStyle/>
                    <a:p>
                      <a:endParaRPr kumimoji="1" lang="ja-JP" altLang="en-US" sz="1050" b="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kumimoji="1" lang="ja-JP" altLang="en-US" sz="105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50">
                          <a:solidFill>
                            <a:schemeClr val="tx1"/>
                          </a:solidFill>
                        </a:rPr>
                        <a:t>フェイルセーフ対応</a:t>
                      </a:r>
                      <a:endParaRPr kumimoji="1" lang="ja-JP" altLang="en-US" sz="1050" b="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64454931"/>
                  </a:ext>
                </a:extLst>
              </a:tr>
              <a:tr h="181960">
                <a:tc vMerge="1">
                  <a:txBody>
                    <a:bodyPr/>
                    <a:lstStyle/>
                    <a:p>
                      <a:endParaRPr kumimoji="1" lang="ja-JP" altLang="en-US" sz="1050" b="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kumimoji="1" lang="ja-JP" altLang="en-US" sz="105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50">
                          <a:solidFill>
                            <a:schemeClr val="tx1"/>
                          </a:solidFill>
                        </a:rPr>
                        <a:t>HMI/</a:t>
                      </a:r>
                      <a:r>
                        <a:rPr kumimoji="1" lang="ja-JP" altLang="en-US" sz="1050">
                          <a:solidFill>
                            <a:schemeClr val="tx1"/>
                          </a:solidFill>
                        </a:rPr>
                        <a:t>運転者の情報</a:t>
                      </a:r>
                      <a:endParaRPr kumimoji="1" lang="ja-JP" altLang="en-US" sz="1050" b="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6340279"/>
                  </a:ext>
                </a:extLst>
              </a:tr>
              <a:tr h="181960">
                <a:tc vMerge="1">
                  <a:txBody>
                    <a:bodyPr/>
                    <a:lstStyle/>
                    <a:p>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a:solidFill>
                            <a:schemeClr val="tx1"/>
                          </a:solidFill>
                        </a:rPr>
                        <a:t>物体とイベントの検出と対応</a:t>
                      </a:r>
                      <a:r>
                        <a:rPr kumimoji="1" lang="en-US" altLang="ja-JP" sz="1050">
                          <a:solidFill>
                            <a:schemeClr val="tx1"/>
                          </a:solidFill>
                        </a:rPr>
                        <a:t>(OEDR)</a:t>
                      </a:r>
                      <a:endParaRPr kumimoji="1" lang="ja-JP" altLang="en-US" sz="105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50741635"/>
                  </a:ext>
                </a:extLst>
              </a:tr>
              <a:tr h="0">
                <a:tc vMerge="1">
                  <a:txBody>
                    <a:bodyPr/>
                    <a:lstStyle/>
                    <a:p>
                      <a:endParaRPr kumimoji="1" lang="ja-JP" altLang="en-US" sz="1050" b="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a:solidFill>
                            <a:schemeClr val="tx1"/>
                          </a:solidFill>
                        </a:rPr>
                        <a:t>運行設計領域</a:t>
                      </a:r>
                      <a:r>
                        <a:rPr kumimoji="1" lang="en-US" altLang="ja-JP" sz="1050">
                          <a:solidFill>
                            <a:schemeClr val="tx1"/>
                          </a:solidFill>
                        </a:rPr>
                        <a:t>(ODD)</a:t>
                      </a:r>
                      <a:endParaRPr kumimoji="1" lang="ja-JP" altLang="en-US" sz="105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4105630"/>
                  </a:ext>
                </a:extLst>
              </a:tr>
              <a:tr h="181960">
                <a:tc rowSpan="5">
                  <a:txBody>
                    <a:bodyPr/>
                    <a:lstStyle/>
                    <a:p>
                      <a:pPr algn="ctr"/>
                      <a:r>
                        <a:rPr kumimoji="1" lang="en-US" altLang="ja-JP" sz="1050" b="0">
                          <a:solidFill>
                            <a:schemeClr val="tx1"/>
                          </a:solidFill>
                        </a:rPr>
                        <a:t>②VMAD</a:t>
                      </a:r>
                      <a:endParaRPr kumimoji="1" lang="ja-JP" altLang="en-US" sz="1050" b="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rPr>
                        <a:t>マルチピラーアプローチに基づく</a:t>
                      </a:r>
                      <a:r>
                        <a:rPr kumimoji="1" lang="en-US" altLang="ja-JP" sz="1050" b="0" u="sng">
                          <a:solidFill>
                            <a:srgbClr val="0070C0"/>
                          </a:solidFill>
                        </a:rPr>
                        <a:t>ADS</a:t>
                      </a:r>
                      <a:r>
                        <a:rPr kumimoji="1" lang="ja-JP" altLang="en-US" sz="1050" b="0" u="sng">
                          <a:solidFill>
                            <a:srgbClr val="0070C0"/>
                          </a:solidFill>
                        </a:rPr>
                        <a:t>の新しい評価と試験方法</a:t>
                      </a:r>
                      <a:r>
                        <a:rPr kumimoji="1" lang="ja-JP" altLang="en-US" sz="1050" b="0">
                          <a:solidFill>
                            <a:schemeClr val="tx1"/>
                          </a:solidFill>
                        </a:rPr>
                        <a:t>に関する</a:t>
                      </a:r>
                      <a:r>
                        <a:rPr kumimoji="1" lang="en" altLang="ja-JP" sz="1050" b="0">
                          <a:solidFill>
                            <a:schemeClr val="tx1"/>
                          </a:solidFill>
                        </a:rPr>
                        <a:t>WP29</a:t>
                      </a:r>
                      <a:r>
                        <a:rPr kumimoji="1" lang="ja-JP" altLang="en-US" sz="1050" b="0">
                          <a:solidFill>
                            <a:schemeClr val="tx1"/>
                          </a:solidFill>
                        </a:rPr>
                        <a:t>指針の提案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a:solidFill>
                            <a:schemeClr val="tx1"/>
                          </a:solidFill>
                        </a:rPr>
                        <a:t>フェイルセーフ対応</a:t>
                      </a:r>
                      <a:endParaRPr kumimoji="1" lang="ja-JP" altLang="en-US" sz="1050" b="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06496403"/>
                  </a:ext>
                </a:extLst>
              </a:tr>
              <a:tr h="181960">
                <a:tc vMerge="1">
                  <a:txBody>
                    <a:bodyPr/>
                    <a:lstStyle/>
                    <a:p>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a:solidFill>
                            <a:schemeClr val="tx1"/>
                          </a:solidFill>
                        </a:rPr>
                        <a:t>HMI/</a:t>
                      </a:r>
                      <a:r>
                        <a:rPr kumimoji="1" lang="ja-JP" altLang="en-US" sz="1050">
                          <a:solidFill>
                            <a:schemeClr val="tx1"/>
                          </a:solidFill>
                        </a:rPr>
                        <a:t>運転者の情報</a:t>
                      </a:r>
                      <a:endParaRPr kumimoji="1" lang="ja-JP" altLang="en-US" sz="1050" b="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47536241"/>
                  </a:ext>
                </a:extLst>
              </a:tr>
              <a:tr h="181960">
                <a:tc vMerge="1">
                  <a:txBody>
                    <a:bodyPr/>
                    <a:lstStyle/>
                    <a:p>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a:solidFill>
                            <a:schemeClr val="tx1"/>
                          </a:solidFill>
                        </a:rPr>
                        <a:t>物体とイベントの検出と対応</a:t>
                      </a:r>
                      <a:r>
                        <a:rPr kumimoji="1" lang="en-US" altLang="ja-JP" sz="1050">
                          <a:solidFill>
                            <a:schemeClr val="tx1"/>
                          </a:solidFill>
                        </a:rPr>
                        <a:t>(OEDR)</a:t>
                      </a:r>
                      <a:endParaRPr kumimoji="1" lang="ja-JP" altLang="en-US" sz="105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6963805"/>
                  </a:ext>
                </a:extLst>
              </a:tr>
              <a:tr h="181960">
                <a:tc vMerge="1">
                  <a:txBody>
                    <a:bodyPr/>
                    <a:lstStyle/>
                    <a:p>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a:solidFill>
                            <a:schemeClr val="tx1"/>
                          </a:solidFill>
                        </a:rPr>
                        <a:t>運行設計領域</a:t>
                      </a:r>
                      <a:r>
                        <a:rPr kumimoji="1" lang="en-US" altLang="ja-JP" sz="1050">
                          <a:solidFill>
                            <a:schemeClr val="tx1"/>
                          </a:solidFill>
                        </a:rPr>
                        <a:t>(ODD)</a:t>
                      </a:r>
                      <a:endParaRPr kumimoji="1" lang="ja-JP" altLang="en-US" sz="105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0654734"/>
                  </a:ext>
                </a:extLst>
              </a:tr>
              <a:tr h="181960">
                <a:tc vMerge="1">
                  <a:txBody>
                    <a:bodyPr/>
                    <a:lstStyle/>
                    <a:p>
                      <a:endParaRPr kumimoji="1" lang="ja-JP" altLang="en-US" sz="1050" b="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kumimoji="1" lang="ja-JP" altLang="en-US" sz="105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50">
                          <a:solidFill>
                            <a:schemeClr val="tx1"/>
                          </a:solidFill>
                        </a:rPr>
                        <a:t>システム安全性の検証</a:t>
                      </a:r>
                      <a:endParaRPr kumimoji="1" lang="ja-JP" altLang="en-US" sz="1050" b="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75362275"/>
                  </a:ext>
                </a:extLst>
              </a:tr>
            </a:tbl>
          </a:graphicData>
        </a:graphic>
      </p:graphicFrame>
      <p:sp>
        <p:nvSpPr>
          <p:cNvPr id="13" name="テキスト ボックス 12">
            <a:extLst>
              <a:ext uri="{FF2B5EF4-FFF2-40B4-BE49-F238E27FC236}">
                <a16:creationId xmlns:a16="http://schemas.microsoft.com/office/drawing/2014/main" id="{4BE11FB2-8695-0490-7368-15E5C8F002DB}"/>
              </a:ext>
            </a:extLst>
          </p:cNvPr>
          <p:cNvSpPr txBox="1"/>
          <p:nvPr/>
        </p:nvSpPr>
        <p:spPr>
          <a:xfrm>
            <a:off x="329303" y="6452509"/>
            <a:ext cx="11528188" cy="369332"/>
          </a:xfrm>
          <a:prstGeom prst="rect">
            <a:avLst/>
          </a:prstGeom>
          <a:noFill/>
        </p:spPr>
        <p:txBody>
          <a:bodyPr wrap="square" rtlCol="0">
            <a:spAutoFit/>
          </a:bodyPr>
          <a:lstStyle/>
          <a:p>
            <a:pPr algn="ctr"/>
            <a:r>
              <a:rPr lang="en-US" altLang="ja-JP">
                <a:latin typeface="Meiryo UI" panose="020B0604030504040204" pitchFamily="50" charset="-128"/>
                <a:ea typeface="Meiryo UI" panose="020B0604030504040204" pitchFamily="50" charset="-128"/>
              </a:rPr>
              <a:t>WP.29</a:t>
            </a:r>
            <a:r>
              <a:rPr lang="ja-JP" altLang="en-US">
                <a:latin typeface="Meiryo UI" panose="020B0604030504040204" pitchFamily="50" charset="-128"/>
                <a:ea typeface="Meiryo UI" panose="020B0604030504040204" pitchFamily="50" charset="-128"/>
              </a:rPr>
              <a:t>の指示で、</a:t>
            </a:r>
            <a:r>
              <a:rPr lang="en-US" altLang="ja-JP">
                <a:latin typeface="Meiryo UI" panose="020B0604030504040204" pitchFamily="50" charset="-128"/>
                <a:ea typeface="Meiryo UI" panose="020B0604030504040204" pitchFamily="50" charset="-128"/>
              </a:rPr>
              <a:t>FRAV/VMAD</a:t>
            </a:r>
            <a:r>
              <a:rPr lang="ja-JP" altLang="en-US">
                <a:latin typeface="Meiryo UI" panose="020B0604030504040204" pitchFamily="50" charset="-128"/>
                <a:ea typeface="Meiryo UI" panose="020B0604030504040204" pitchFamily="50" charset="-128"/>
              </a:rPr>
              <a:t>により</a:t>
            </a:r>
            <a:r>
              <a:rPr lang="en-US" altLang="ja-JP">
                <a:latin typeface="Meiryo UI" panose="020B0604030504040204" pitchFamily="50" charset="-128"/>
                <a:ea typeface="Meiryo UI" panose="020B0604030504040204" pitchFamily="50" charset="-128"/>
              </a:rPr>
              <a:t>2024</a:t>
            </a:r>
            <a:r>
              <a:rPr lang="ja-JP" altLang="en-US">
                <a:latin typeface="Meiryo UI" panose="020B0604030504040204" pitchFamily="50" charset="-128"/>
                <a:ea typeface="Meiryo UI" panose="020B0604030504040204" pitchFamily="50" charset="-128"/>
              </a:rPr>
              <a:t>年発行された</a:t>
            </a:r>
            <a:r>
              <a:rPr lang="en-US" altLang="ja-JP">
                <a:latin typeface="Meiryo UI" panose="020B0604030504040204" pitchFamily="50" charset="-128"/>
                <a:ea typeface="Meiryo UI" panose="020B0604030504040204" pitchFamily="50" charset="-128"/>
              </a:rPr>
              <a:t>ADS</a:t>
            </a:r>
            <a:r>
              <a:rPr lang="ja-JP" altLang="en-US">
                <a:latin typeface="Meiryo UI" panose="020B0604030504040204" pitchFamily="50" charset="-128"/>
                <a:ea typeface="Meiryo UI" panose="020B0604030504040204" pitchFamily="50" charset="-128"/>
              </a:rPr>
              <a:t>ガイドラインが本書である</a:t>
            </a:r>
            <a:endParaRPr lang="en-US" altLang="ja-JP">
              <a:latin typeface="Meiryo UI" panose="020B0604030504040204" pitchFamily="50" charset="-128"/>
              <a:ea typeface="Meiryo UI" panose="020B0604030504040204" pitchFamily="50" charset="-128"/>
            </a:endParaRPr>
          </a:p>
        </p:txBody>
      </p:sp>
      <p:cxnSp>
        <p:nvCxnSpPr>
          <p:cNvPr id="32" name="カギ線コネクタ 31">
            <a:extLst>
              <a:ext uri="{FF2B5EF4-FFF2-40B4-BE49-F238E27FC236}">
                <a16:creationId xmlns:a16="http://schemas.microsoft.com/office/drawing/2014/main" id="{F57D5CFE-F242-A24F-0BC1-E91BDC6157D7}"/>
              </a:ext>
            </a:extLst>
          </p:cNvPr>
          <p:cNvCxnSpPr>
            <a:cxnSpLocks/>
            <a:stCxn id="74" idx="3"/>
            <a:endCxn id="46" idx="1"/>
          </p:cNvCxnSpPr>
          <p:nvPr/>
        </p:nvCxnSpPr>
        <p:spPr>
          <a:xfrm flipV="1">
            <a:off x="5640399" y="1546899"/>
            <a:ext cx="808980" cy="3764407"/>
          </a:xfrm>
          <a:prstGeom prst="bentConnector3">
            <a:avLst>
              <a:gd name="adj1" fmla="val 50000"/>
            </a:avLst>
          </a:prstGeom>
          <a:ln w="12700">
            <a:tailEnd type="triangle"/>
          </a:ln>
        </p:spPr>
        <p:style>
          <a:lnRef idx="2">
            <a:schemeClr val="dk1"/>
          </a:lnRef>
          <a:fillRef idx="0">
            <a:schemeClr val="dk1"/>
          </a:fillRef>
          <a:effectRef idx="1">
            <a:schemeClr val="dk1"/>
          </a:effectRef>
          <a:fontRef idx="minor">
            <a:schemeClr val="tx1"/>
          </a:fontRef>
        </p:style>
      </p:cxnSp>
      <p:sp>
        <p:nvSpPr>
          <p:cNvPr id="49" name="テキスト ボックス 48">
            <a:extLst>
              <a:ext uri="{FF2B5EF4-FFF2-40B4-BE49-F238E27FC236}">
                <a16:creationId xmlns:a16="http://schemas.microsoft.com/office/drawing/2014/main" id="{1EB00010-1B25-C2C9-73B4-585D19A5D031}"/>
              </a:ext>
            </a:extLst>
          </p:cNvPr>
          <p:cNvSpPr txBox="1"/>
          <p:nvPr/>
        </p:nvSpPr>
        <p:spPr>
          <a:xfrm>
            <a:off x="8499109" y="4464028"/>
            <a:ext cx="3743217" cy="230832"/>
          </a:xfrm>
          <a:prstGeom prst="rect">
            <a:avLst/>
          </a:prstGeom>
          <a:noFill/>
        </p:spPr>
        <p:txBody>
          <a:bodyPr wrap="square">
            <a:spAutoFit/>
          </a:bodyPr>
          <a:lstStyle/>
          <a:p>
            <a:r>
              <a:rPr kumimoji="1" lang="ja-JP" altLang="en-US" sz="900">
                <a:solidFill>
                  <a:schemeClr val="tx1"/>
                </a:solidFill>
              </a:rPr>
              <a:t>参考）</a:t>
            </a:r>
            <a:r>
              <a:rPr kumimoji="1" lang="en-US" altLang="ja-JP" sz="900">
                <a:solidFill>
                  <a:schemeClr val="tx1"/>
                </a:solidFill>
                <a:hlinkClick r:id="rId2"/>
              </a:rPr>
              <a:t>FDAV (a Framework Document on Automated/Autonomous Vehicle)</a:t>
            </a:r>
            <a:endParaRPr kumimoji="1" lang="en-US" altLang="ja-JP" sz="900">
              <a:solidFill>
                <a:schemeClr val="tx1"/>
              </a:solidFill>
            </a:endParaRPr>
          </a:p>
        </p:txBody>
      </p:sp>
      <p:sp>
        <p:nvSpPr>
          <p:cNvPr id="74" name="角丸四角形 73">
            <a:extLst>
              <a:ext uri="{FF2B5EF4-FFF2-40B4-BE49-F238E27FC236}">
                <a16:creationId xmlns:a16="http://schemas.microsoft.com/office/drawing/2014/main" id="{782B0623-F7A8-2E09-7DEF-78FFACFD6B6F}"/>
              </a:ext>
            </a:extLst>
          </p:cNvPr>
          <p:cNvSpPr/>
          <p:nvPr/>
        </p:nvSpPr>
        <p:spPr>
          <a:xfrm>
            <a:off x="647671" y="4963144"/>
            <a:ext cx="4992728" cy="696323"/>
          </a:xfrm>
          <a:prstGeom prst="roundRect">
            <a:avLst/>
          </a:prstGeom>
          <a:noFill/>
          <a:ln>
            <a:solidFill>
              <a:schemeClr val="accent1"/>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sp>
        <p:nvSpPr>
          <p:cNvPr id="98" name="加算記号 97">
            <a:extLst>
              <a:ext uri="{FF2B5EF4-FFF2-40B4-BE49-F238E27FC236}">
                <a16:creationId xmlns:a16="http://schemas.microsoft.com/office/drawing/2014/main" id="{DF10D7AE-7372-96B6-AF81-0291F3A2D3EE}"/>
              </a:ext>
            </a:extLst>
          </p:cNvPr>
          <p:cNvSpPr/>
          <p:nvPr/>
        </p:nvSpPr>
        <p:spPr>
          <a:xfrm>
            <a:off x="7941558" y="2896763"/>
            <a:ext cx="683394" cy="625642"/>
          </a:xfrm>
          <a:prstGeom prst="mathPlus">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27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下矢印 98">
            <a:extLst>
              <a:ext uri="{FF2B5EF4-FFF2-40B4-BE49-F238E27FC236}">
                <a16:creationId xmlns:a16="http://schemas.microsoft.com/office/drawing/2014/main" id="{619C459C-57E5-70FF-3B25-09D458584CA8}"/>
              </a:ext>
            </a:extLst>
          </p:cNvPr>
          <p:cNvSpPr/>
          <p:nvPr/>
        </p:nvSpPr>
        <p:spPr>
          <a:xfrm>
            <a:off x="8009652" y="4460517"/>
            <a:ext cx="547207" cy="786851"/>
          </a:xfrm>
          <a:prstGeom prst="downArrow">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27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角丸四角形 104">
            <a:extLst>
              <a:ext uri="{FF2B5EF4-FFF2-40B4-BE49-F238E27FC236}">
                <a16:creationId xmlns:a16="http://schemas.microsoft.com/office/drawing/2014/main" id="{599F1E41-4E74-B589-0439-B6A122530236}"/>
              </a:ext>
            </a:extLst>
          </p:cNvPr>
          <p:cNvSpPr/>
          <p:nvPr/>
        </p:nvSpPr>
        <p:spPr>
          <a:xfrm>
            <a:off x="7276699" y="1971792"/>
            <a:ext cx="2120990" cy="2492236"/>
          </a:xfrm>
          <a:prstGeom prst="roundRect">
            <a:avLst/>
          </a:prstGeom>
          <a:noFill/>
          <a:ln>
            <a:solidFill>
              <a:schemeClr val="accent1"/>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kumimoji="1" lang="ja-JP" altLang="en-US" sz="1200">
              <a:solidFill>
                <a:schemeClr val="bg1"/>
              </a:solidFill>
              <a:highlight>
                <a:srgbClr val="0000FF"/>
              </a:highlight>
            </a:endParaRPr>
          </a:p>
        </p:txBody>
      </p:sp>
      <p:sp>
        <p:nvSpPr>
          <p:cNvPr id="107" name="テキスト ボックス 106">
            <a:extLst>
              <a:ext uri="{FF2B5EF4-FFF2-40B4-BE49-F238E27FC236}">
                <a16:creationId xmlns:a16="http://schemas.microsoft.com/office/drawing/2014/main" id="{4FDCA654-2EB1-3120-94C6-91FBBB934EE0}"/>
              </a:ext>
            </a:extLst>
          </p:cNvPr>
          <p:cNvSpPr txBox="1"/>
          <p:nvPr/>
        </p:nvSpPr>
        <p:spPr>
          <a:xfrm>
            <a:off x="7084638" y="1939896"/>
            <a:ext cx="1745400" cy="461665"/>
          </a:xfrm>
          <a:prstGeom prst="rect">
            <a:avLst/>
          </a:prstGeom>
          <a:noFill/>
        </p:spPr>
        <p:txBody>
          <a:bodyPr wrap="square">
            <a:spAutoFit/>
          </a:bodyPr>
          <a:lstStyle/>
          <a:p>
            <a:r>
              <a:rPr kumimoji="1" lang="en-US" altLang="ja-JP" sz="1200">
                <a:solidFill>
                  <a:schemeClr val="bg1"/>
                </a:solidFill>
                <a:highlight>
                  <a:srgbClr val="0000FF"/>
                </a:highlight>
              </a:rPr>
              <a:t>WP.29</a:t>
            </a:r>
            <a:r>
              <a:rPr kumimoji="1" lang="ja-JP" altLang="en-US" sz="1200">
                <a:solidFill>
                  <a:schemeClr val="bg1"/>
                </a:solidFill>
                <a:highlight>
                  <a:srgbClr val="0000FF"/>
                </a:highlight>
              </a:rPr>
              <a:t>より統合</a:t>
            </a:r>
            <a:r>
              <a:rPr kumimoji="1" lang="en-US" altLang="ja-JP" sz="1200">
                <a:solidFill>
                  <a:schemeClr val="bg1"/>
                </a:solidFill>
                <a:highlight>
                  <a:srgbClr val="0000FF"/>
                </a:highlight>
              </a:rPr>
              <a:t>ADS</a:t>
            </a:r>
          </a:p>
          <a:p>
            <a:r>
              <a:rPr kumimoji="1" lang="ja-JP" altLang="en-US" sz="1200">
                <a:solidFill>
                  <a:schemeClr val="bg1"/>
                </a:solidFill>
                <a:highlight>
                  <a:srgbClr val="0000FF"/>
                </a:highlight>
              </a:rPr>
              <a:t>ガイドライン作成指示</a:t>
            </a:r>
          </a:p>
        </p:txBody>
      </p:sp>
    </p:spTree>
    <p:extLst>
      <p:ext uri="{BB962C8B-B14F-4D97-AF65-F5344CB8AC3E}">
        <p14:creationId xmlns:p14="http://schemas.microsoft.com/office/powerpoint/2010/main" val="2985821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E3708BD-98C4-44FB-6491-65D21015DF69}"/>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Section2</a:t>
            </a:r>
            <a:r>
              <a:rPr lang="ja-JP" altLang="en-US">
                <a:solidFill>
                  <a:schemeClr val="bg1"/>
                </a:solidFill>
                <a:latin typeface="Meiryo UI" panose="020B0604030504040204" pitchFamily="50" charset="-128"/>
                <a:ea typeface="Meiryo UI" panose="020B0604030504040204" pitchFamily="50" charset="-128"/>
              </a:rPr>
              <a:t>　スコープと目的</a:t>
            </a:r>
          </a:p>
        </p:txBody>
      </p:sp>
      <p:sp>
        <p:nvSpPr>
          <p:cNvPr id="4" name="テキスト ボックス 3">
            <a:extLst>
              <a:ext uri="{FF2B5EF4-FFF2-40B4-BE49-F238E27FC236}">
                <a16:creationId xmlns:a16="http://schemas.microsoft.com/office/drawing/2014/main" id="{4F28E2CA-1709-5690-3F63-443B9CA14882}"/>
              </a:ext>
            </a:extLst>
          </p:cNvPr>
          <p:cNvSpPr txBox="1"/>
          <p:nvPr/>
        </p:nvSpPr>
        <p:spPr>
          <a:xfrm>
            <a:off x="965734" y="920621"/>
            <a:ext cx="8361145" cy="5016758"/>
          </a:xfrm>
          <a:prstGeom prst="rect">
            <a:avLst/>
          </a:prstGeom>
          <a:noFill/>
        </p:spPr>
        <p:txBody>
          <a:bodyPr wrap="square" rtlCol="0">
            <a:spAutoFit/>
          </a:bodyPr>
          <a:lstStyle/>
          <a:p>
            <a:r>
              <a:rPr kumimoji="1" lang="en-US" altLang="ja-JP" sz="1600" dirty="0">
                <a:solidFill>
                  <a:schemeClr val="bg1">
                    <a:lumMod val="65000"/>
                  </a:schemeClr>
                </a:solidFill>
              </a:rPr>
              <a:t>Section1</a:t>
            </a:r>
            <a:r>
              <a:rPr kumimoji="1" lang="ja-JP" altLang="en-US" sz="1600" dirty="0">
                <a:solidFill>
                  <a:schemeClr val="bg1">
                    <a:lumMod val="65000"/>
                  </a:schemeClr>
                </a:solidFill>
              </a:rPr>
              <a:t>　導入</a:t>
            </a:r>
            <a:endParaRPr kumimoji="1" lang="en-US" altLang="ja-JP" sz="1600" dirty="0">
              <a:solidFill>
                <a:schemeClr val="bg1">
                  <a:lumMod val="65000"/>
                </a:schemeClr>
              </a:solidFill>
            </a:endParaRPr>
          </a:p>
          <a:p>
            <a:r>
              <a:rPr kumimoji="1" lang="en-US" altLang="ja-JP" sz="1600" dirty="0">
                <a:solidFill>
                  <a:srgbClr val="0000FF"/>
                </a:solidFill>
              </a:rPr>
              <a:t>Section2</a:t>
            </a:r>
            <a:r>
              <a:rPr kumimoji="1" lang="ja-JP" altLang="en-US" sz="1600" dirty="0">
                <a:solidFill>
                  <a:srgbClr val="0000FF"/>
                </a:solidFill>
              </a:rPr>
              <a:t>　スコープと目的</a:t>
            </a:r>
            <a:endParaRPr lang="en-US" altLang="ja-JP" sz="1600" dirty="0">
              <a:solidFill>
                <a:srgbClr val="0000FF"/>
              </a:solidFill>
            </a:endParaRPr>
          </a:p>
          <a:p>
            <a:r>
              <a:rPr kumimoji="1" lang="en-US" altLang="ja-JP" sz="1600" dirty="0"/>
              <a:t>Section3</a:t>
            </a:r>
            <a:r>
              <a:rPr kumimoji="1" lang="ja-JP" altLang="en-US" sz="1600" dirty="0"/>
              <a:t>　用語とその定義</a:t>
            </a:r>
            <a:endParaRPr lang="en-US" altLang="ja-JP" sz="1600" dirty="0"/>
          </a:p>
          <a:p>
            <a:r>
              <a:rPr kumimoji="1" lang="en-US" altLang="ja-JP" sz="1600" dirty="0"/>
              <a:t>Section4</a:t>
            </a:r>
            <a:r>
              <a:rPr kumimoji="1" lang="ja-JP" altLang="en-US" sz="1600" dirty="0"/>
              <a:t>　</a:t>
            </a:r>
            <a:r>
              <a:rPr kumimoji="1" lang="en" altLang="ja-JP" sz="1600" dirty="0"/>
              <a:t> ADS</a:t>
            </a:r>
            <a:r>
              <a:rPr kumimoji="1" lang="ja-JP" altLang="en-US" sz="1600" dirty="0"/>
              <a:t>の安全要件、評価および検証の概要</a:t>
            </a:r>
            <a:endParaRPr kumimoji="1" lang="en-US" altLang="ja-JP" sz="1600" dirty="0"/>
          </a:p>
          <a:p>
            <a:r>
              <a:rPr kumimoji="1" lang="en-US" altLang="ja-JP" sz="1600" dirty="0"/>
              <a:t>Section5</a:t>
            </a:r>
            <a:r>
              <a:rPr kumimoji="1" lang="ja-JP" altLang="en-US" sz="1600" dirty="0"/>
              <a:t>　審査、安全性評価、メーカのシステムに関する文書</a:t>
            </a:r>
            <a:endParaRPr lang="en-US" altLang="ja-JP" sz="1600" dirty="0"/>
          </a:p>
          <a:p>
            <a:r>
              <a:rPr kumimoji="1" lang="en-US" altLang="ja-JP" sz="1600" dirty="0"/>
              <a:t>Section6</a:t>
            </a:r>
            <a:r>
              <a:rPr kumimoji="1" lang="ja-JP" altLang="en-US" sz="1600" dirty="0"/>
              <a:t>　</a:t>
            </a:r>
            <a:r>
              <a:rPr kumimoji="1" lang="en" altLang="ja-JP" sz="1600" dirty="0"/>
              <a:t> </a:t>
            </a:r>
            <a:r>
              <a:rPr kumimoji="1" lang="en-US" altLang="ja-JP" sz="1600" dirty="0"/>
              <a:t>ADS</a:t>
            </a:r>
            <a:r>
              <a:rPr kumimoji="1" lang="ja-JP" altLang="en-US" sz="1600" dirty="0"/>
              <a:t>の動的運転タスク性能要件</a:t>
            </a:r>
            <a:endParaRPr kumimoji="1" lang="en-US" altLang="ja-JP" sz="1600" dirty="0"/>
          </a:p>
          <a:p>
            <a:r>
              <a:rPr kumimoji="1" lang="en-US" altLang="ja-JP" sz="1600" dirty="0"/>
              <a:t>Section7</a:t>
            </a:r>
            <a:r>
              <a:rPr kumimoji="1" lang="ja-JP" altLang="en-US" sz="1600" dirty="0"/>
              <a:t>　ユーザと</a:t>
            </a:r>
            <a:r>
              <a:rPr kumimoji="1" lang="en" altLang="ja-JP" sz="1600" dirty="0"/>
              <a:t>ADS</a:t>
            </a:r>
            <a:r>
              <a:rPr kumimoji="1" lang="ja-JP" altLang="en-US" sz="1600" dirty="0"/>
              <a:t>の安全なインタラクションの要件</a:t>
            </a:r>
            <a:endParaRPr lang="en-US" altLang="ja-JP" sz="1600" dirty="0"/>
          </a:p>
          <a:p>
            <a:r>
              <a:rPr kumimoji="1" lang="en-US" altLang="ja-JP" sz="1600" dirty="0"/>
              <a:t>Section8</a:t>
            </a:r>
            <a:r>
              <a:rPr kumimoji="1" lang="ja-JP" altLang="en-US" sz="1600" dirty="0"/>
              <a:t>　使用中の監視と報告</a:t>
            </a:r>
            <a:endParaRPr kumimoji="1" lang="en-US" altLang="ja-JP" sz="1600" dirty="0"/>
          </a:p>
          <a:p>
            <a:endParaRPr lang="en-US" altLang="ja-JP" sz="1600" dirty="0"/>
          </a:p>
          <a:p>
            <a:r>
              <a:rPr lang="en-US" altLang="ja-JP" sz="1600" dirty="0"/>
              <a:t>Annex1</a:t>
            </a:r>
            <a:r>
              <a:rPr lang="ja-JP" altLang="en-US" sz="1600" dirty="0"/>
              <a:t>　</a:t>
            </a:r>
            <a:r>
              <a:rPr lang="en" altLang="ja-JP" sz="1600" dirty="0"/>
              <a:t> ADS</a:t>
            </a:r>
            <a:r>
              <a:rPr lang="ja-JP" altLang="en-US" sz="1600" dirty="0"/>
              <a:t>安全要件の作成の背景</a:t>
            </a:r>
            <a:endParaRPr lang="en-US" altLang="ja-JP" sz="1600" dirty="0"/>
          </a:p>
          <a:p>
            <a:r>
              <a:rPr lang="en-US" altLang="ja-JP" sz="1600" dirty="0"/>
              <a:t>Annex2</a:t>
            </a:r>
            <a:r>
              <a:rPr lang="ja-JP" altLang="en-US" sz="1600" dirty="0"/>
              <a:t>　適切な検証ピラーへの</a:t>
            </a:r>
            <a:r>
              <a:rPr lang="en" altLang="ja-JP" sz="1600" dirty="0"/>
              <a:t>DDT </a:t>
            </a:r>
            <a:r>
              <a:rPr lang="ja-JP" altLang="en-US" sz="1600" dirty="0"/>
              <a:t>とユーザ要件の基準</a:t>
            </a:r>
            <a:endParaRPr lang="en-US" altLang="ja-JP" sz="1600" dirty="0"/>
          </a:p>
          <a:p>
            <a:r>
              <a:rPr lang="en-US" altLang="ja-JP" sz="1600" dirty="0"/>
              <a:t>Annex3</a:t>
            </a:r>
            <a:r>
              <a:rPr lang="ja-JP" altLang="en-US" sz="1600" dirty="0"/>
              <a:t>　検証可能な性能基準を導くアプローチ</a:t>
            </a:r>
            <a:endParaRPr lang="en-US" altLang="ja-JP" sz="1600" dirty="0"/>
          </a:p>
          <a:p>
            <a:r>
              <a:rPr lang="en-US" altLang="ja-JP" sz="1600" dirty="0"/>
              <a:t>Annex4</a:t>
            </a:r>
            <a:r>
              <a:rPr lang="ja-JP" altLang="en-US" sz="1600" dirty="0"/>
              <a:t>　交通シナリオ</a:t>
            </a:r>
            <a:endParaRPr lang="en-US" altLang="ja-JP" sz="1600" dirty="0"/>
          </a:p>
          <a:p>
            <a:r>
              <a:rPr lang="en-US" altLang="ja-JP" sz="1600" dirty="0"/>
              <a:t>Annex5</a:t>
            </a:r>
            <a:r>
              <a:rPr lang="ja-JP" altLang="en-US" sz="1600" dirty="0"/>
              <a:t>　シュミレーションと信頼性評価</a:t>
            </a:r>
            <a:endParaRPr lang="en-US" altLang="ja-JP" sz="1600" dirty="0"/>
          </a:p>
          <a:p>
            <a:r>
              <a:rPr lang="en-US" altLang="ja-JP" sz="1600" dirty="0"/>
              <a:t>Annex6</a:t>
            </a:r>
            <a:r>
              <a:rPr lang="ja-JP" altLang="en-US" sz="1600" dirty="0"/>
              <a:t>　トラック試験と実世界での試験</a:t>
            </a:r>
            <a:endParaRPr lang="en-US" altLang="ja-JP" sz="1600" dirty="0"/>
          </a:p>
          <a:p>
            <a:r>
              <a:rPr lang="en-US" altLang="ja-JP" sz="1600" dirty="0"/>
              <a:t>Annex7</a:t>
            </a:r>
            <a:r>
              <a:rPr lang="ja-JP" altLang="en-US" sz="1600" dirty="0"/>
              <a:t>　</a:t>
            </a:r>
            <a:r>
              <a:rPr lang="en" altLang="ja-JP" sz="1600" dirty="0"/>
              <a:t> ISMR</a:t>
            </a:r>
            <a:r>
              <a:rPr lang="ja-JP" altLang="en-US" sz="1600" dirty="0"/>
              <a:t>と安全要件のマトリクス</a:t>
            </a:r>
            <a:endParaRPr lang="en-US" altLang="ja-JP" sz="1600" dirty="0"/>
          </a:p>
          <a:p>
            <a:r>
              <a:rPr lang="en-US" altLang="ja-JP" sz="1600" dirty="0"/>
              <a:t>Annex8</a:t>
            </a:r>
            <a:r>
              <a:rPr lang="ja-JP" altLang="en-US" sz="1600" dirty="0"/>
              <a:t>　</a:t>
            </a:r>
            <a:r>
              <a:rPr lang="en" altLang="ja-JP" sz="1600" dirty="0"/>
              <a:t> ISMR</a:t>
            </a:r>
            <a:r>
              <a:rPr lang="ja-JP" altLang="en-US" sz="1600" dirty="0"/>
              <a:t>報告テンプレート</a:t>
            </a:r>
            <a:endParaRPr lang="en-US" altLang="ja-JP" sz="1600" dirty="0"/>
          </a:p>
          <a:p>
            <a:r>
              <a:rPr lang="en-US" altLang="ja-JP" sz="1600" dirty="0"/>
              <a:t>Annex9</a:t>
            </a:r>
            <a:r>
              <a:rPr lang="ja-JP" altLang="en-US" sz="1600" dirty="0"/>
              <a:t>　使用中の監視を効果的に実施するための推奨事項</a:t>
            </a:r>
            <a:endParaRPr lang="en-US" altLang="ja-JP" sz="1600" dirty="0"/>
          </a:p>
          <a:p>
            <a:r>
              <a:rPr lang="en-US" altLang="ja-JP" sz="1600" dirty="0"/>
              <a:t>Annex10</a:t>
            </a:r>
            <a:r>
              <a:rPr lang="ja-JP" altLang="en-US" sz="1600" dirty="0"/>
              <a:t>　今後の活動におけるさらなる議論</a:t>
            </a:r>
            <a:endParaRPr lang="en-US" altLang="ja-JP" sz="1600" dirty="0"/>
          </a:p>
          <a:p>
            <a:endParaRPr kumimoji="1" lang="en-US" altLang="ja-JP" sz="1600" dirty="0"/>
          </a:p>
        </p:txBody>
      </p:sp>
    </p:spTree>
    <p:extLst>
      <p:ext uri="{BB962C8B-B14F-4D97-AF65-F5344CB8AC3E}">
        <p14:creationId xmlns:p14="http://schemas.microsoft.com/office/powerpoint/2010/main" val="1927485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テキスト ボックス 32">
            <a:extLst>
              <a:ext uri="{FF2B5EF4-FFF2-40B4-BE49-F238E27FC236}">
                <a16:creationId xmlns:a16="http://schemas.microsoft.com/office/drawing/2014/main" id="{AD8E9CA6-4FD6-7564-380B-C41F07EB0174}"/>
              </a:ext>
            </a:extLst>
          </p:cNvPr>
          <p:cNvSpPr txBox="1"/>
          <p:nvPr/>
        </p:nvSpPr>
        <p:spPr>
          <a:xfrm>
            <a:off x="31390" y="1069830"/>
            <a:ext cx="9459119" cy="2123658"/>
          </a:xfrm>
          <a:prstGeom prst="rect">
            <a:avLst/>
          </a:prstGeom>
          <a:noFill/>
        </p:spPr>
        <p:txBody>
          <a:bodyPr wrap="square">
            <a:spAutoFit/>
          </a:bodyPr>
          <a:lstStyle/>
          <a:p>
            <a:r>
              <a:rPr lang="ja-JP" altLang="en-US" sz="1200" dirty="0"/>
              <a:t>■目的</a:t>
            </a:r>
            <a:r>
              <a:rPr lang="en-US" altLang="ja-JP" sz="1200" dirty="0"/>
              <a:t> :</a:t>
            </a:r>
          </a:p>
          <a:p>
            <a:r>
              <a:rPr lang="ja-JP" altLang="en-US" sz="1200" dirty="0"/>
              <a:t>　</a:t>
            </a:r>
            <a:r>
              <a:rPr kumimoji="1" lang="en" altLang="ja-JP" sz="1200" dirty="0"/>
              <a:t>FRAV </a:t>
            </a:r>
            <a:r>
              <a:rPr kumimoji="1" lang="en-US" altLang="ja-JP" sz="1200" dirty="0"/>
              <a:t>/</a:t>
            </a:r>
            <a:r>
              <a:rPr kumimoji="1" lang="ja-JP" altLang="en-US" sz="1200" dirty="0"/>
              <a:t> </a:t>
            </a:r>
            <a:r>
              <a:rPr kumimoji="1" lang="en" altLang="ja-JP" sz="1200" dirty="0"/>
              <a:t>VMAD</a:t>
            </a:r>
            <a:r>
              <a:rPr kumimoji="1" lang="ja-JP" altLang="en-US" sz="1200" dirty="0"/>
              <a:t>へ</a:t>
            </a:r>
            <a:r>
              <a:rPr lang="ja-JP" altLang="en-US" sz="1200" dirty="0"/>
              <a:t>の要求を満たす文書を交付すること</a:t>
            </a:r>
            <a:endParaRPr lang="en-US" altLang="ja-JP" sz="1200" dirty="0"/>
          </a:p>
          <a:p>
            <a:endParaRPr lang="en-US" altLang="ja-JP" sz="1200" dirty="0"/>
          </a:p>
          <a:p>
            <a:endParaRPr lang="en-US" altLang="ja-JP" sz="1200" dirty="0"/>
          </a:p>
          <a:p>
            <a:r>
              <a:rPr lang="ja-JP" altLang="en-US" sz="1200" dirty="0"/>
              <a:t>■スコープ</a:t>
            </a:r>
            <a:r>
              <a:rPr lang="en-US" altLang="ja-JP" sz="1200" dirty="0"/>
              <a:t> : </a:t>
            </a:r>
          </a:p>
          <a:p>
            <a:r>
              <a:rPr lang="ja-JP" altLang="en-US" sz="1200" dirty="0"/>
              <a:t>　</a:t>
            </a:r>
            <a:r>
              <a:rPr lang="en" altLang="ja-JP" sz="1200" dirty="0"/>
              <a:t> ADS</a:t>
            </a:r>
            <a:r>
              <a:rPr lang="ja-JP" altLang="en-US" sz="1200" dirty="0"/>
              <a:t>車両に適用可能な「安全要件」と「評価方法」を確立するための推奨事項を提案すること</a:t>
            </a:r>
          </a:p>
          <a:p>
            <a:endParaRPr lang="en-US" altLang="ja-JP" sz="1200" dirty="0"/>
          </a:p>
          <a:p>
            <a:r>
              <a:rPr lang="ja-JP" altLang="en-US" sz="1200" dirty="0"/>
              <a:t>　・「安全要件」の確立について</a:t>
            </a:r>
            <a:endParaRPr lang="en-US" altLang="ja-JP" sz="1200" dirty="0"/>
          </a:p>
          <a:p>
            <a:r>
              <a:rPr lang="ja-JP" altLang="en-US" sz="1200" dirty="0"/>
              <a:t>　　　</a:t>
            </a:r>
            <a:r>
              <a:rPr lang="en-US" altLang="ja-JP" sz="1200" dirty="0"/>
              <a:t>ADS</a:t>
            </a:r>
            <a:r>
              <a:rPr lang="ja-JP" altLang="en-US" sz="1200" dirty="0"/>
              <a:t>構成の多様性に対処する、ハイレベル要件を確立して適用する枠組みを提案</a:t>
            </a:r>
            <a:endParaRPr lang="en-US" altLang="ja-JP" sz="1200" dirty="0"/>
          </a:p>
          <a:p>
            <a:r>
              <a:rPr lang="ja-JP" altLang="en-US" sz="1200" dirty="0"/>
              <a:t>　・「評価方法」の確立について</a:t>
            </a:r>
            <a:endParaRPr lang="en-US" altLang="ja-JP" sz="1200" dirty="0"/>
          </a:p>
          <a:p>
            <a:r>
              <a:rPr lang="ja-JP" altLang="en-US" sz="1200" dirty="0"/>
              <a:t>　　　</a:t>
            </a:r>
            <a:r>
              <a:rPr lang="en-US" altLang="ja-JP" sz="1200" dirty="0"/>
              <a:t>ODD</a:t>
            </a:r>
            <a:r>
              <a:rPr lang="ja-JP" altLang="en-US" sz="1200" dirty="0"/>
              <a:t>の多様性に対処する、包括的かつ効率的に検証するためのマルチピラーアプローチを提案</a:t>
            </a:r>
            <a:endParaRPr lang="en-US" altLang="ja-JP" sz="1200" dirty="0"/>
          </a:p>
        </p:txBody>
      </p:sp>
      <p:sp>
        <p:nvSpPr>
          <p:cNvPr id="5" name="テキスト ボックス 4">
            <a:extLst>
              <a:ext uri="{FF2B5EF4-FFF2-40B4-BE49-F238E27FC236}">
                <a16:creationId xmlns:a16="http://schemas.microsoft.com/office/drawing/2014/main" id="{8B617BA2-29CF-C394-0B5E-37B5072B056F}"/>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2</a:t>
            </a:r>
            <a:r>
              <a:rPr lang="ja-JP" altLang="en-US">
                <a:solidFill>
                  <a:schemeClr val="bg1"/>
                </a:solidFill>
                <a:latin typeface="Meiryo UI" panose="020B0604030504040204" pitchFamily="50" charset="-128"/>
                <a:ea typeface="Meiryo UI" panose="020B0604030504040204" pitchFamily="50" charset="-128"/>
              </a:rPr>
              <a:t>　スコープと目的</a:t>
            </a:r>
          </a:p>
        </p:txBody>
      </p:sp>
      <p:grpSp>
        <p:nvGrpSpPr>
          <p:cNvPr id="6" name="グループ化 5">
            <a:extLst>
              <a:ext uri="{FF2B5EF4-FFF2-40B4-BE49-F238E27FC236}">
                <a16:creationId xmlns:a16="http://schemas.microsoft.com/office/drawing/2014/main" id="{C52BCD98-DB33-0C38-7503-BD80EA93D6A2}"/>
              </a:ext>
            </a:extLst>
          </p:cNvPr>
          <p:cNvGrpSpPr/>
          <p:nvPr/>
        </p:nvGrpSpPr>
        <p:grpSpPr>
          <a:xfrm>
            <a:off x="865488" y="3469670"/>
            <a:ext cx="5230512" cy="2492990"/>
            <a:chOff x="9007657" y="634387"/>
            <a:chExt cx="2440659" cy="2194261"/>
          </a:xfrm>
        </p:grpSpPr>
        <p:sp>
          <p:nvSpPr>
            <p:cNvPr id="7" name="円柱 6">
              <a:extLst>
                <a:ext uri="{FF2B5EF4-FFF2-40B4-BE49-F238E27FC236}">
                  <a16:creationId xmlns:a16="http://schemas.microsoft.com/office/drawing/2014/main" id="{EC47CE55-9FF1-221B-ACF2-F4300B443746}"/>
                </a:ext>
              </a:extLst>
            </p:cNvPr>
            <p:cNvSpPr/>
            <p:nvPr/>
          </p:nvSpPr>
          <p:spPr>
            <a:xfrm>
              <a:off x="9007657" y="634387"/>
              <a:ext cx="477720" cy="2194261"/>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vert="eaVert" wrap="none" rtlCol="0" anchor="ctr"/>
            <a:lstStyle/>
            <a:p>
              <a:pPr algn="ctr"/>
              <a:r>
                <a:rPr lang="ja-JP" altLang="en-US" sz="1200" b="1">
                  <a:effectLst/>
                  <a:latin typeface="Meiryo UI" panose="020B0604030504040204" pitchFamily="50" charset="-128"/>
                  <a:ea typeface="Meiryo UI" panose="020B0604030504040204" pitchFamily="50" charset="-128"/>
                </a:rPr>
                <a:t>審査と設計上の</a:t>
              </a:r>
              <a:endParaRPr lang="en-US" altLang="ja-JP" sz="1200" b="1">
                <a:effectLst/>
                <a:latin typeface="Meiryo UI" panose="020B0604030504040204" pitchFamily="50" charset="-128"/>
                <a:ea typeface="Meiryo UI" panose="020B0604030504040204" pitchFamily="50" charset="-128"/>
              </a:endParaRPr>
            </a:p>
            <a:p>
              <a:pPr algn="ctr"/>
              <a:r>
                <a:rPr lang="ja-JP" altLang="en-US" sz="1200" b="1">
                  <a:effectLst/>
                  <a:latin typeface="Meiryo UI" panose="020B0604030504040204" pitchFamily="50" charset="-128"/>
                  <a:ea typeface="Meiryo UI" panose="020B0604030504040204" pitchFamily="50" charset="-128"/>
                </a:rPr>
                <a:t>安全性評価</a:t>
              </a:r>
            </a:p>
          </p:txBody>
        </p:sp>
        <p:sp>
          <p:nvSpPr>
            <p:cNvPr id="8" name="円柱 7">
              <a:extLst>
                <a:ext uri="{FF2B5EF4-FFF2-40B4-BE49-F238E27FC236}">
                  <a16:creationId xmlns:a16="http://schemas.microsoft.com/office/drawing/2014/main" id="{F8546449-AB35-CF1E-2ED6-A046177A0302}"/>
                </a:ext>
              </a:extLst>
            </p:cNvPr>
            <p:cNvSpPr/>
            <p:nvPr/>
          </p:nvSpPr>
          <p:spPr>
            <a:xfrm>
              <a:off x="9498392" y="634387"/>
              <a:ext cx="477720" cy="2194261"/>
            </a:xfrm>
            <a:prstGeom prst="can">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vert="eaVert" wrap="none" rtlCol="0" anchor="ctr"/>
            <a:lstStyle/>
            <a:p>
              <a:pPr algn="ctr"/>
              <a:r>
                <a:rPr kumimoji="1" lang="ja-JP" altLang="en-US" sz="1200" b="1">
                  <a:latin typeface="Meiryo UI" panose="020B0604030504040204" pitchFamily="50" charset="-128"/>
                  <a:ea typeface="Meiryo UI" panose="020B0604030504040204" pitchFamily="50" charset="-128"/>
                </a:rPr>
                <a:t>シミュレーション</a:t>
              </a:r>
              <a:endParaRPr kumimoji="1" lang="en-US" altLang="ja-JP" sz="1200" b="1">
                <a:latin typeface="Meiryo UI" panose="020B0604030504040204" pitchFamily="50" charset="-128"/>
                <a:ea typeface="Meiryo UI" panose="020B0604030504040204" pitchFamily="50" charset="-128"/>
              </a:endParaRPr>
            </a:p>
            <a:p>
              <a:pPr algn="ctr"/>
              <a:r>
                <a:rPr kumimoji="1" lang="en-US" altLang="ja-JP" sz="1200" b="1">
                  <a:latin typeface="Meiryo UI" panose="020B0604030504040204" pitchFamily="50" charset="-128"/>
                  <a:ea typeface="Meiryo UI" panose="020B0604030504040204" pitchFamily="50" charset="-128"/>
                </a:rPr>
                <a:t>/</a:t>
              </a:r>
              <a:r>
                <a:rPr kumimoji="1" lang="ja-JP" altLang="en-US" sz="1200" b="1">
                  <a:latin typeface="Meiryo UI" panose="020B0604030504040204" pitchFamily="50" charset="-128"/>
                  <a:ea typeface="Meiryo UI" panose="020B0604030504040204" pitchFamily="50" charset="-128"/>
                </a:rPr>
                <a:t>シュミレーション</a:t>
              </a:r>
            </a:p>
          </p:txBody>
        </p:sp>
        <p:sp>
          <p:nvSpPr>
            <p:cNvPr id="9" name="円柱 8">
              <a:extLst>
                <a:ext uri="{FF2B5EF4-FFF2-40B4-BE49-F238E27FC236}">
                  <a16:creationId xmlns:a16="http://schemas.microsoft.com/office/drawing/2014/main" id="{408E2232-41B3-C201-1E12-0372D1EB959B}"/>
                </a:ext>
              </a:extLst>
            </p:cNvPr>
            <p:cNvSpPr/>
            <p:nvPr/>
          </p:nvSpPr>
          <p:spPr>
            <a:xfrm>
              <a:off x="9989127" y="634387"/>
              <a:ext cx="477720" cy="2194261"/>
            </a:xfrm>
            <a:prstGeom prst="can">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vert="eaVert" wrap="none" rtlCol="0" anchor="ctr"/>
            <a:lstStyle/>
            <a:p>
              <a:pPr algn="ctr"/>
              <a:r>
                <a:rPr kumimoji="1" lang="ja-JP" altLang="en-US" sz="1200" b="1">
                  <a:latin typeface="Meiryo UI" panose="020B0604030504040204" pitchFamily="50" charset="-128"/>
                  <a:ea typeface="Meiryo UI" panose="020B0604030504040204" pitchFamily="50" charset="-128"/>
                </a:rPr>
                <a:t>トラック試験</a:t>
              </a:r>
              <a:endParaRPr kumimoji="1" lang="en-US" altLang="ja-JP" sz="1200" b="1">
                <a:latin typeface="Meiryo UI" panose="020B0604030504040204" pitchFamily="50" charset="-128"/>
                <a:ea typeface="Meiryo UI" panose="020B0604030504040204" pitchFamily="50" charset="-128"/>
              </a:endParaRPr>
            </a:p>
            <a:p>
              <a:pPr algn="ctr"/>
              <a:r>
                <a:rPr kumimoji="1" lang="en-US" altLang="ja-JP" sz="1200" b="1">
                  <a:latin typeface="Meiryo UI" panose="020B0604030504040204" pitchFamily="50" charset="-128"/>
                  <a:ea typeface="Meiryo UI" panose="020B0604030504040204" pitchFamily="50" charset="-128"/>
                </a:rPr>
                <a:t>(Track testing)</a:t>
              </a:r>
              <a:endParaRPr kumimoji="1" lang="ja-JP" altLang="en-US" sz="1200" b="1">
                <a:latin typeface="Meiryo UI" panose="020B0604030504040204" pitchFamily="50" charset="-128"/>
                <a:ea typeface="Meiryo UI" panose="020B0604030504040204" pitchFamily="50" charset="-128"/>
              </a:endParaRPr>
            </a:p>
          </p:txBody>
        </p:sp>
        <p:sp>
          <p:nvSpPr>
            <p:cNvPr id="10" name="円柱 9">
              <a:extLst>
                <a:ext uri="{FF2B5EF4-FFF2-40B4-BE49-F238E27FC236}">
                  <a16:creationId xmlns:a16="http://schemas.microsoft.com/office/drawing/2014/main" id="{D0CE4F67-32EE-5C98-2894-C327F01AF89B}"/>
                </a:ext>
              </a:extLst>
            </p:cNvPr>
            <p:cNvSpPr/>
            <p:nvPr/>
          </p:nvSpPr>
          <p:spPr>
            <a:xfrm>
              <a:off x="10479862" y="634387"/>
              <a:ext cx="477720" cy="2194261"/>
            </a:xfrm>
            <a:prstGeom prst="can">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vert="eaVert" wrap="none" rtlCol="0" anchor="ctr"/>
            <a:lstStyle/>
            <a:p>
              <a:pPr algn="ctr"/>
              <a:r>
                <a:rPr kumimoji="1" lang="ja-JP" altLang="en-US" sz="1200" b="1">
                  <a:latin typeface="Meiryo UI" panose="020B0604030504040204" pitchFamily="50" charset="-128"/>
                  <a:ea typeface="Meiryo UI" panose="020B0604030504040204" pitchFamily="50" charset="-128"/>
                </a:rPr>
                <a:t>実世界での試験</a:t>
              </a:r>
            </a:p>
          </p:txBody>
        </p:sp>
        <p:sp>
          <p:nvSpPr>
            <p:cNvPr id="11" name="円柱 10">
              <a:extLst>
                <a:ext uri="{FF2B5EF4-FFF2-40B4-BE49-F238E27FC236}">
                  <a16:creationId xmlns:a16="http://schemas.microsoft.com/office/drawing/2014/main" id="{1BFC6FA6-9F55-A176-F378-8B0DBFBC2ABC}"/>
                </a:ext>
              </a:extLst>
            </p:cNvPr>
            <p:cNvSpPr/>
            <p:nvPr/>
          </p:nvSpPr>
          <p:spPr>
            <a:xfrm>
              <a:off x="10970596" y="634387"/>
              <a:ext cx="477720" cy="2194261"/>
            </a:xfrm>
            <a:prstGeom prst="ca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vert="eaVert" wrap="none" rtlCol="0" anchor="ctr"/>
            <a:lstStyle/>
            <a:p>
              <a:pPr algn="ctr"/>
              <a:r>
                <a:rPr kumimoji="1" lang="ja-JP" altLang="en-US" sz="1200" b="1">
                  <a:latin typeface="Meiryo UI" panose="020B0604030504040204" pitchFamily="50" charset="-128"/>
                  <a:ea typeface="Meiryo UI" panose="020B0604030504040204" pitchFamily="50" charset="-128"/>
                </a:rPr>
                <a:t>使用中の監視と</a:t>
              </a:r>
              <a:endParaRPr kumimoji="1" lang="en-US" altLang="ja-JP" sz="1200" b="1">
                <a:latin typeface="Meiryo UI" panose="020B0604030504040204" pitchFamily="50" charset="-128"/>
                <a:ea typeface="Meiryo UI" panose="020B0604030504040204" pitchFamily="50" charset="-128"/>
              </a:endParaRPr>
            </a:p>
            <a:p>
              <a:pPr algn="ctr"/>
              <a:r>
                <a:rPr kumimoji="1" lang="ja-JP" altLang="en-US" sz="1200" b="1">
                  <a:latin typeface="Meiryo UI" panose="020B0604030504040204" pitchFamily="50" charset="-128"/>
                  <a:ea typeface="Meiryo UI" panose="020B0604030504040204" pitchFamily="50" charset="-128"/>
                </a:rPr>
                <a:t>報告</a:t>
              </a:r>
              <a:r>
                <a:rPr kumimoji="1" lang="en-US" altLang="ja-JP" sz="1200" b="1">
                  <a:latin typeface="+mj-lt"/>
                  <a:ea typeface="Meiryo UI" panose="020B0604030504040204" pitchFamily="50" charset="-128"/>
                </a:rPr>
                <a:t>(ISMR)</a:t>
              </a:r>
              <a:endParaRPr kumimoji="1" lang="ja-JP" altLang="en-US" sz="1200" b="1">
                <a:latin typeface="+mj-lt"/>
                <a:ea typeface="Meiryo UI" panose="020B0604030504040204" pitchFamily="50" charset="-128"/>
              </a:endParaRPr>
            </a:p>
          </p:txBody>
        </p:sp>
      </p:grpSp>
      <p:sp>
        <p:nvSpPr>
          <p:cNvPr id="12" name="テキスト ボックス 11">
            <a:extLst>
              <a:ext uri="{FF2B5EF4-FFF2-40B4-BE49-F238E27FC236}">
                <a16:creationId xmlns:a16="http://schemas.microsoft.com/office/drawing/2014/main" id="{C969FC0A-3769-6C86-34D6-F561081D2AED}"/>
              </a:ext>
            </a:extLst>
          </p:cNvPr>
          <p:cNvSpPr txBox="1"/>
          <p:nvPr/>
        </p:nvSpPr>
        <p:spPr>
          <a:xfrm>
            <a:off x="2466179" y="6042460"/>
            <a:ext cx="1944765" cy="276999"/>
          </a:xfrm>
          <a:prstGeom prst="rect">
            <a:avLst/>
          </a:prstGeom>
          <a:noFill/>
        </p:spPr>
        <p:txBody>
          <a:bodyPr wrap="square">
            <a:spAutoFit/>
          </a:bodyPr>
          <a:lstStyle/>
          <a:p>
            <a:r>
              <a:rPr lang="ja-JP" altLang="en-US" sz="1200">
                <a:latin typeface="Meiryo UI" panose="020B0604030504040204" pitchFamily="50" charset="-128"/>
                <a:ea typeface="Meiryo UI" panose="020B0604030504040204" pitchFamily="50" charset="-128"/>
              </a:rPr>
              <a:t>図１：マルチピラーアプローチ</a:t>
            </a:r>
          </a:p>
        </p:txBody>
      </p:sp>
      <p:sp>
        <p:nvSpPr>
          <p:cNvPr id="3" name="テキスト ボックス 2">
            <a:extLst>
              <a:ext uri="{FF2B5EF4-FFF2-40B4-BE49-F238E27FC236}">
                <a16:creationId xmlns:a16="http://schemas.microsoft.com/office/drawing/2014/main" id="{3961FBD1-AF1E-ED67-60B6-B805C2F96EAF}"/>
              </a:ext>
            </a:extLst>
          </p:cNvPr>
          <p:cNvSpPr txBox="1"/>
          <p:nvPr/>
        </p:nvSpPr>
        <p:spPr>
          <a:xfrm>
            <a:off x="31390" y="535617"/>
            <a:ext cx="12024486" cy="307777"/>
          </a:xfrm>
          <a:prstGeom prst="rect">
            <a:avLst/>
          </a:prstGeom>
          <a:noFill/>
        </p:spPr>
        <p:txBody>
          <a:bodyPr wrap="square">
            <a:spAutoFit/>
          </a:bodyPr>
          <a:lstStyle/>
          <a:p>
            <a:r>
              <a:rPr lang="en-US" altLang="ja-JP" sz="1400" b="1">
                <a:latin typeface="Meiryo UI" panose="020B0604030504040204" pitchFamily="34" charset="-128"/>
                <a:ea typeface="Meiryo UI" panose="020B0604030504040204" pitchFamily="34" charset="-128"/>
              </a:rPr>
              <a:t>Section2</a:t>
            </a:r>
            <a:r>
              <a:rPr lang="ja-JP" altLang="en-US" sz="1400" b="1">
                <a:latin typeface="Meiryo UI" panose="020B0604030504040204" pitchFamily="34" charset="-128"/>
                <a:ea typeface="Meiryo UI" panose="020B0604030504040204" pitchFamily="34" charset="-128"/>
              </a:rPr>
              <a:t>では、本ガイドラインの目的とスコープについて述べる</a:t>
            </a:r>
            <a:endParaRPr lang="en-US" altLang="ja-JP" sz="1400" b="1">
              <a:latin typeface="Meiryo UI" panose="020B0604030504040204" pitchFamily="34" charset="-128"/>
              <a:ea typeface="Meiryo UI" panose="020B0604030504040204" pitchFamily="34" charset="-128"/>
            </a:endParaRPr>
          </a:p>
        </p:txBody>
      </p:sp>
      <p:sp>
        <p:nvSpPr>
          <p:cNvPr id="2" name="テキスト ボックス 1">
            <a:extLst>
              <a:ext uri="{FF2B5EF4-FFF2-40B4-BE49-F238E27FC236}">
                <a16:creationId xmlns:a16="http://schemas.microsoft.com/office/drawing/2014/main" id="{A964C4FD-443B-AAC9-247C-1DF09A3D17CA}"/>
              </a:ext>
            </a:extLst>
          </p:cNvPr>
          <p:cNvSpPr txBox="1"/>
          <p:nvPr/>
        </p:nvSpPr>
        <p:spPr>
          <a:xfrm>
            <a:off x="329303" y="6452509"/>
            <a:ext cx="11528188" cy="369332"/>
          </a:xfrm>
          <a:prstGeom prst="rect">
            <a:avLst/>
          </a:prstGeom>
          <a:noFill/>
        </p:spPr>
        <p:txBody>
          <a:bodyPr wrap="square" rtlCol="0">
            <a:spAutoFit/>
          </a:bodyPr>
          <a:lstStyle/>
          <a:p>
            <a:pPr algn="ctr"/>
            <a:r>
              <a:rPr lang="ja-JP" altLang="en-US" dirty="0">
                <a:latin typeface="Meiryo UI" panose="020B0604030504040204" pitchFamily="50" charset="-128"/>
                <a:ea typeface="Meiryo UI" panose="020B0604030504040204" pitchFamily="50" charset="-128"/>
              </a:rPr>
              <a:t>本ガイドラインは</a:t>
            </a:r>
            <a:r>
              <a:rPr lang="en-US" altLang="ja-JP" dirty="0">
                <a:latin typeface="Meiryo UI" panose="020B0604030504040204" pitchFamily="50" charset="-128"/>
                <a:ea typeface="Meiryo UI" panose="020B0604030504040204" pitchFamily="50" charset="-128"/>
              </a:rPr>
              <a:t>ADS</a:t>
            </a:r>
            <a:r>
              <a:rPr lang="ja-JP" altLang="en-US" dirty="0">
                <a:latin typeface="Meiryo UI" panose="020B0604030504040204" pitchFamily="50" charset="-128"/>
                <a:ea typeface="Meiryo UI" panose="020B0604030504040204" pitchFamily="50" charset="-128"/>
              </a:rPr>
              <a:t>の「安全要件」と「評価方法」を確立するため推奨事項を提案するものである</a:t>
            </a:r>
            <a:endParaRPr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11898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E3708BD-98C4-44FB-6491-65D21015DF69}"/>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Section3</a:t>
            </a:r>
            <a:r>
              <a:rPr lang="ja-JP" altLang="en-US">
                <a:solidFill>
                  <a:schemeClr val="bg1"/>
                </a:solidFill>
                <a:latin typeface="Meiryo UI" panose="020B0604030504040204" pitchFamily="50" charset="-128"/>
                <a:ea typeface="Meiryo UI" panose="020B0604030504040204" pitchFamily="50" charset="-128"/>
              </a:rPr>
              <a:t>　用語とその定義</a:t>
            </a:r>
          </a:p>
        </p:txBody>
      </p:sp>
      <p:sp>
        <p:nvSpPr>
          <p:cNvPr id="4" name="テキスト ボックス 3">
            <a:extLst>
              <a:ext uri="{FF2B5EF4-FFF2-40B4-BE49-F238E27FC236}">
                <a16:creationId xmlns:a16="http://schemas.microsoft.com/office/drawing/2014/main" id="{4F28E2CA-1709-5690-3F63-443B9CA14882}"/>
              </a:ext>
            </a:extLst>
          </p:cNvPr>
          <p:cNvSpPr txBox="1"/>
          <p:nvPr/>
        </p:nvSpPr>
        <p:spPr>
          <a:xfrm>
            <a:off x="965734" y="920621"/>
            <a:ext cx="8361145" cy="5016758"/>
          </a:xfrm>
          <a:prstGeom prst="rect">
            <a:avLst/>
          </a:prstGeom>
          <a:noFill/>
        </p:spPr>
        <p:txBody>
          <a:bodyPr wrap="square" rtlCol="0">
            <a:spAutoFit/>
          </a:bodyPr>
          <a:lstStyle/>
          <a:p>
            <a:r>
              <a:rPr kumimoji="1" lang="en-US" altLang="ja-JP" sz="1600" dirty="0">
                <a:solidFill>
                  <a:schemeClr val="bg1">
                    <a:lumMod val="65000"/>
                  </a:schemeClr>
                </a:solidFill>
              </a:rPr>
              <a:t>Section1</a:t>
            </a:r>
            <a:r>
              <a:rPr kumimoji="1" lang="ja-JP" altLang="en-US" sz="1600" dirty="0">
                <a:solidFill>
                  <a:schemeClr val="bg1">
                    <a:lumMod val="65000"/>
                  </a:schemeClr>
                </a:solidFill>
              </a:rPr>
              <a:t>　導入</a:t>
            </a:r>
            <a:endParaRPr kumimoji="1" lang="en-US" altLang="ja-JP" sz="1600" dirty="0">
              <a:solidFill>
                <a:schemeClr val="bg1">
                  <a:lumMod val="65000"/>
                </a:schemeClr>
              </a:solidFill>
            </a:endParaRPr>
          </a:p>
          <a:p>
            <a:r>
              <a:rPr kumimoji="1" lang="en-US" altLang="ja-JP" sz="1600" dirty="0">
                <a:solidFill>
                  <a:schemeClr val="bg1">
                    <a:lumMod val="65000"/>
                  </a:schemeClr>
                </a:solidFill>
              </a:rPr>
              <a:t>Section2</a:t>
            </a:r>
            <a:r>
              <a:rPr kumimoji="1" lang="ja-JP" altLang="en-US" sz="1600" dirty="0">
                <a:solidFill>
                  <a:schemeClr val="bg1">
                    <a:lumMod val="65000"/>
                  </a:schemeClr>
                </a:solidFill>
              </a:rPr>
              <a:t>　スコープと目的</a:t>
            </a:r>
            <a:endParaRPr lang="en-US" altLang="ja-JP" sz="1600" dirty="0">
              <a:solidFill>
                <a:schemeClr val="bg1">
                  <a:lumMod val="65000"/>
                </a:schemeClr>
              </a:solidFill>
            </a:endParaRPr>
          </a:p>
          <a:p>
            <a:r>
              <a:rPr kumimoji="1" lang="en-US" altLang="ja-JP" sz="1600" dirty="0">
                <a:solidFill>
                  <a:srgbClr val="0000FF"/>
                </a:solidFill>
              </a:rPr>
              <a:t>Section3</a:t>
            </a:r>
            <a:r>
              <a:rPr kumimoji="1" lang="ja-JP" altLang="en-US" sz="1600" dirty="0">
                <a:solidFill>
                  <a:srgbClr val="0000FF"/>
                </a:solidFill>
              </a:rPr>
              <a:t>　用語とその定義</a:t>
            </a:r>
            <a:endParaRPr lang="en-US" altLang="ja-JP" sz="1600" dirty="0">
              <a:solidFill>
                <a:srgbClr val="0000FF"/>
              </a:solidFill>
            </a:endParaRPr>
          </a:p>
          <a:p>
            <a:r>
              <a:rPr kumimoji="1" lang="en-US" altLang="ja-JP" sz="1600" dirty="0"/>
              <a:t>Section4</a:t>
            </a:r>
            <a:r>
              <a:rPr kumimoji="1" lang="ja-JP" altLang="en-US" sz="1600" dirty="0"/>
              <a:t>　</a:t>
            </a:r>
            <a:r>
              <a:rPr kumimoji="1" lang="en" altLang="ja-JP" sz="1600" dirty="0"/>
              <a:t> ADS</a:t>
            </a:r>
            <a:r>
              <a:rPr kumimoji="1" lang="ja-JP" altLang="en-US" sz="1600" dirty="0"/>
              <a:t>の安全要件、評価および検証の概要</a:t>
            </a:r>
            <a:endParaRPr kumimoji="1" lang="en-US" altLang="ja-JP" sz="1600" dirty="0"/>
          </a:p>
          <a:p>
            <a:r>
              <a:rPr kumimoji="1" lang="en-US" altLang="ja-JP" sz="1600" dirty="0"/>
              <a:t>Section5</a:t>
            </a:r>
            <a:r>
              <a:rPr kumimoji="1" lang="ja-JP" altLang="en-US" sz="1600" dirty="0"/>
              <a:t>　審査、安全性評価、メーカのシステムに関する文書</a:t>
            </a:r>
            <a:endParaRPr lang="en-US" altLang="ja-JP" sz="1600" dirty="0"/>
          </a:p>
          <a:p>
            <a:r>
              <a:rPr kumimoji="1" lang="en-US" altLang="ja-JP" sz="1600" dirty="0"/>
              <a:t>Section6</a:t>
            </a:r>
            <a:r>
              <a:rPr kumimoji="1" lang="ja-JP" altLang="en-US" sz="1600" dirty="0"/>
              <a:t>　</a:t>
            </a:r>
            <a:r>
              <a:rPr kumimoji="1" lang="en" altLang="ja-JP" sz="1600" dirty="0"/>
              <a:t> </a:t>
            </a:r>
            <a:r>
              <a:rPr kumimoji="1" lang="en-US" altLang="ja-JP" sz="1600" dirty="0"/>
              <a:t>ADS</a:t>
            </a:r>
            <a:r>
              <a:rPr kumimoji="1" lang="ja-JP" altLang="en-US" sz="1600" dirty="0"/>
              <a:t>の動的運転タスク性能要件</a:t>
            </a:r>
            <a:endParaRPr kumimoji="1" lang="en-US" altLang="ja-JP" sz="1600" dirty="0"/>
          </a:p>
          <a:p>
            <a:r>
              <a:rPr kumimoji="1" lang="en-US" altLang="ja-JP" sz="1600" dirty="0"/>
              <a:t>Section7</a:t>
            </a:r>
            <a:r>
              <a:rPr kumimoji="1" lang="ja-JP" altLang="en-US" sz="1600" dirty="0"/>
              <a:t>　ユーザと</a:t>
            </a:r>
            <a:r>
              <a:rPr kumimoji="1" lang="en" altLang="ja-JP" sz="1600" dirty="0"/>
              <a:t>ADS</a:t>
            </a:r>
            <a:r>
              <a:rPr kumimoji="1" lang="ja-JP" altLang="en-US" sz="1600" dirty="0"/>
              <a:t>の安全なインタラクションの要件</a:t>
            </a:r>
            <a:endParaRPr lang="en-US" altLang="ja-JP" sz="1600" dirty="0"/>
          </a:p>
          <a:p>
            <a:r>
              <a:rPr kumimoji="1" lang="en-US" altLang="ja-JP" sz="1600" dirty="0"/>
              <a:t>Section8</a:t>
            </a:r>
            <a:r>
              <a:rPr kumimoji="1" lang="ja-JP" altLang="en-US" sz="1600" dirty="0"/>
              <a:t>　使用中の監視と報告</a:t>
            </a:r>
            <a:endParaRPr kumimoji="1" lang="en-US" altLang="ja-JP" sz="1600" dirty="0"/>
          </a:p>
          <a:p>
            <a:endParaRPr lang="en-US" altLang="ja-JP" sz="1600" dirty="0"/>
          </a:p>
          <a:p>
            <a:r>
              <a:rPr lang="en-US" altLang="ja-JP" sz="1600" dirty="0"/>
              <a:t>Annex1</a:t>
            </a:r>
            <a:r>
              <a:rPr lang="ja-JP" altLang="en-US" sz="1600" dirty="0"/>
              <a:t>　</a:t>
            </a:r>
            <a:r>
              <a:rPr lang="en" altLang="ja-JP" sz="1600" dirty="0"/>
              <a:t> ADS</a:t>
            </a:r>
            <a:r>
              <a:rPr lang="ja-JP" altLang="en-US" sz="1600" dirty="0"/>
              <a:t>安全要件の作成の背景</a:t>
            </a:r>
            <a:endParaRPr lang="en-US" altLang="ja-JP" sz="1600" dirty="0"/>
          </a:p>
          <a:p>
            <a:r>
              <a:rPr lang="en-US" altLang="ja-JP" sz="1600" dirty="0"/>
              <a:t>Annex2</a:t>
            </a:r>
            <a:r>
              <a:rPr lang="ja-JP" altLang="en-US" sz="1600" dirty="0"/>
              <a:t>　適切な検証ピラーへの</a:t>
            </a:r>
            <a:r>
              <a:rPr lang="en" altLang="ja-JP" sz="1600" dirty="0"/>
              <a:t>DDT </a:t>
            </a:r>
            <a:r>
              <a:rPr lang="ja-JP" altLang="en-US" sz="1600" dirty="0"/>
              <a:t>とユーザ要件の基準</a:t>
            </a:r>
            <a:endParaRPr lang="en-US" altLang="ja-JP" sz="1600" dirty="0"/>
          </a:p>
          <a:p>
            <a:r>
              <a:rPr lang="en-US" altLang="ja-JP" sz="1600" dirty="0"/>
              <a:t>Annex3</a:t>
            </a:r>
            <a:r>
              <a:rPr lang="ja-JP" altLang="en-US" sz="1600" dirty="0"/>
              <a:t>　検証可能な性能基準を導くアプローチ</a:t>
            </a:r>
            <a:endParaRPr lang="en-US" altLang="ja-JP" sz="1600" dirty="0"/>
          </a:p>
          <a:p>
            <a:r>
              <a:rPr lang="en-US" altLang="ja-JP" sz="1600" dirty="0"/>
              <a:t>Annex4</a:t>
            </a:r>
            <a:r>
              <a:rPr lang="ja-JP" altLang="en-US" sz="1600" dirty="0"/>
              <a:t>　交通シナリオ</a:t>
            </a:r>
            <a:endParaRPr lang="en-US" altLang="ja-JP" sz="1600" dirty="0"/>
          </a:p>
          <a:p>
            <a:r>
              <a:rPr lang="en-US" altLang="ja-JP" sz="1600" dirty="0"/>
              <a:t>Annex5</a:t>
            </a:r>
            <a:r>
              <a:rPr lang="ja-JP" altLang="en-US" sz="1600" dirty="0"/>
              <a:t>　シュミレーションと信頼性評価</a:t>
            </a:r>
            <a:endParaRPr lang="en-US" altLang="ja-JP" sz="1600" dirty="0"/>
          </a:p>
          <a:p>
            <a:r>
              <a:rPr lang="en-US" altLang="ja-JP" sz="1600" dirty="0"/>
              <a:t>Annex6</a:t>
            </a:r>
            <a:r>
              <a:rPr lang="ja-JP" altLang="en-US" sz="1600" dirty="0"/>
              <a:t>　トラック試験と実世界での試験</a:t>
            </a:r>
            <a:endParaRPr lang="en-US" altLang="ja-JP" sz="1600" dirty="0"/>
          </a:p>
          <a:p>
            <a:r>
              <a:rPr lang="en-US" altLang="ja-JP" sz="1600" dirty="0"/>
              <a:t>Annex7</a:t>
            </a:r>
            <a:r>
              <a:rPr lang="ja-JP" altLang="en-US" sz="1600" dirty="0"/>
              <a:t>　</a:t>
            </a:r>
            <a:r>
              <a:rPr lang="en" altLang="ja-JP" sz="1600" dirty="0"/>
              <a:t> ISMR</a:t>
            </a:r>
            <a:r>
              <a:rPr lang="ja-JP" altLang="en-US" sz="1600" dirty="0"/>
              <a:t>と安全要件のマトリクス</a:t>
            </a:r>
            <a:endParaRPr lang="en-US" altLang="ja-JP" sz="1600" dirty="0"/>
          </a:p>
          <a:p>
            <a:r>
              <a:rPr lang="en-US" altLang="ja-JP" sz="1600" dirty="0"/>
              <a:t>Annex8</a:t>
            </a:r>
            <a:r>
              <a:rPr lang="ja-JP" altLang="en-US" sz="1600" dirty="0"/>
              <a:t>　</a:t>
            </a:r>
            <a:r>
              <a:rPr lang="en" altLang="ja-JP" sz="1600" dirty="0"/>
              <a:t> ISMR</a:t>
            </a:r>
            <a:r>
              <a:rPr lang="ja-JP" altLang="en-US" sz="1600" dirty="0"/>
              <a:t>報告テンプレート</a:t>
            </a:r>
            <a:endParaRPr lang="en-US" altLang="ja-JP" sz="1600" dirty="0"/>
          </a:p>
          <a:p>
            <a:r>
              <a:rPr lang="en-US" altLang="ja-JP" sz="1600" dirty="0"/>
              <a:t>Annex9</a:t>
            </a:r>
            <a:r>
              <a:rPr lang="ja-JP" altLang="en-US" sz="1600" dirty="0"/>
              <a:t>　使用中の監視を効果的に実施するための推奨事項</a:t>
            </a:r>
            <a:endParaRPr lang="en-US" altLang="ja-JP" sz="1600" dirty="0"/>
          </a:p>
          <a:p>
            <a:r>
              <a:rPr lang="en-US" altLang="ja-JP" sz="1600" dirty="0"/>
              <a:t>Annex10</a:t>
            </a:r>
            <a:r>
              <a:rPr lang="ja-JP" altLang="en-US" sz="1600" dirty="0"/>
              <a:t>　今後の活動におけるさらなる議論</a:t>
            </a:r>
            <a:endParaRPr lang="en-US" altLang="ja-JP" sz="1600" dirty="0"/>
          </a:p>
          <a:p>
            <a:endParaRPr kumimoji="1" lang="en-US" altLang="ja-JP" sz="1600" dirty="0"/>
          </a:p>
        </p:txBody>
      </p:sp>
    </p:spTree>
    <p:extLst>
      <p:ext uri="{BB962C8B-B14F-4D97-AF65-F5344CB8AC3E}">
        <p14:creationId xmlns:p14="http://schemas.microsoft.com/office/powerpoint/2010/main" val="1262312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B33A1E51-AB84-D2A8-DD5F-8769E5B48DF5}"/>
              </a:ext>
            </a:extLst>
          </p:cNvPr>
          <p:cNvGraphicFramePr>
            <a:graphicFrameLocks noGrp="1"/>
          </p:cNvGraphicFramePr>
          <p:nvPr/>
        </p:nvGraphicFramePr>
        <p:xfrm>
          <a:off x="0" y="778017"/>
          <a:ext cx="12192000" cy="4845512"/>
        </p:xfrm>
        <a:graphic>
          <a:graphicData uri="http://schemas.openxmlformats.org/drawingml/2006/table">
            <a:tbl>
              <a:tblPr>
                <a:tableStyleId>{2D5ABB26-0587-4C30-8999-92F81FD0307C}</a:tableStyleId>
              </a:tblPr>
              <a:tblGrid>
                <a:gridCol w="2137718">
                  <a:extLst>
                    <a:ext uri="{9D8B030D-6E8A-4147-A177-3AD203B41FA5}">
                      <a16:colId xmlns:a16="http://schemas.microsoft.com/office/drawing/2014/main" val="855363077"/>
                    </a:ext>
                  </a:extLst>
                </a:gridCol>
                <a:gridCol w="10054282">
                  <a:extLst>
                    <a:ext uri="{9D8B030D-6E8A-4147-A177-3AD203B41FA5}">
                      <a16:colId xmlns:a16="http://schemas.microsoft.com/office/drawing/2014/main" val="823637289"/>
                    </a:ext>
                  </a:extLst>
                </a:gridCol>
              </a:tblGrid>
              <a:tr h="404069">
                <a:tc>
                  <a:txBody>
                    <a:bodyPr/>
                    <a:lstStyle/>
                    <a:p>
                      <a:pPr algn="ctr" fontAlgn="ctr"/>
                      <a:r>
                        <a:rPr lang="ja-JP" altLang="en-US" sz="1200" u="none" strike="noStrike" dirty="0">
                          <a:effectLst/>
                          <a:latin typeface="Meiryo UI" panose="020B0604030504040204" pitchFamily="34" charset="-128"/>
                          <a:ea typeface="Meiryo UI" panose="020B0604030504040204" pitchFamily="34" charset="-128"/>
                        </a:rPr>
                        <a:t>抽象化</a:t>
                      </a:r>
                      <a:endParaRPr lang="en-US" altLang="ja-JP" sz="1200" b="0" i="0" u="none" strike="noStrike" dirty="0">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モデルまたはシュレーションで表現されるソースまたは参照対象システムの関連側面を選択するプロセス</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90920165"/>
                  </a:ext>
                </a:extLst>
              </a:tr>
              <a:tr h="404069">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自動運転システム</a:t>
                      </a:r>
                      <a:r>
                        <a:rPr lang="en-US" altLang="ja-JP" sz="1200" u="none" strike="noStrike">
                          <a:effectLst/>
                          <a:latin typeface="Meiryo UI" panose="020B0604030504040204" pitchFamily="34" charset="-128"/>
                          <a:ea typeface="Meiryo UI" panose="020B0604030504040204" pitchFamily="34" charset="-128"/>
                        </a:rPr>
                        <a:t>(</a:t>
                      </a:r>
                      <a:r>
                        <a:rPr lang="en" altLang="ja-JP" sz="1200" u="none" strike="noStrike">
                          <a:effectLst/>
                          <a:latin typeface="Meiryo UI" panose="020B0604030504040204" pitchFamily="34" charset="-128"/>
                          <a:ea typeface="Meiryo UI" panose="020B0604030504040204" pitchFamily="34" charset="-128"/>
                        </a:rPr>
                        <a:t>ADS)</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 sz="1200" u="none" strike="noStrike">
                          <a:effectLst/>
                          <a:latin typeface="Meiryo UI" panose="020B0604030504040204" pitchFamily="34" charset="-128"/>
                          <a:ea typeface="Meiryo UI" panose="020B0604030504040204" pitchFamily="34" charset="-128"/>
                        </a:rPr>
                        <a:t>DDT</a:t>
                      </a:r>
                      <a:r>
                        <a:rPr lang="ja-JP" altLang="en-US" sz="1200" u="none" strike="noStrike">
                          <a:effectLst/>
                          <a:latin typeface="Meiryo UI" panose="020B0604030504040204" pitchFamily="34" charset="-128"/>
                          <a:ea typeface="Meiryo UI" panose="020B0604030504040204" pitchFamily="34" charset="-128"/>
                        </a:rPr>
                        <a:t>全体を持続的に実行できる車両のハードウェアとソフトウェア</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9065596"/>
                  </a:ext>
                </a:extLst>
              </a:tr>
              <a:tr h="404069">
                <a:tc>
                  <a:txBody>
                    <a:bodyPr/>
                    <a:lstStyle/>
                    <a:p>
                      <a:pPr algn="ctr" fontAlgn="ctr"/>
                      <a:r>
                        <a:rPr lang="en" altLang="ja-JP" sz="1200" u="none" strike="noStrike" dirty="0">
                          <a:effectLst/>
                          <a:latin typeface="Meiryo UI" panose="020B0604030504040204" pitchFamily="34" charset="-128"/>
                          <a:ea typeface="Meiryo UI" panose="020B0604030504040204" pitchFamily="34" charset="-128"/>
                        </a:rPr>
                        <a:t>ADS</a:t>
                      </a:r>
                      <a:r>
                        <a:rPr lang="ja-JP" altLang="en-US" sz="1200" u="none" strike="noStrike" dirty="0">
                          <a:effectLst/>
                          <a:latin typeface="Meiryo UI" panose="020B0604030504040204" pitchFamily="34" charset="-128"/>
                          <a:ea typeface="Meiryo UI" panose="020B0604030504040204" pitchFamily="34" charset="-128"/>
                        </a:rPr>
                        <a:t>フィーチャ</a:t>
                      </a:r>
                      <a:endParaRPr lang="en-US" altLang="ja-JP" sz="1200" b="0" i="0" u="none" strike="noStrike" dirty="0">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 sz="1200" u="none" strike="noStrike">
                          <a:effectLst/>
                          <a:latin typeface="Meiryo UI" panose="020B0604030504040204" pitchFamily="34" charset="-128"/>
                          <a:ea typeface="Meiryo UI" panose="020B0604030504040204" pitchFamily="34" charset="-128"/>
                        </a:rPr>
                        <a:t>ODD</a:t>
                      </a:r>
                      <a:r>
                        <a:rPr lang="ja-JP" altLang="en-US" sz="1200" u="none" strike="noStrike">
                          <a:effectLst/>
                          <a:latin typeface="Meiryo UI" panose="020B0604030504040204" pitchFamily="34" charset="-128"/>
                          <a:ea typeface="Meiryo UI" panose="020B0604030504040204" pitchFamily="34" charset="-128"/>
                        </a:rPr>
                        <a:t>内で使用するために特別に設計された</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のアプリケーション</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9535885"/>
                  </a:ext>
                </a:extLst>
              </a:tr>
              <a:tr h="404069">
                <a:tc>
                  <a:txBody>
                    <a:bodyPr/>
                    <a:lstStyle/>
                    <a:p>
                      <a:pPr algn="ctr" fontAlgn="ctr"/>
                      <a:r>
                        <a:rPr lang="en-US" altLang="ja-JP" sz="1200" b="0" i="0" u="none" strike="noStrike">
                          <a:solidFill>
                            <a:srgbClr val="000000"/>
                          </a:solidFill>
                          <a:effectLst/>
                          <a:latin typeface="Meiryo UI" panose="020B0604030504040204" pitchFamily="34" charset="-128"/>
                          <a:ea typeface="Meiryo UI" panose="020B0604030504040204" pitchFamily="34" charset="-128"/>
                        </a:rPr>
                        <a:t>(ADS)</a:t>
                      </a:r>
                      <a:r>
                        <a:rPr lang="ja-JP" altLang="en-US" sz="1200" b="0" i="0" u="none" strike="noStrike">
                          <a:solidFill>
                            <a:srgbClr val="000000"/>
                          </a:solidFill>
                          <a:effectLst/>
                          <a:latin typeface="Meiryo UI" panose="020B0604030504040204" pitchFamily="34" charset="-128"/>
                          <a:ea typeface="Meiryo UI" panose="020B0604030504040204" pitchFamily="34" charset="-128"/>
                        </a:rPr>
                        <a:t>ファンクション</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 sz="1200" u="none" strike="noStrike">
                          <a:effectLst/>
                          <a:latin typeface="Meiryo UI" panose="020B0604030504040204" pitchFamily="34" charset="-128"/>
                          <a:ea typeface="Meiryo UI" panose="020B0604030504040204" pitchFamily="34" charset="-128"/>
                        </a:rPr>
                        <a:t>DDT</a:t>
                      </a:r>
                      <a:r>
                        <a:rPr lang="ja-JP" altLang="en-US" sz="1200" u="none" strike="noStrike">
                          <a:effectLst/>
                          <a:latin typeface="Meiryo UI" panose="020B0604030504040204" pitchFamily="34" charset="-128"/>
                          <a:ea typeface="Meiryo UI" panose="020B0604030504040204" pitchFamily="34" charset="-128"/>
                        </a:rPr>
                        <a:t>の特定の部分を実行するように設計された</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ハードウェアとソフトウェア機能</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9366216"/>
                  </a:ext>
                </a:extLst>
              </a:tr>
              <a:tr h="404069">
                <a:tc>
                  <a:txBody>
                    <a:bodyPr/>
                    <a:lstStyle/>
                    <a:p>
                      <a:pPr algn="ctr" fontAlgn="ctr"/>
                      <a:r>
                        <a:rPr lang="en" altLang="ja-JP"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車両</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を搭載した車両</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6513948"/>
                  </a:ext>
                </a:extLst>
              </a:tr>
              <a:tr h="404069">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動作性能</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 sz="1200" u="none" strike="noStrike" dirty="0">
                          <a:effectLst/>
                          <a:latin typeface="Meiryo UI" panose="020B0604030504040204" pitchFamily="34" charset="-128"/>
                          <a:ea typeface="Meiryo UI" panose="020B0604030504040204" pitchFamily="34" charset="-128"/>
                        </a:rPr>
                        <a:t>ADS</a:t>
                      </a:r>
                      <a:r>
                        <a:rPr lang="ja-JP" altLang="en-US" sz="1200" u="none" strike="noStrike" dirty="0">
                          <a:effectLst/>
                          <a:latin typeface="Meiryo UI" panose="020B0604030504040204" pitchFamily="34" charset="-128"/>
                          <a:ea typeface="Meiryo UI" panose="020B0604030504040204" pitchFamily="34" charset="-128"/>
                        </a:rPr>
                        <a:t>フィーチャの</a:t>
                      </a:r>
                      <a:r>
                        <a:rPr lang="en" sz="1200" u="none" strike="noStrike" dirty="0">
                          <a:effectLst/>
                          <a:latin typeface="Meiryo UI" panose="020B0604030504040204" pitchFamily="34" charset="-128"/>
                          <a:ea typeface="Meiryo UI" panose="020B0604030504040204" pitchFamily="34" charset="-128"/>
                        </a:rPr>
                        <a:t>ODD</a:t>
                      </a:r>
                      <a:r>
                        <a:rPr lang="ja-JP" altLang="en-US" sz="1200" u="none" strike="noStrike" dirty="0">
                          <a:effectLst/>
                          <a:latin typeface="Meiryo UI" panose="020B0604030504040204" pitchFamily="34" charset="-128"/>
                          <a:ea typeface="Meiryo UI" panose="020B0604030504040204" pitchFamily="34" charset="-128"/>
                        </a:rPr>
                        <a:t>内で車両を操作するための、そのフィーチャが期待される検証可能な能力</a:t>
                      </a:r>
                      <a:endParaRPr lang="en-US" altLang="ja-JP" sz="1200" b="0" i="0" u="none" strike="noStrike" dirty="0">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3618108"/>
                  </a:ext>
                </a:extLst>
              </a:tr>
              <a:tr h="806480">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クローズドループテスト</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ループ内の</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ハードウェア、ソフトウェア、またはその他の要素の動作がシミュレーション内の他のオブジェクトの動作に影響を与える環境でのテスト</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7616756"/>
                  </a:ext>
                </a:extLst>
              </a:tr>
              <a:tr h="806480">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オープンループテスト</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ループ内の</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ハードウェア、ソフトウェア、またはその他の要素の動作がシミュレーション内の他のオブジェクトの動作に影響を与えない環境でのテスト</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7404405"/>
                  </a:ext>
                </a:extLst>
              </a:tr>
              <a:tr h="404069">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確率的</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確率変数または関連変数を伴う、または含むプロセス</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0058996"/>
                  </a:ext>
                </a:extLst>
              </a:tr>
              <a:tr h="404069">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運転者</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特定の車両の</a:t>
                      </a:r>
                      <a:r>
                        <a:rPr lang="en" sz="1200" u="none" strike="noStrike">
                          <a:effectLst/>
                          <a:latin typeface="Meiryo UI" panose="020B0604030504040204" pitchFamily="34" charset="-128"/>
                          <a:ea typeface="Meiryo UI" panose="020B0604030504040204" pitchFamily="34" charset="-128"/>
                        </a:rPr>
                        <a:t>DDT</a:t>
                      </a:r>
                      <a:r>
                        <a:rPr lang="ja-JP" altLang="en-US" sz="1200" u="none" strike="noStrike">
                          <a:effectLst/>
                          <a:latin typeface="Meiryo UI" panose="020B0604030504040204" pitchFamily="34" charset="-128"/>
                          <a:ea typeface="Meiryo UI" panose="020B0604030504040204" pitchFamily="34" charset="-128"/>
                        </a:rPr>
                        <a:t>かつ</a:t>
                      </a:r>
                      <a:r>
                        <a:rPr lang="en-US" altLang="ja-JP" sz="1200" u="none" strike="noStrike">
                          <a:effectLst/>
                          <a:latin typeface="Meiryo UI" panose="020B0604030504040204" pitchFamily="34" charset="-128"/>
                          <a:ea typeface="Meiryo UI" panose="020B0604030504040204" pitchFamily="34" charset="-128"/>
                        </a:rPr>
                        <a:t>/</a:t>
                      </a:r>
                      <a:r>
                        <a:rPr lang="ja-JP" altLang="en-US" sz="1200" u="none" strike="noStrike">
                          <a:effectLst/>
                          <a:latin typeface="Meiryo UI" panose="020B0604030504040204" pitchFamily="34" charset="-128"/>
                          <a:ea typeface="Meiryo UI" panose="020B0604030504040204" pitchFamily="34" charset="-128"/>
                        </a:rPr>
                        <a:t>または</a:t>
                      </a:r>
                      <a:r>
                        <a:rPr lang="en" sz="1200" u="none" strike="noStrike">
                          <a:effectLst/>
                          <a:latin typeface="Meiryo UI" panose="020B0604030504040204" pitchFamily="34" charset="-128"/>
                          <a:ea typeface="Meiryo UI" panose="020B0604030504040204" pitchFamily="34" charset="-128"/>
                        </a:rPr>
                        <a:t>DDT</a:t>
                      </a:r>
                      <a:r>
                        <a:rPr lang="ja-JP" altLang="en-US" sz="1200" u="none" strike="noStrike">
                          <a:effectLst/>
                          <a:latin typeface="Meiryo UI" panose="020B0604030504040204" pitchFamily="34" charset="-128"/>
                          <a:ea typeface="Meiryo UI" panose="020B0604030504040204" pitchFamily="34" charset="-128"/>
                        </a:rPr>
                        <a:t>縮退運転の一部またはすべてをリアルタイムで実行する人間のユーザ</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9536962"/>
                  </a:ext>
                </a:extLst>
              </a:tr>
            </a:tbl>
          </a:graphicData>
        </a:graphic>
      </p:graphicFrame>
      <p:sp>
        <p:nvSpPr>
          <p:cNvPr id="3" name="テキスト ボックス 2">
            <a:extLst>
              <a:ext uri="{FF2B5EF4-FFF2-40B4-BE49-F238E27FC236}">
                <a16:creationId xmlns:a16="http://schemas.microsoft.com/office/drawing/2014/main" id="{3D365575-D71F-BED5-C00C-676BA00EC8E2}"/>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3</a:t>
            </a:r>
            <a:r>
              <a:rPr lang="ja-JP" altLang="en-US">
                <a:solidFill>
                  <a:schemeClr val="bg1"/>
                </a:solidFill>
                <a:latin typeface="Meiryo UI" panose="020B0604030504040204" pitchFamily="50" charset="-128"/>
                <a:ea typeface="Meiryo UI" panose="020B0604030504040204" pitchFamily="50" charset="-128"/>
              </a:rPr>
              <a:t>　用語と定義</a:t>
            </a:r>
          </a:p>
        </p:txBody>
      </p:sp>
    </p:spTree>
    <p:extLst>
      <p:ext uri="{BB962C8B-B14F-4D97-AF65-F5344CB8AC3E}">
        <p14:creationId xmlns:p14="http://schemas.microsoft.com/office/powerpoint/2010/main" val="415364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914E9A64-1A79-2056-6CA4-3CF6D9AC654B}"/>
              </a:ext>
            </a:extLst>
          </p:cNvPr>
          <p:cNvGraphicFramePr>
            <a:graphicFrameLocks noGrp="1"/>
          </p:cNvGraphicFramePr>
          <p:nvPr>
            <p:extLst>
              <p:ext uri="{D42A27DB-BD31-4B8C-83A1-F6EECF244321}">
                <p14:modId xmlns:p14="http://schemas.microsoft.com/office/powerpoint/2010/main" val="4143568877"/>
              </p:ext>
            </p:extLst>
          </p:nvPr>
        </p:nvGraphicFramePr>
        <p:xfrm>
          <a:off x="0" y="778016"/>
          <a:ext cx="12192000" cy="5199275"/>
        </p:xfrm>
        <a:graphic>
          <a:graphicData uri="http://schemas.openxmlformats.org/drawingml/2006/table">
            <a:tbl>
              <a:tblPr>
                <a:tableStyleId>{2D5ABB26-0587-4C30-8999-92F81FD0307C}</a:tableStyleId>
              </a:tblPr>
              <a:tblGrid>
                <a:gridCol w="1369180">
                  <a:extLst>
                    <a:ext uri="{9D8B030D-6E8A-4147-A177-3AD203B41FA5}">
                      <a16:colId xmlns:a16="http://schemas.microsoft.com/office/drawing/2014/main" val="2488949096"/>
                    </a:ext>
                  </a:extLst>
                </a:gridCol>
                <a:gridCol w="1223061">
                  <a:extLst>
                    <a:ext uri="{9D8B030D-6E8A-4147-A177-3AD203B41FA5}">
                      <a16:colId xmlns:a16="http://schemas.microsoft.com/office/drawing/2014/main" val="108495064"/>
                    </a:ext>
                  </a:extLst>
                </a:gridCol>
                <a:gridCol w="9599759">
                  <a:extLst>
                    <a:ext uri="{9D8B030D-6E8A-4147-A177-3AD203B41FA5}">
                      <a16:colId xmlns:a16="http://schemas.microsoft.com/office/drawing/2014/main" val="1361846189"/>
                    </a:ext>
                  </a:extLst>
                </a:gridCol>
              </a:tblGrid>
              <a:tr h="1384387">
                <a:tc rowSpan="12">
                  <a:txBody>
                    <a:bodyPr/>
                    <a:lstStyle/>
                    <a:p>
                      <a:pPr algn="ctr" fontAlgn="ctr"/>
                      <a:r>
                        <a:rPr lang="ja-JP" altLang="en-US" sz="1200" u="none" strike="noStrike" dirty="0">
                          <a:effectLst/>
                          <a:latin typeface="Meiryo UI" panose="020B0604030504040204" pitchFamily="34" charset="-128"/>
                          <a:ea typeface="Meiryo UI" panose="020B0604030504040204" pitchFamily="34" charset="-128"/>
                        </a:rPr>
                        <a:t>動的運転タスク </a:t>
                      </a:r>
                      <a:r>
                        <a:rPr lang="en-US" altLang="ja-JP" sz="1200" u="none" strike="noStrike" dirty="0">
                          <a:effectLst/>
                          <a:latin typeface="Meiryo UI" panose="020B0604030504040204" pitchFamily="34" charset="-128"/>
                          <a:ea typeface="Meiryo UI" panose="020B0604030504040204" pitchFamily="34" charset="-128"/>
                        </a:rPr>
                        <a:t>(</a:t>
                      </a:r>
                      <a:r>
                        <a:rPr lang="en" altLang="ja-JP" sz="1200" u="none" strike="noStrike" dirty="0">
                          <a:effectLst/>
                          <a:latin typeface="Meiryo UI" panose="020B0604030504040204" pitchFamily="34" charset="-128"/>
                          <a:ea typeface="Meiryo UI" panose="020B0604030504040204" pitchFamily="34" charset="-128"/>
                        </a:rPr>
                        <a:t>DDT)</a:t>
                      </a:r>
                      <a:endParaRPr lang="en-US" altLang="ja-JP" sz="1200" b="0" i="0" u="none" strike="noStrike" dirty="0">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l" fontAlgn="ctr"/>
                      <a:r>
                        <a:rPr lang="ja-JP" altLang="en-US" sz="1200" u="none" strike="noStrike">
                          <a:effectLst/>
                          <a:latin typeface="Meiryo UI" panose="020B0604030504040204" pitchFamily="34" charset="-128"/>
                          <a:ea typeface="Meiryo UI" panose="020B0604030504040204" pitchFamily="34" charset="-128"/>
                        </a:rPr>
                        <a:t>　車両操作するために必要なリアルタイムのオペレーショナルとタクティカルファンクション。</a:t>
                      </a:r>
                      <a:endParaRPr lang="en-US" altLang="ja-JP" sz="1200" u="none" strike="noStrike">
                        <a:effectLst/>
                        <a:latin typeface="Meiryo UI" panose="020B0604030504040204" pitchFamily="34" charset="-128"/>
                        <a:ea typeface="Meiryo UI" panose="020B0604030504040204" pitchFamily="34" charset="-128"/>
                      </a:endParaRPr>
                    </a:p>
                    <a:p>
                      <a:pPr algn="l" fontAlgn="ctr"/>
                      <a:r>
                        <a:rPr lang="en" sz="1200" u="none" strike="noStrike" err="1">
                          <a:effectLst/>
                          <a:latin typeface="Meiryo UI" panose="020B0604030504040204" pitchFamily="34" charset="-128"/>
                          <a:ea typeface="Meiryo UI" panose="020B0604030504040204" pitchFamily="34" charset="-128"/>
                        </a:rPr>
                        <a:t>ADS動作中は</a:t>
                      </a:r>
                      <a:r>
                        <a:rPr lang="ja-JP" altLang="en-US" sz="1200" u="none" strike="noStrike">
                          <a:effectLst/>
                          <a:latin typeface="Meiryo UI" panose="020B0604030504040204" pitchFamily="34" charset="-128"/>
                          <a:ea typeface="Meiryo UI" panose="020B0604030504040204" pitchFamily="34" charset="-128"/>
                        </a:rPr>
                        <a:t>、</a:t>
                      </a:r>
                      <a:r>
                        <a:rPr lang="en" sz="1200" u="none" strike="noStrike">
                          <a:effectLst/>
                          <a:latin typeface="Meiryo UI" panose="020B0604030504040204" pitchFamily="34" charset="-128"/>
                          <a:ea typeface="Meiryo UI" panose="020B0604030504040204" pitchFamily="34" charset="-128"/>
                        </a:rPr>
                        <a:t>DDT</a:t>
                      </a:r>
                      <a:r>
                        <a:rPr lang="ja-JP" altLang="en-US" sz="1200" u="none" strike="noStrike">
                          <a:effectLst/>
                          <a:latin typeface="Meiryo UI" panose="020B0604030504040204" pitchFamily="34" charset="-128"/>
                          <a:ea typeface="Meiryo UI" panose="020B0604030504040204" pitchFamily="34" charset="-128"/>
                        </a:rPr>
                        <a:t>は常に全て</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によって実行される。</a:t>
                      </a:r>
                      <a:endParaRPr lang="en-US" altLang="ja-JP" sz="1200" u="none" strike="noStrike">
                        <a:effectLst/>
                        <a:latin typeface="Meiryo UI" panose="020B0604030504040204" pitchFamily="34" charset="-128"/>
                        <a:ea typeface="Meiryo UI" panose="020B0604030504040204" pitchFamily="34" charset="-128"/>
                      </a:endParaRPr>
                    </a:p>
                    <a:p>
                      <a:pPr algn="l" fontAlgn="ctr"/>
                      <a:r>
                        <a:rPr lang="ja-JP" altLang="en-US" sz="1200" u="none" strike="noStrike">
                          <a:effectLst/>
                          <a:latin typeface="Meiryo UI" panose="020B0604030504040204" pitchFamily="34" charset="-128"/>
                          <a:ea typeface="Meiryo UI" panose="020B0604030504040204" pitchFamily="34" charset="-128"/>
                        </a:rPr>
                        <a:t>オペレーショナルとタクティカルファンクションは、</a:t>
                      </a:r>
                      <a:r>
                        <a:rPr lang="ja-JP" altLang="en-US" sz="1200" b="1" u="none" strike="noStrike">
                          <a:effectLst/>
                          <a:latin typeface="Meiryo UI" panose="020B0604030504040204" pitchFamily="34" charset="-128"/>
                          <a:ea typeface="Meiryo UI" panose="020B0604030504040204" pitchFamily="34" charset="-128"/>
                        </a:rPr>
                        <a:t>感知と認識、計画と決定、制御</a:t>
                      </a:r>
                      <a:r>
                        <a:rPr lang="ja-JP" altLang="en-US" sz="1200" u="none" strike="noStrike">
                          <a:effectLst/>
                          <a:latin typeface="Meiryo UI" panose="020B0604030504040204" pitchFamily="34" charset="-128"/>
                          <a:ea typeface="Meiryo UI" panose="020B0604030504040204" pitchFamily="34" charset="-128"/>
                        </a:rPr>
                        <a:t>に分けられる。</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752" marR="752" marT="752"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94556410"/>
                  </a:ext>
                </a:extLst>
              </a:tr>
              <a:tr h="346808">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rgbClr val="000000"/>
                          </a:solidFill>
                          <a:effectLst/>
                          <a:latin typeface="Meiryo UI" panose="020B0604030504040204" pitchFamily="34" charset="-128"/>
                          <a:ea typeface="Meiryo UI" panose="020B0604030504040204" pitchFamily="34" charset="-128"/>
                        </a:rPr>
                        <a:t>感知と認識</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a:t>
                      </a:r>
                      <a:r>
                        <a:rPr lang="ja-JP" altLang="en-US" sz="1200" u="none" strike="noStrike">
                          <a:effectLst/>
                          <a:latin typeface="Meiryo UI" panose="020B0604030504040204" pitchFamily="34" charset="-128"/>
                          <a:ea typeface="Meiryo UI" panose="020B0604030504040204" pitchFamily="34" charset="-128"/>
                        </a:rPr>
                        <a:t>物体とイベントの検出、認識、分類による運転環境の監視</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5450474"/>
                  </a:ext>
                </a:extLst>
              </a:tr>
              <a:tr h="346808">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tc>
                <a:tc>
                  <a:txBody>
                    <a:bodyPr/>
                    <a:lstStyle/>
                    <a:p>
                      <a:pPr algn="l" fontAlgn="ctr"/>
                      <a:r>
                        <a:rPr lang="en" sz="1200" u="none" strike="noStrike">
                          <a:effectLst/>
                          <a:latin typeface="Meiryo UI" panose="020B0604030504040204" pitchFamily="34" charset="-128"/>
                          <a:ea typeface="Meiryo UI" panose="020B0604030504040204" pitchFamily="34" charset="-128"/>
                        </a:rPr>
                        <a:t>(b)</a:t>
                      </a:r>
                      <a:r>
                        <a:rPr lang="ja-JP" altLang="en-US" sz="1200" u="none" strike="noStrike">
                          <a:effectLst/>
                          <a:latin typeface="Meiryo UI" panose="020B0604030504040204" pitchFamily="34" charset="-128"/>
                          <a:ea typeface="Meiryo UI" panose="020B0604030504040204" pitchFamily="34" charset="-128"/>
                        </a:rPr>
                        <a:t>他の車両と道路利用者、道路とその設備、車両の走行環境内の物体と関連する環境条件の認識</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88457825"/>
                  </a:ext>
                </a:extLst>
              </a:tr>
              <a:tr h="346808">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tc>
                <a:tc>
                  <a:txBody>
                    <a:bodyPr/>
                    <a:lstStyle/>
                    <a:p>
                      <a:pPr algn="l" fontAlgn="ctr"/>
                      <a:r>
                        <a:rPr lang="en" sz="1200" u="none" strike="noStrike" dirty="0">
                          <a:effectLst/>
                          <a:latin typeface="Meiryo UI" panose="020B0604030504040204" pitchFamily="34" charset="-128"/>
                          <a:ea typeface="Meiryo UI" panose="020B0604030504040204" pitchFamily="34" charset="-128"/>
                        </a:rPr>
                        <a:t>(c)ADS</a:t>
                      </a:r>
                      <a:r>
                        <a:rPr lang="ja-JP" altLang="en-US" sz="1200" u="none" strike="noStrike" dirty="0">
                          <a:effectLst/>
                          <a:latin typeface="Meiryo UI" panose="020B0604030504040204" pitchFamily="34" charset="-128"/>
                          <a:ea typeface="Meiryo UI" panose="020B0604030504040204" pitchFamily="34" charset="-128"/>
                        </a:rPr>
                        <a:t>フィーチャの</a:t>
                      </a:r>
                      <a:r>
                        <a:rPr lang="en" sz="1200" u="none" strike="noStrike" dirty="0">
                          <a:effectLst/>
                          <a:latin typeface="Meiryo UI" panose="020B0604030504040204" pitchFamily="34" charset="-128"/>
                          <a:ea typeface="Meiryo UI" panose="020B0604030504040204" pitchFamily="34" charset="-128"/>
                        </a:rPr>
                        <a:t>ODD</a:t>
                      </a:r>
                      <a:r>
                        <a:rPr lang="ja-JP" altLang="en-US" sz="1200" u="none" strike="noStrike" dirty="0">
                          <a:effectLst/>
                          <a:latin typeface="Meiryo UI" panose="020B0604030504040204" pitchFamily="34" charset="-128"/>
                          <a:ea typeface="Meiryo UI" panose="020B0604030504040204" pitchFamily="34" charset="-128"/>
                        </a:rPr>
                        <a:t>境界の感知</a:t>
                      </a:r>
                      <a:endParaRPr lang="en-US" altLang="ja-JP" sz="1200" b="0" i="0" u="none" strike="noStrike" dirty="0">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39817851"/>
                  </a:ext>
                </a:extLst>
              </a:tr>
              <a:tr h="346808">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tc>
                <a:tc>
                  <a:txBody>
                    <a:bodyPr/>
                    <a:lstStyle/>
                    <a:p>
                      <a:pPr algn="l" fontAlgn="ctr"/>
                      <a:r>
                        <a:rPr lang="en" sz="1200" u="none" strike="noStrike">
                          <a:effectLst/>
                          <a:latin typeface="Meiryo UI" panose="020B0604030504040204" pitchFamily="34" charset="-128"/>
                          <a:ea typeface="Meiryo UI" panose="020B0604030504040204" pitchFamily="34" charset="-128"/>
                        </a:rPr>
                        <a:t>(d)</a:t>
                      </a:r>
                      <a:r>
                        <a:rPr lang="ja-JP" altLang="en-US" sz="1200" u="none" strike="noStrike">
                          <a:effectLst/>
                          <a:latin typeface="Meiryo UI" panose="020B0604030504040204" pitchFamily="34" charset="-128"/>
                          <a:ea typeface="Meiryo UI" panose="020B0604030504040204" pitchFamily="34" charset="-128"/>
                        </a:rPr>
                        <a:t>位置認識</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4835757"/>
                  </a:ext>
                </a:extLst>
              </a:tr>
              <a:tr h="346808">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l" fontAlgn="ctr"/>
                      <a:r>
                        <a:rPr lang="ja-JP" altLang="en-US" sz="1200" u="none" strike="noStrike">
                          <a:effectLst/>
                          <a:latin typeface="Meiryo UI" panose="020B0604030504040204" pitchFamily="34" charset="-128"/>
                          <a:ea typeface="Meiryo UI" panose="020B0604030504040204" pitchFamily="34" charset="-128"/>
                        </a:rPr>
                        <a:t>計画と決定</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a:t>
                      </a:r>
                      <a:r>
                        <a:rPr lang="ja-JP" altLang="en-US" sz="1200" u="none" strike="noStrike">
                          <a:effectLst/>
                          <a:latin typeface="Meiryo UI" panose="020B0604030504040204" pitchFamily="34" charset="-128"/>
                          <a:ea typeface="Meiryo UI" panose="020B0604030504040204" pitchFamily="34" charset="-128"/>
                        </a:rPr>
                        <a:t>他の道路ユーザの行動予測</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36600627"/>
                  </a:ext>
                </a:extLst>
              </a:tr>
              <a:tr h="346808">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tc>
                <a:tc>
                  <a:txBody>
                    <a:bodyPr/>
                    <a:lstStyle/>
                    <a:p>
                      <a:pPr algn="l" fontAlgn="ctr"/>
                      <a:r>
                        <a:rPr lang="en" sz="1200" u="none" strike="noStrike">
                          <a:effectLst/>
                          <a:latin typeface="Meiryo UI" panose="020B0604030504040204" pitchFamily="34" charset="-128"/>
                          <a:ea typeface="Meiryo UI" panose="020B0604030504040204" pitchFamily="34" charset="-128"/>
                        </a:rPr>
                        <a:t>(b)</a:t>
                      </a:r>
                      <a:r>
                        <a:rPr lang="ja-JP" altLang="en-US" sz="1200" u="none" strike="noStrike">
                          <a:effectLst/>
                          <a:latin typeface="Meiryo UI" panose="020B0604030504040204" pitchFamily="34" charset="-128"/>
                          <a:ea typeface="Meiryo UI" panose="020B0604030504040204" pitchFamily="34" charset="-128"/>
                        </a:rPr>
                        <a:t>応答準備</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9124642"/>
                  </a:ext>
                </a:extLst>
              </a:tr>
              <a:tr h="346808">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tc>
                <a:tc>
                  <a:txBody>
                    <a:bodyPr/>
                    <a:lstStyle/>
                    <a:p>
                      <a:pPr algn="l" fontAlgn="ctr"/>
                      <a:r>
                        <a:rPr lang="en" sz="1200" u="none" strike="noStrike">
                          <a:effectLst/>
                          <a:latin typeface="Meiryo UI" panose="020B0604030504040204" pitchFamily="34" charset="-128"/>
                          <a:ea typeface="Meiryo UI" panose="020B0604030504040204" pitchFamily="34" charset="-128"/>
                        </a:rPr>
                        <a:t>(c)</a:t>
                      </a:r>
                      <a:r>
                        <a:rPr lang="ja-JP" altLang="en-US" sz="1200" u="none" strike="noStrike">
                          <a:effectLst/>
                          <a:latin typeface="Meiryo UI" panose="020B0604030504040204" pitchFamily="34" charset="-128"/>
                          <a:ea typeface="Meiryo UI" panose="020B0604030504040204" pitchFamily="34" charset="-128"/>
                        </a:rPr>
                        <a:t>操作計画</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14338794"/>
                  </a:ext>
                </a:extLst>
              </a:tr>
              <a:tr h="346808">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l" fontAlgn="ctr"/>
                      <a:r>
                        <a:rPr lang="ja-JP" altLang="en-US" sz="1200" u="none" strike="noStrike">
                          <a:effectLst/>
                          <a:latin typeface="Meiryo UI" panose="020B0604030504040204" pitchFamily="34" charset="-128"/>
                          <a:ea typeface="Meiryo UI" panose="020B0604030504040204" pitchFamily="34" charset="-128"/>
                        </a:rPr>
                        <a:t>制御</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a:t>
                      </a:r>
                      <a:r>
                        <a:rPr lang="ja-JP" altLang="en-US" sz="1200" u="none" strike="noStrike">
                          <a:effectLst/>
                          <a:latin typeface="Meiryo UI" panose="020B0604030504040204" pitchFamily="34" charset="-128"/>
                          <a:ea typeface="Meiryo UI" panose="020B0604030504040204" pitchFamily="34" charset="-128"/>
                        </a:rPr>
                        <a:t>物体とイベントへの対応の実施</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38911246"/>
                  </a:ext>
                </a:extLst>
              </a:tr>
              <a:tr h="346808">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tc>
                <a:tc>
                  <a:txBody>
                    <a:bodyPr/>
                    <a:lstStyle/>
                    <a:p>
                      <a:pPr algn="l" fontAlgn="ctr"/>
                      <a:r>
                        <a:rPr lang="en" sz="1200" u="none" strike="noStrike">
                          <a:effectLst/>
                          <a:latin typeface="Meiryo UI" panose="020B0604030504040204" pitchFamily="34" charset="-128"/>
                          <a:ea typeface="Meiryo UI" panose="020B0604030504040204" pitchFamily="34" charset="-128"/>
                        </a:rPr>
                        <a:t>(b)</a:t>
                      </a:r>
                      <a:r>
                        <a:rPr lang="ja-JP" altLang="en-US" sz="1200" u="none" strike="noStrike">
                          <a:effectLst/>
                          <a:latin typeface="Meiryo UI" panose="020B0604030504040204" pitchFamily="34" charset="-128"/>
                          <a:ea typeface="Meiryo UI" panose="020B0604030504040204" pitchFamily="34" charset="-128"/>
                        </a:rPr>
                        <a:t>車両の横方向の運動制御</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23633431"/>
                  </a:ext>
                </a:extLst>
              </a:tr>
              <a:tr h="346808">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tc>
                <a:tc>
                  <a:txBody>
                    <a:bodyPr/>
                    <a:lstStyle/>
                    <a:p>
                      <a:pPr algn="l" fontAlgn="ctr"/>
                      <a:r>
                        <a:rPr lang="en" sz="1200" u="none" strike="noStrike">
                          <a:effectLst/>
                          <a:latin typeface="Meiryo UI" panose="020B0604030504040204" pitchFamily="34" charset="-128"/>
                          <a:ea typeface="Meiryo UI" panose="020B0604030504040204" pitchFamily="34" charset="-128"/>
                        </a:rPr>
                        <a:t>(c)</a:t>
                      </a:r>
                      <a:r>
                        <a:rPr lang="ja-JP" altLang="en-US" sz="1200" u="none" strike="noStrike">
                          <a:effectLst/>
                          <a:latin typeface="Meiryo UI" panose="020B0604030504040204" pitchFamily="34" charset="-128"/>
                          <a:ea typeface="Meiryo UI" panose="020B0604030504040204" pitchFamily="34" charset="-128"/>
                        </a:rPr>
                        <a:t>車両の縦方向の運動制御</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5716471"/>
                  </a:ext>
                </a:extLst>
              </a:tr>
              <a:tr h="346808">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tc>
                <a:tc>
                  <a:txBody>
                    <a:bodyPr/>
                    <a:lstStyle/>
                    <a:p>
                      <a:pPr algn="l" fontAlgn="ctr"/>
                      <a:r>
                        <a:rPr lang="en" sz="1200" u="none" strike="noStrike">
                          <a:effectLst/>
                          <a:latin typeface="Meiryo UI" panose="020B0604030504040204" pitchFamily="34" charset="-128"/>
                          <a:ea typeface="Meiryo UI" panose="020B0604030504040204" pitchFamily="34" charset="-128"/>
                        </a:rPr>
                        <a:t>(d)</a:t>
                      </a:r>
                      <a:r>
                        <a:rPr lang="ja-JP" altLang="en-US" sz="1200" u="none" strike="noStrike">
                          <a:effectLst/>
                          <a:latin typeface="Meiryo UI" panose="020B0604030504040204" pitchFamily="34" charset="-128"/>
                          <a:ea typeface="Meiryo UI" panose="020B0604030504040204" pitchFamily="34" charset="-128"/>
                        </a:rPr>
                        <a:t>照明と信号による視認性の向上</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8397037"/>
                  </a:ext>
                </a:extLst>
              </a:tr>
            </a:tbl>
          </a:graphicData>
        </a:graphic>
      </p:graphicFrame>
      <p:sp>
        <p:nvSpPr>
          <p:cNvPr id="3" name="テキスト ボックス 2">
            <a:extLst>
              <a:ext uri="{FF2B5EF4-FFF2-40B4-BE49-F238E27FC236}">
                <a16:creationId xmlns:a16="http://schemas.microsoft.com/office/drawing/2014/main" id="{6FF49585-9741-957B-432B-9318DAF930CE}"/>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3</a:t>
            </a:r>
            <a:r>
              <a:rPr lang="ja-JP" altLang="en-US">
                <a:solidFill>
                  <a:schemeClr val="bg1"/>
                </a:solidFill>
                <a:latin typeface="Meiryo UI" panose="020B0604030504040204" pitchFamily="50" charset="-128"/>
                <a:ea typeface="Meiryo UI" panose="020B0604030504040204" pitchFamily="50" charset="-128"/>
              </a:rPr>
              <a:t>　用語と定義</a:t>
            </a:r>
          </a:p>
        </p:txBody>
      </p:sp>
    </p:spTree>
    <p:extLst>
      <p:ext uri="{BB962C8B-B14F-4D97-AF65-F5344CB8AC3E}">
        <p14:creationId xmlns:p14="http://schemas.microsoft.com/office/powerpoint/2010/main" val="767309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247E26C2-54D1-5608-A128-6F8DE5D03854}"/>
              </a:ext>
            </a:extLst>
          </p:cNvPr>
          <p:cNvGraphicFramePr>
            <a:graphicFrameLocks noGrp="1"/>
          </p:cNvGraphicFramePr>
          <p:nvPr>
            <p:extLst>
              <p:ext uri="{D42A27DB-BD31-4B8C-83A1-F6EECF244321}">
                <p14:modId xmlns:p14="http://schemas.microsoft.com/office/powerpoint/2010/main" val="3733321154"/>
              </p:ext>
            </p:extLst>
          </p:nvPr>
        </p:nvGraphicFramePr>
        <p:xfrm>
          <a:off x="0" y="505551"/>
          <a:ext cx="12192000" cy="5846897"/>
        </p:xfrm>
        <a:graphic>
          <a:graphicData uri="http://schemas.openxmlformats.org/drawingml/2006/table">
            <a:tbl>
              <a:tblPr>
                <a:tableStyleId>{5C22544A-7EE6-4342-B048-85BDC9FD1C3A}</a:tableStyleId>
              </a:tblPr>
              <a:tblGrid>
                <a:gridCol w="2345655">
                  <a:extLst>
                    <a:ext uri="{9D8B030D-6E8A-4147-A177-3AD203B41FA5}">
                      <a16:colId xmlns:a16="http://schemas.microsoft.com/office/drawing/2014/main" val="2297479561"/>
                    </a:ext>
                  </a:extLst>
                </a:gridCol>
                <a:gridCol w="9846345">
                  <a:extLst>
                    <a:ext uri="{9D8B030D-6E8A-4147-A177-3AD203B41FA5}">
                      <a16:colId xmlns:a16="http://schemas.microsoft.com/office/drawing/2014/main" val="4070798629"/>
                    </a:ext>
                  </a:extLst>
                </a:gridCol>
              </a:tblGrid>
              <a:tr h="329005">
                <a:tc>
                  <a:txBody>
                    <a:bodyPr/>
                    <a:lstStyle/>
                    <a:p>
                      <a:pPr algn="ctr" fontAlgn="ctr"/>
                      <a:r>
                        <a:rPr lang="ja-JP" altLang="en-US" sz="1200" u="none" strike="noStrike" dirty="0">
                          <a:effectLst/>
                          <a:latin typeface="Meiryo UI" panose="020B0604030504040204" pitchFamily="34" charset="-128"/>
                          <a:ea typeface="Meiryo UI" panose="020B0604030504040204" pitchFamily="34" charset="-128"/>
                        </a:rPr>
                        <a:t>ストラジックファンクション</a:t>
                      </a:r>
                      <a:r>
                        <a:rPr lang="en-US" altLang="ja-JP" sz="1200" u="none" strike="noStrike" dirty="0">
                          <a:effectLst/>
                          <a:latin typeface="Meiryo UI" panose="020B0604030504040204" pitchFamily="34" charset="-128"/>
                          <a:ea typeface="Meiryo UI" panose="020B0604030504040204" pitchFamily="34" charset="-128"/>
                        </a:rPr>
                        <a:t>※</a:t>
                      </a:r>
                      <a:endParaRPr lang="en-US" altLang="ja-JP" sz="1200" b="0" i="0" u="none" strike="noStrike" dirty="0">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による実行のためのコマンド、指示、またはガイダンスを発令する能力</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1279505"/>
                  </a:ext>
                </a:extLst>
              </a:tr>
              <a:tr h="329005">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タクティカルファンクション</a:t>
                      </a:r>
                      <a:r>
                        <a:rPr lang="en-US" altLang="ja-JP" sz="1200" u="none" strike="noStrike">
                          <a:effectLst/>
                          <a:latin typeface="Meiryo UI" panose="020B0604030504040204" pitchFamily="34" charset="-128"/>
                          <a:ea typeface="Meiryo UI" panose="020B0604030504040204" pitchFamily="34" charset="-128"/>
                        </a:rPr>
                        <a:t>※</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車両環境を認識し、車両とその動作の視認性を含む操作のリアルタイムの計画、決定と実行を制御する能力</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266047"/>
                  </a:ext>
                </a:extLst>
              </a:tr>
              <a:tr h="584166">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オペレーショナルファンクション</a:t>
                      </a:r>
                      <a:r>
                        <a:rPr lang="en-US" altLang="ja-JP" sz="1200" u="none" strike="noStrike">
                          <a:effectLst/>
                          <a:latin typeface="Meiryo UI" panose="020B0604030504040204" pitchFamily="34" charset="-128"/>
                          <a:ea typeface="Meiryo UI" panose="020B0604030504040204" pitchFamily="34" charset="-128"/>
                        </a:rPr>
                        <a:t>※</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車両のリアルタイムの動きを制御する機能</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603412"/>
                  </a:ext>
                </a:extLst>
              </a:tr>
              <a:tr h="656661">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エッジケース</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ODD</a:t>
                      </a:r>
                      <a:r>
                        <a:rPr lang="ja-JP" altLang="en-US" sz="1200" u="none" strike="noStrike">
                          <a:effectLst/>
                          <a:latin typeface="Meiryo UI" panose="020B0604030504040204" pitchFamily="34" charset="-128"/>
                          <a:ea typeface="Meiryo UI" panose="020B0604030504040204" pitchFamily="34" charset="-128"/>
                        </a:rPr>
                        <a:t>内で発生する可能性のある低頻度の出来事を意味し、そのような状況や状態に遭遇した場合、</a:t>
                      </a:r>
                      <a:endParaRPr lang="en-US" altLang="ja-JP" sz="1200" u="none" strike="noStrike">
                        <a:effectLst/>
                        <a:latin typeface="Meiryo UI" panose="020B0604030504040204" pitchFamily="34" charset="-128"/>
                        <a:ea typeface="Meiryo UI" panose="020B0604030504040204" pitchFamily="34" charset="-128"/>
                      </a:endParaRPr>
                    </a:p>
                    <a:p>
                      <a:pPr algn="l" fontAlgn="ctr"/>
                      <a:r>
                        <a:rPr lang="ja-JP" altLang="en-US" sz="1200" u="none" strike="noStrike">
                          <a:effectLst/>
                          <a:latin typeface="Meiryo UI" panose="020B0604030504040204" pitchFamily="34" charset="-128"/>
                          <a:ea typeface="Meiryo UI" panose="020B0604030504040204" pitchFamily="34" charset="-128"/>
                        </a:rPr>
                        <a:t>深刻な結果が生じるの可能性があるため、特に設計上の注意を払う必要がある</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5073969"/>
                  </a:ext>
                </a:extLst>
              </a:tr>
              <a:tr h="329005">
                <a:tc>
                  <a:txBody>
                    <a:bodyPr/>
                    <a:lstStyle/>
                    <a:p>
                      <a:pPr algn="ctr" fontAlgn="ctr"/>
                      <a:r>
                        <a:rPr lang="en" altLang="ja-JP"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縮退運転応答</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dirty="0">
                          <a:effectLst/>
                          <a:latin typeface="Meiryo UI" panose="020B0604030504040204" pitchFamily="34" charset="-128"/>
                          <a:ea typeface="Meiryo UI" panose="020B0604030504040204" pitchFamily="34" charset="-128"/>
                        </a:rPr>
                        <a:t>車両を最小限のリスク状態に置くための、システム起因の</a:t>
                      </a:r>
                      <a:r>
                        <a:rPr lang="en" sz="1200" u="none" strike="noStrike" dirty="0">
                          <a:effectLst/>
                          <a:latin typeface="Meiryo UI" panose="020B0604030504040204" pitchFamily="34" charset="-128"/>
                          <a:ea typeface="Meiryo UI" panose="020B0604030504040204" pitchFamily="34" charset="-128"/>
                        </a:rPr>
                        <a:t>ADS</a:t>
                      </a:r>
                      <a:r>
                        <a:rPr lang="ja-JP" altLang="en-US" sz="1200" u="none" strike="noStrike" dirty="0">
                          <a:effectLst/>
                          <a:latin typeface="Meiryo UI" panose="020B0604030504040204" pitchFamily="34" charset="-128"/>
                          <a:ea typeface="Meiryo UI" panose="020B0604030504040204" pitchFamily="34" charset="-128"/>
                        </a:rPr>
                        <a:t>の非開始、または</a:t>
                      </a:r>
                      <a:r>
                        <a:rPr lang="en" sz="1200" u="none" strike="noStrike" dirty="0">
                          <a:effectLst/>
                          <a:latin typeface="Meiryo UI" panose="020B0604030504040204" pitchFamily="34" charset="-128"/>
                          <a:ea typeface="Meiryo UI" panose="020B0604030504040204" pitchFamily="34" charset="-128"/>
                        </a:rPr>
                        <a:t>ADS</a:t>
                      </a:r>
                      <a:r>
                        <a:rPr lang="ja-JP" altLang="en-US" sz="1200" u="none" strike="noStrike" dirty="0">
                          <a:effectLst/>
                          <a:latin typeface="Meiryo UI" panose="020B0604030504040204" pitchFamily="34" charset="-128"/>
                          <a:ea typeface="Meiryo UI" panose="020B0604030504040204" pitchFamily="34" charset="-128"/>
                        </a:rPr>
                        <a:t>によって制御される手順</a:t>
                      </a:r>
                      <a:endParaRPr lang="en-US" altLang="ja-JP" sz="1200" b="0" i="0" u="none" strike="noStrike" dirty="0">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5757315"/>
                  </a:ext>
                </a:extLst>
              </a:tr>
              <a:tr h="329005">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縮退運転ユーザ</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縮退運転応答に従って</a:t>
                      </a:r>
                      <a:r>
                        <a:rPr lang="en" sz="1200" u="none" strike="noStrike">
                          <a:effectLst/>
                          <a:latin typeface="Meiryo UI" panose="020B0604030504040204" pitchFamily="34" charset="-128"/>
                          <a:ea typeface="Meiryo UI" panose="020B0604030504040204" pitchFamily="34" charset="-128"/>
                        </a:rPr>
                        <a:t>DDT</a:t>
                      </a:r>
                      <a:r>
                        <a:rPr lang="ja-JP" altLang="en-US" sz="1200" u="none" strike="noStrike">
                          <a:effectLst/>
                          <a:latin typeface="Meiryo UI" panose="020B0604030504040204" pitchFamily="34" charset="-128"/>
                          <a:ea typeface="Meiryo UI" panose="020B0604030504040204" pitchFamily="34" charset="-128"/>
                        </a:rPr>
                        <a:t>を実行するように指定されたユーザ</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8077180"/>
                  </a:ext>
                </a:extLst>
              </a:tr>
              <a:tr h="329005">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リスク最小状態</a:t>
                      </a:r>
                      <a:r>
                        <a:rPr lang="en-US" altLang="ja-JP" sz="1200" u="none" strike="noStrike">
                          <a:effectLst/>
                          <a:latin typeface="Meiryo UI" panose="020B0604030504040204" pitchFamily="34" charset="-128"/>
                          <a:ea typeface="Meiryo UI" panose="020B0604030504040204" pitchFamily="34" charset="-128"/>
                        </a:rPr>
                        <a:t>(</a:t>
                      </a:r>
                      <a:r>
                        <a:rPr lang="en" altLang="ja-JP" sz="1200" u="none" strike="noStrike">
                          <a:effectLst/>
                          <a:latin typeface="Meiryo UI" panose="020B0604030504040204" pitchFamily="34" charset="-128"/>
                          <a:ea typeface="Meiryo UI" panose="020B0604030504040204" pitchFamily="34" charset="-128"/>
                        </a:rPr>
                        <a:t>MRC)</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衝突リスクを低減する車両の安定した停止状態</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0556673"/>
                  </a:ext>
                </a:extLst>
              </a:tr>
              <a:tr h="329005">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モデル</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システム、エンティティ、現象、またはプロセスの説明、または表現</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3840559"/>
                  </a:ext>
                </a:extLst>
              </a:tr>
              <a:tr h="329005">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モデルキャリブレーション</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対象との一致性を改善するために、モデル内の数値パラメータまたはモデリングパラメータを調整するプロセス</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3558062"/>
                  </a:ext>
                </a:extLst>
              </a:tr>
              <a:tr h="329005">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モデルパラメータ</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実世界から推測される数値であり、システムの機能性を特徴づけるのに使用される</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5693902"/>
                  </a:ext>
                </a:extLst>
              </a:tr>
              <a:tr h="329005">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事象</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車両を取り巻く安全に関わる出来事を示す</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82698"/>
                  </a:ext>
                </a:extLst>
              </a:tr>
              <a:tr h="329005">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危険でない事象</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の安全性に影響を与えた、または影響を与えた可能性があるが、衝突や重大なインシデントには至らなかった、動作の中断、欠陥、故障、またはその他の状況</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4288866"/>
                  </a:ext>
                </a:extLst>
              </a:tr>
              <a:tr h="329005">
                <a:tc rowSpan="4">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危険な事象</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事象のうち、次のクライテリアの少なくとも</a:t>
                      </a:r>
                      <a:r>
                        <a:rPr lang="en-US" altLang="ja-JP" sz="1200" u="none" strike="noStrike">
                          <a:effectLst/>
                          <a:latin typeface="Meiryo UI" panose="020B0604030504040204" pitchFamily="34" charset="-128"/>
                          <a:ea typeface="Meiryo UI" panose="020B0604030504040204" pitchFamily="34" charset="-128"/>
                        </a:rPr>
                        <a:t>1</a:t>
                      </a:r>
                      <a:r>
                        <a:rPr lang="ja-JP" altLang="en-US" sz="1200" u="none" strike="noStrike">
                          <a:effectLst/>
                          <a:latin typeface="Meiryo UI" panose="020B0604030504040204" pitchFamily="34" charset="-128"/>
                          <a:ea typeface="Meiryo UI" panose="020B0604030504040204" pitchFamily="34" charset="-128"/>
                        </a:rPr>
                        <a:t>つを満たす事象</a:t>
                      </a:r>
                      <a:r>
                        <a:rPr lang="en-US" altLang="ja-JP" sz="1200" u="none" strike="noStrike">
                          <a:effectLst/>
                          <a:latin typeface="Meiryo UI" panose="020B0604030504040204" pitchFamily="34" charset="-128"/>
                          <a:ea typeface="Meiryo UI" panose="020B0604030504040204" pitchFamily="34" charset="-128"/>
                        </a:rPr>
                        <a:t>:</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0322524"/>
                  </a:ext>
                </a:extLst>
              </a:tr>
              <a:tr h="329005">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a:t>
                      </a:r>
                      <a:r>
                        <a:rPr lang="ja-JP" altLang="en-US" sz="1200" u="none" strike="noStrike">
                          <a:effectLst/>
                          <a:latin typeface="Meiryo UI" panose="020B0604030504040204" pitchFamily="34" charset="-128"/>
                          <a:ea typeface="Meiryo UI" panose="020B0604030504040204" pitchFamily="34" charset="-128"/>
                        </a:rPr>
                        <a:t>少なくとも</a:t>
                      </a:r>
                      <a:r>
                        <a:rPr lang="en-US" altLang="ja-JP" sz="1200" u="none" strike="noStrike">
                          <a:effectLst/>
                          <a:latin typeface="Meiryo UI" panose="020B0604030504040204" pitchFamily="34" charset="-128"/>
                          <a:ea typeface="Meiryo UI" panose="020B0604030504040204" pitchFamily="34" charset="-128"/>
                        </a:rPr>
                        <a:t>1</a:t>
                      </a:r>
                      <a:r>
                        <a:rPr lang="ja-JP" altLang="en-US" sz="1200" u="none" strike="noStrike">
                          <a:effectLst/>
                          <a:latin typeface="Meiryo UI" panose="020B0604030504040204" pitchFamily="34" charset="-128"/>
                          <a:ea typeface="Meiryo UI" panose="020B0604030504040204" pitchFamily="34" charset="-128"/>
                        </a:rPr>
                        <a:t>人が、車両に乗車しているか、またはイベントに巻き込まれた結果、医師の診察を必要とする怪我を負ったか、死亡した場合</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6124038"/>
                  </a:ext>
                </a:extLst>
              </a:tr>
              <a:tr h="329005">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(b)ADS</a:t>
                      </a:r>
                      <a:r>
                        <a:rPr lang="ja-JP" altLang="en-US" sz="1200" u="none" strike="noStrike">
                          <a:effectLst/>
                          <a:latin typeface="Meiryo UI" panose="020B0604030504040204" pitchFamily="34" charset="-128"/>
                          <a:ea typeface="Meiryo UI" panose="020B0604030504040204" pitchFamily="34" charset="-128"/>
                        </a:rPr>
                        <a:t>車両、他の車両、または静止物体が一定の閾値を超える物理的損傷を受けた場合</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9842982"/>
                  </a:ext>
                </a:extLst>
              </a:tr>
              <a:tr h="329005">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(c)</a:t>
                      </a:r>
                      <a:r>
                        <a:rPr lang="ja-JP" altLang="en-US" sz="1200" u="none" strike="noStrike">
                          <a:effectLst/>
                          <a:latin typeface="Meiryo UI" panose="020B0604030504040204" pitchFamily="34" charset="-128"/>
                          <a:ea typeface="Meiryo UI" panose="020B0604030504040204" pitchFamily="34" charset="-128"/>
                        </a:rPr>
                        <a:t>イベントに巻き込まれた車両のエアバッグが発動する</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1581163"/>
                  </a:ext>
                </a:extLst>
              </a:tr>
            </a:tbl>
          </a:graphicData>
        </a:graphic>
      </p:graphicFrame>
      <p:sp>
        <p:nvSpPr>
          <p:cNvPr id="3" name="テキスト ボックス 2">
            <a:extLst>
              <a:ext uri="{FF2B5EF4-FFF2-40B4-BE49-F238E27FC236}">
                <a16:creationId xmlns:a16="http://schemas.microsoft.com/office/drawing/2014/main" id="{B536500F-E674-3FC8-E3CD-EF02EB7BF0FB}"/>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3</a:t>
            </a:r>
            <a:r>
              <a:rPr lang="ja-JP" altLang="en-US">
                <a:solidFill>
                  <a:schemeClr val="bg1"/>
                </a:solidFill>
                <a:latin typeface="Meiryo UI" panose="020B0604030504040204" pitchFamily="50" charset="-128"/>
                <a:ea typeface="Meiryo UI" panose="020B0604030504040204" pitchFamily="50" charset="-128"/>
              </a:rPr>
              <a:t>　用語と定義</a:t>
            </a:r>
          </a:p>
        </p:txBody>
      </p:sp>
      <p:sp>
        <p:nvSpPr>
          <p:cNvPr id="5" name="テキスト ボックス 4">
            <a:extLst>
              <a:ext uri="{FF2B5EF4-FFF2-40B4-BE49-F238E27FC236}">
                <a16:creationId xmlns:a16="http://schemas.microsoft.com/office/drawing/2014/main" id="{AC04D128-76B1-9A7A-BED7-CC02B9074C70}"/>
              </a:ext>
            </a:extLst>
          </p:cNvPr>
          <p:cNvSpPr txBox="1"/>
          <p:nvPr/>
        </p:nvSpPr>
        <p:spPr>
          <a:xfrm>
            <a:off x="9976338" y="458467"/>
            <a:ext cx="2121878" cy="276999"/>
          </a:xfrm>
          <a:prstGeom prst="rect">
            <a:avLst/>
          </a:prstGeom>
          <a:noFill/>
        </p:spPr>
        <p:txBody>
          <a:bodyPr wrap="square">
            <a:spAutoFit/>
          </a:bodyPr>
          <a:lstStyle/>
          <a:p>
            <a:r>
              <a:rPr lang="en-US" altLang="ja-JP" sz="1200" u="none" strike="noStrike">
                <a:effectLst/>
                <a:latin typeface="Meiryo UI" panose="020B0604030504040204" pitchFamily="34" charset="-128"/>
                <a:ea typeface="Meiryo UI" panose="020B0604030504040204" pitchFamily="34" charset="-128"/>
              </a:rPr>
              <a:t>※Annex1</a:t>
            </a:r>
            <a:r>
              <a:rPr lang="ja-JP" altLang="en-US" sz="1200">
                <a:latin typeface="Meiryo UI" panose="020B0604030504040204" pitchFamily="34" charset="-128"/>
                <a:ea typeface="Meiryo UI" panose="020B0604030504040204" pitchFamily="34" charset="-128"/>
              </a:rPr>
              <a:t>に定義の詳細あり</a:t>
            </a:r>
            <a:endParaRPr lang="en-US" altLang="ja-JP" sz="1200" u="none" strike="noStrike">
              <a:effectLst/>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203378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0DE72C02-C1F5-648D-4267-9AA83AD81250}"/>
              </a:ext>
            </a:extLst>
          </p:cNvPr>
          <p:cNvGraphicFramePr>
            <a:graphicFrameLocks noGrp="1"/>
          </p:cNvGraphicFramePr>
          <p:nvPr>
            <p:extLst>
              <p:ext uri="{D42A27DB-BD31-4B8C-83A1-F6EECF244321}">
                <p14:modId xmlns:p14="http://schemas.microsoft.com/office/powerpoint/2010/main" val="2050155060"/>
              </p:ext>
            </p:extLst>
          </p:nvPr>
        </p:nvGraphicFramePr>
        <p:xfrm>
          <a:off x="0" y="505547"/>
          <a:ext cx="12192000" cy="5846906"/>
        </p:xfrm>
        <a:graphic>
          <a:graphicData uri="http://schemas.openxmlformats.org/drawingml/2006/table">
            <a:tbl>
              <a:tblPr>
                <a:tableStyleId>{5C22544A-7EE6-4342-B048-85BDC9FD1C3A}</a:tableStyleId>
              </a:tblPr>
              <a:tblGrid>
                <a:gridCol w="2130136">
                  <a:extLst>
                    <a:ext uri="{9D8B030D-6E8A-4147-A177-3AD203B41FA5}">
                      <a16:colId xmlns:a16="http://schemas.microsoft.com/office/drawing/2014/main" val="3938135356"/>
                    </a:ext>
                  </a:extLst>
                </a:gridCol>
                <a:gridCol w="10061864">
                  <a:extLst>
                    <a:ext uri="{9D8B030D-6E8A-4147-A177-3AD203B41FA5}">
                      <a16:colId xmlns:a16="http://schemas.microsoft.com/office/drawing/2014/main" val="3940949204"/>
                    </a:ext>
                  </a:extLst>
                </a:gridCol>
              </a:tblGrid>
              <a:tr h="325136">
                <a:tc>
                  <a:txBody>
                    <a:bodyPr/>
                    <a:lstStyle/>
                    <a:p>
                      <a:pPr algn="ctr" fontAlgn="ctr"/>
                      <a:r>
                        <a:rPr lang="ja-JP" altLang="en-US" sz="1200" u="none" strike="noStrike" dirty="0">
                          <a:effectLst/>
                          <a:latin typeface="Meiryo UI" panose="020B0604030504040204" pitchFamily="34" charset="-128"/>
                          <a:ea typeface="Meiryo UI" panose="020B0604030504040204" pitchFamily="34" charset="-128"/>
                        </a:rPr>
                        <a:t>運行設計領域 </a:t>
                      </a:r>
                      <a:r>
                        <a:rPr lang="en-US" altLang="ja-JP" sz="1200" u="none" strike="noStrike" dirty="0">
                          <a:effectLst/>
                          <a:latin typeface="Meiryo UI" panose="020B0604030504040204" pitchFamily="34" charset="-128"/>
                          <a:ea typeface="Meiryo UI" panose="020B0604030504040204" pitchFamily="34" charset="-128"/>
                        </a:rPr>
                        <a:t>(</a:t>
                      </a:r>
                      <a:r>
                        <a:rPr lang="en" altLang="ja-JP" sz="1200" u="none" strike="noStrike" dirty="0">
                          <a:effectLst/>
                          <a:latin typeface="Meiryo UI" panose="020B0604030504040204" pitchFamily="34" charset="-128"/>
                          <a:ea typeface="Meiryo UI" panose="020B0604030504040204" pitchFamily="34" charset="-128"/>
                        </a:rPr>
                        <a:t>ODD)</a:t>
                      </a:r>
                      <a:endParaRPr lang="en-US" altLang="ja-JP" sz="1200" b="0" i="0" u="none" strike="noStrike" dirty="0">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dirty="0">
                          <a:effectLst/>
                          <a:latin typeface="Meiryo UI" panose="020B0604030504040204" pitchFamily="34" charset="-128"/>
                          <a:ea typeface="Meiryo UI" panose="020B0604030504040204" pitchFamily="34" charset="-128"/>
                        </a:rPr>
                        <a:t>ADS</a:t>
                      </a:r>
                      <a:r>
                        <a:rPr lang="ja-JP" altLang="en-US" sz="1200" u="none" strike="noStrike" dirty="0">
                          <a:effectLst/>
                          <a:latin typeface="Meiryo UI" panose="020B0604030504040204" pitchFamily="34" charset="-128"/>
                          <a:ea typeface="Meiryo UI" panose="020B0604030504040204" pitchFamily="34" charset="-128"/>
                        </a:rPr>
                        <a:t>フィーチャが動くように設計された特定の運行環境</a:t>
                      </a:r>
                      <a:endParaRPr lang="en-US" altLang="ja-JP" sz="1200" b="0" i="0" u="none" strike="noStrike" dirty="0">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1952693"/>
                  </a:ext>
                </a:extLst>
              </a:tr>
              <a:tr h="325136">
                <a:tc rowSpan="2">
                  <a:txBody>
                    <a:bodyPr/>
                    <a:lstStyle/>
                    <a:p>
                      <a:pPr algn="ctr" fontAlgn="ctr"/>
                      <a:r>
                        <a:rPr lang="en" altLang="ja-JP" sz="1200" u="none" strike="noStrike">
                          <a:effectLst/>
                          <a:latin typeface="Meiryo UI" panose="020B0604030504040204" pitchFamily="34" charset="-128"/>
                          <a:ea typeface="Meiryo UI" panose="020B0604030504040204" pitchFamily="34" charset="-128"/>
                        </a:rPr>
                        <a:t>ODD</a:t>
                      </a:r>
                      <a:r>
                        <a:rPr lang="ja-JP" altLang="en-US" sz="1200" u="none" strike="noStrike">
                          <a:effectLst/>
                          <a:latin typeface="Meiryo UI" panose="020B0604030504040204" pitchFamily="34" charset="-128"/>
                          <a:ea typeface="Meiryo UI" panose="020B0604030504040204" pitchFamily="34" charset="-128"/>
                        </a:rPr>
                        <a:t>外</a:t>
                      </a:r>
                      <a:endParaRPr lang="ja-JP" altLang="en-US"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dirty="0">
                          <a:effectLst/>
                          <a:latin typeface="Meiryo UI" panose="020B0604030504040204" pitchFamily="34" charset="-128"/>
                          <a:ea typeface="Meiryo UI" panose="020B0604030504040204" pitchFamily="34" charset="-128"/>
                        </a:rPr>
                        <a:t>(a)ADS</a:t>
                      </a:r>
                      <a:r>
                        <a:rPr lang="ja-JP" altLang="en-US" sz="1200" u="none" strike="noStrike" dirty="0">
                          <a:effectLst/>
                          <a:latin typeface="Meiryo UI" panose="020B0604030504040204" pitchFamily="34" charset="-128"/>
                          <a:ea typeface="Meiryo UI" panose="020B0604030504040204" pitchFamily="34" charset="-128"/>
                        </a:rPr>
                        <a:t>フィーチャの使用に対して定義された制限を超えた</a:t>
                      </a:r>
                      <a:r>
                        <a:rPr lang="en-US" altLang="ja-JP" sz="1200" u="none" strike="noStrike" dirty="0">
                          <a:effectLst/>
                          <a:latin typeface="Meiryo UI" panose="020B0604030504040204" pitchFamily="34" charset="-128"/>
                          <a:ea typeface="Meiryo UI" panose="020B0604030504040204" pitchFamily="34" charset="-128"/>
                        </a:rPr>
                        <a:t>1</a:t>
                      </a:r>
                      <a:r>
                        <a:rPr lang="ja-JP" altLang="en-US" sz="1200" u="none" strike="noStrike" dirty="0">
                          <a:effectLst/>
                          <a:latin typeface="Meiryo UI" panose="020B0604030504040204" pitchFamily="34" charset="-128"/>
                          <a:ea typeface="Meiryo UI" panose="020B0604030504040204" pitchFamily="34" charset="-128"/>
                        </a:rPr>
                        <a:t>つ以上の</a:t>
                      </a:r>
                      <a:r>
                        <a:rPr lang="en" sz="1200" u="none" strike="noStrike" dirty="0">
                          <a:effectLst/>
                          <a:latin typeface="Meiryo UI" panose="020B0604030504040204" pitchFamily="34" charset="-128"/>
                          <a:ea typeface="Meiryo UI" panose="020B0604030504040204" pitchFamily="34" charset="-128"/>
                        </a:rPr>
                        <a:t>ODD</a:t>
                      </a:r>
                      <a:r>
                        <a:rPr lang="ja-JP" altLang="en-US" sz="1200" u="none" strike="noStrike" dirty="0">
                          <a:effectLst/>
                          <a:latin typeface="Meiryo UI" panose="020B0604030504040204" pitchFamily="34" charset="-128"/>
                          <a:ea typeface="Meiryo UI" panose="020B0604030504040204" pitchFamily="34" charset="-128"/>
                        </a:rPr>
                        <a:t>条件の存在、かつ</a:t>
                      </a:r>
                      <a:r>
                        <a:rPr lang="en-US" altLang="ja-JP" sz="1200" u="none" strike="noStrike" dirty="0">
                          <a:effectLst/>
                          <a:latin typeface="Meiryo UI" panose="020B0604030504040204" pitchFamily="34" charset="-128"/>
                          <a:ea typeface="Meiryo UI" panose="020B0604030504040204" pitchFamily="34" charset="-128"/>
                        </a:rPr>
                        <a:t>/</a:t>
                      </a:r>
                      <a:r>
                        <a:rPr lang="ja-JP" altLang="en-US" sz="1200" u="none" strike="noStrike" dirty="0">
                          <a:effectLst/>
                          <a:latin typeface="Meiryo UI" panose="020B0604030504040204" pitchFamily="34" charset="-128"/>
                          <a:ea typeface="Meiryo UI" panose="020B0604030504040204" pitchFamily="34" charset="-128"/>
                        </a:rPr>
                        <a:t>または</a:t>
                      </a:r>
                      <a:endParaRPr lang="ja-JP" altLang="en-US" sz="1200" b="0" i="0" u="none" strike="noStrike" dirty="0">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3319815"/>
                  </a:ext>
                </a:extLst>
              </a:tr>
              <a:tr h="325136">
                <a:tc vMerge="1">
                  <a:txBody>
                    <a:bodyPr/>
                    <a:lstStyle/>
                    <a:p>
                      <a:pPr algn="l" fontAlgn="ct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 sz="1200" u="none" strike="noStrike" dirty="0">
                          <a:effectLst/>
                          <a:latin typeface="Meiryo UI" panose="020B0604030504040204" pitchFamily="34" charset="-128"/>
                          <a:ea typeface="Meiryo UI" panose="020B0604030504040204" pitchFamily="34" charset="-128"/>
                        </a:rPr>
                        <a:t>(b)ADS</a:t>
                      </a:r>
                      <a:r>
                        <a:rPr lang="ja-JP" altLang="en-US" sz="1200" u="none" strike="noStrike" dirty="0">
                          <a:effectLst/>
                          <a:latin typeface="Meiryo UI" panose="020B0604030504040204" pitchFamily="34" charset="-128"/>
                          <a:ea typeface="Meiryo UI" panose="020B0604030504040204" pitchFamily="34" charset="-128"/>
                        </a:rPr>
                        <a:t>フィーチャの</a:t>
                      </a:r>
                      <a:r>
                        <a:rPr lang="en" sz="1200" u="none" strike="noStrike" dirty="0">
                          <a:effectLst/>
                          <a:latin typeface="Meiryo UI" panose="020B0604030504040204" pitchFamily="34" charset="-128"/>
                          <a:ea typeface="Meiryo UI" panose="020B0604030504040204" pitchFamily="34" charset="-128"/>
                        </a:rPr>
                        <a:t>ODD</a:t>
                      </a:r>
                      <a:r>
                        <a:rPr lang="ja-JP" altLang="en-US" sz="1200" u="none" strike="noStrike" dirty="0">
                          <a:effectLst/>
                          <a:latin typeface="Meiryo UI" panose="020B0604030504040204" pitchFamily="34" charset="-128"/>
                          <a:ea typeface="Meiryo UI" panose="020B0604030504040204" pitchFamily="34" charset="-128"/>
                        </a:rPr>
                        <a:t>条件を満たすために必要な</a:t>
                      </a:r>
                      <a:r>
                        <a:rPr lang="en-US" altLang="ja-JP" sz="1200" u="none" strike="noStrike" dirty="0">
                          <a:effectLst/>
                          <a:latin typeface="Meiryo UI" panose="020B0604030504040204" pitchFamily="34" charset="-128"/>
                          <a:ea typeface="Meiryo UI" panose="020B0604030504040204" pitchFamily="34" charset="-128"/>
                        </a:rPr>
                        <a:t>1</a:t>
                      </a:r>
                      <a:r>
                        <a:rPr lang="ja-JP" altLang="en-US" sz="1200" u="none" strike="noStrike" dirty="0">
                          <a:effectLst/>
                          <a:latin typeface="Meiryo UI" panose="020B0604030504040204" pitchFamily="34" charset="-128"/>
                          <a:ea typeface="Meiryo UI" panose="020B0604030504040204" pitchFamily="34" charset="-128"/>
                        </a:rPr>
                        <a:t>つ以上の条件が存在しない</a:t>
                      </a:r>
                      <a:endParaRPr lang="en-US" altLang="ja-JP" sz="1200" b="0" i="0" u="none" strike="noStrike" dirty="0">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2206282"/>
                  </a:ext>
                </a:extLst>
              </a:tr>
              <a:tr h="325136">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その他の道路ユーザ</a:t>
                      </a:r>
                      <a:r>
                        <a:rPr lang="en-US" altLang="ja-JP" sz="1200" u="none" strike="noStrike">
                          <a:effectLst/>
                          <a:latin typeface="Meiryo UI" panose="020B0604030504040204" pitchFamily="34" charset="-128"/>
                          <a:ea typeface="Meiryo UI" panose="020B0604030504040204" pitchFamily="34" charset="-128"/>
                        </a:rPr>
                        <a:t>(</a:t>
                      </a:r>
                      <a:r>
                        <a:rPr lang="en" altLang="ja-JP" sz="1200" u="none" strike="noStrike">
                          <a:effectLst/>
                          <a:latin typeface="Meiryo UI" panose="020B0604030504040204" pitchFamily="34" charset="-128"/>
                          <a:ea typeface="Meiryo UI" panose="020B0604030504040204" pitchFamily="34" charset="-128"/>
                        </a:rPr>
                        <a:t>ORU)</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公的にアクセス可能な道路インフラを利用するあらゆるエンティティ</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1520193"/>
                  </a:ext>
                </a:extLst>
              </a:tr>
              <a:tr h="325136">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優先車両</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特定のファンクションを実行している間、道路交通法に基づく免除、認可、かつ</a:t>
                      </a:r>
                      <a:r>
                        <a:rPr lang="en-US" altLang="ja-JP" sz="1200" u="none" strike="noStrike">
                          <a:effectLst/>
                          <a:latin typeface="Meiryo UI" panose="020B0604030504040204" pitchFamily="34" charset="-128"/>
                          <a:ea typeface="Meiryo UI" panose="020B0604030504040204" pitchFamily="34" charset="-128"/>
                        </a:rPr>
                        <a:t>/</a:t>
                      </a:r>
                      <a:r>
                        <a:rPr lang="ja-JP" altLang="en-US" sz="1200" u="none" strike="noStrike">
                          <a:effectLst/>
                          <a:latin typeface="Meiryo UI" panose="020B0604030504040204" pitchFamily="34" charset="-128"/>
                          <a:ea typeface="Meiryo UI" panose="020B0604030504040204" pitchFamily="34" charset="-128"/>
                        </a:rPr>
                        <a:t>または通行権の対象となる車両</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2210024"/>
                  </a:ext>
                </a:extLst>
              </a:tr>
              <a:tr h="648940">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実証場と試験トラック</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公共の交通に対して閉鎖され、センサー刺激かつ</a:t>
                      </a:r>
                      <a:r>
                        <a:rPr lang="en-US" altLang="ja-JP" sz="1200" u="none" strike="noStrike">
                          <a:effectLst/>
                          <a:latin typeface="Meiryo UI" panose="020B0604030504040204" pitchFamily="34" charset="-128"/>
                          <a:ea typeface="Meiryo UI" panose="020B0604030504040204" pitchFamily="34" charset="-128"/>
                        </a:rPr>
                        <a:t>/</a:t>
                      </a:r>
                      <a:r>
                        <a:rPr lang="ja-JP" altLang="en-US" sz="1200" u="none" strike="noStrike">
                          <a:effectLst/>
                          <a:latin typeface="Meiryo UI" panose="020B0604030504040204" pitchFamily="34" charset="-128"/>
                          <a:ea typeface="Meiryo UI" panose="020B0604030504040204" pitchFamily="34" charset="-128"/>
                        </a:rPr>
                        <a:t>またはダミーデバイスの使用等を介して、</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かつ</a:t>
                      </a:r>
                      <a:r>
                        <a:rPr lang="en-US" altLang="ja-JP" sz="1200" u="none" strike="noStrike">
                          <a:effectLst/>
                          <a:latin typeface="Meiryo UI" panose="020B0604030504040204" pitchFamily="34" charset="-128"/>
                          <a:ea typeface="Meiryo UI" panose="020B0604030504040204" pitchFamily="34" charset="-128"/>
                        </a:rPr>
                        <a:t>/</a:t>
                      </a:r>
                      <a:r>
                        <a:rPr lang="ja-JP" altLang="en-US" sz="1200" u="none" strike="noStrike">
                          <a:effectLst/>
                          <a:latin typeface="Meiryo UI" panose="020B0604030504040204" pitchFamily="34" charset="-128"/>
                          <a:ea typeface="Meiryo UI" panose="020B0604030504040204" pitchFamily="34" charset="-128"/>
                        </a:rPr>
                        <a:t>または</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車両の性能を物理的に評価できるように設計された施設</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7138971"/>
                  </a:ext>
                </a:extLst>
              </a:tr>
              <a:tr h="325136">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リアルタイム</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プロセスまたはイベントが発生する実際の時間</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013922"/>
                  </a:ext>
                </a:extLst>
              </a:tr>
              <a:tr h="325136">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交通安全担当者</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交通の誘導、交通法の執行、道路の維持</a:t>
                      </a:r>
                      <a:r>
                        <a:rPr lang="en-US" altLang="ja-JP" sz="1200" u="none" strike="noStrike">
                          <a:effectLst/>
                          <a:latin typeface="Meiryo UI" panose="020B0604030504040204" pitchFamily="34" charset="-128"/>
                          <a:ea typeface="Meiryo UI" panose="020B0604030504040204" pitchFamily="34" charset="-128"/>
                        </a:rPr>
                        <a:t>/</a:t>
                      </a:r>
                      <a:r>
                        <a:rPr lang="ja-JP" altLang="en-US" sz="1200" u="none" strike="noStrike">
                          <a:effectLst/>
                          <a:latin typeface="Meiryo UI" panose="020B0604030504040204" pitchFamily="34" charset="-128"/>
                          <a:ea typeface="Meiryo UI" panose="020B0604030504040204" pitchFamily="34" charset="-128"/>
                        </a:rPr>
                        <a:t>建設、かつ</a:t>
                      </a:r>
                      <a:r>
                        <a:rPr lang="en-US" altLang="ja-JP" sz="1200" u="none" strike="noStrike">
                          <a:effectLst/>
                          <a:latin typeface="Meiryo UI" panose="020B0604030504040204" pitchFamily="34" charset="-128"/>
                          <a:ea typeface="Meiryo UI" panose="020B0604030504040204" pitchFamily="34" charset="-128"/>
                        </a:rPr>
                        <a:t>/</a:t>
                      </a:r>
                      <a:r>
                        <a:rPr lang="ja-JP" altLang="en-US" sz="1200" u="none" strike="noStrike">
                          <a:effectLst/>
                          <a:latin typeface="Meiryo UI" panose="020B0604030504040204" pitchFamily="34" charset="-128"/>
                          <a:ea typeface="Meiryo UI" panose="020B0604030504040204" pitchFamily="34" charset="-128"/>
                        </a:rPr>
                        <a:t>または交通事故への対応に従事する人間</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437364"/>
                  </a:ext>
                </a:extLst>
              </a:tr>
              <a:tr h="540490">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安全事例</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が特定の環境における特定のアプリケーションに対して不当なリスクを抱えていない、または今後も不当なリスクがないという、説得力があり、理解しやすく、有効な事例を提供する一連の証拠によって裏付けられた構造化された議論</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8735168"/>
                  </a:ext>
                </a:extLst>
              </a:tr>
              <a:tr h="540490">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安全コンセプト</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ODD</a:t>
                      </a:r>
                      <a:r>
                        <a:rPr lang="ja-JP" altLang="en-US" sz="1200" u="none" strike="noStrike">
                          <a:effectLst/>
                          <a:latin typeface="Meiryo UI" panose="020B0604030504040204" pitchFamily="34" charset="-128"/>
                          <a:ea typeface="Meiryo UI" panose="020B0604030504040204" pitchFamily="34" charset="-128"/>
                        </a:rPr>
                        <a:t>に関連するあらゆる動作条件において、</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車両のユーザや他ユーザに不当な安全リスクが及ばないよう</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が動作するように、</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に組み込まれた対策の説明</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8575611"/>
                  </a:ext>
                </a:extLst>
              </a:tr>
              <a:tr h="325136">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センサー刺激</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要素の評価に必要な結果を得るために、人工的に生成された信号を提供してテスト対象の要素をトリガーする技術</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67742"/>
                  </a:ext>
                </a:extLst>
              </a:tr>
              <a:tr h="325136">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シミュレーション</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現実世界のプロセスまたはシステムの動作を長期間にわたって模倣すること</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6968"/>
                  </a:ext>
                </a:extLst>
              </a:tr>
              <a:tr h="540490">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シミュレーションツールチェーン</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の検証をサポートするために使用されるシミュレーションツールの組み合わせ</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1109387"/>
                  </a:ext>
                </a:extLst>
              </a:tr>
              <a:tr h="325136">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テストケース仕様</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テストの準備のためにテスターが何をしなければならないかの詳細な仕様</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9186963"/>
                  </a:ext>
                </a:extLst>
              </a:tr>
              <a:tr h="325136">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テスト方法</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テストを実行することによって</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に関する知識を一貫して導き出すための構造化されたアプローチ</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8043032"/>
                  </a:ext>
                </a:extLst>
              </a:tr>
            </a:tbl>
          </a:graphicData>
        </a:graphic>
      </p:graphicFrame>
      <p:sp>
        <p:nvSpPr>
          <p:cNvPr id="3" name="テキスト ボックス 2">
            <a:extLst>
              <a:ext uri="{FF2B5EF4-FFF2-40B4-BE49-F238E27FC236}">
                <a16:creationId xmlns:a16="http://schemas.microsoft.com/office/drawing/2014/main" id="{89D6C151-CDC2-E14E-E42A-E2860DBC37AD}"/>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3</a:t>
            </a:r>
            <a:r>
              <a:rPr lang="ja-JP" altLang="en-US">
                <a:solidFill>
                  <a:schemeClr val="bg1"/>
                </a:solidFill>
                <a:latin typeface="Meiryo UI" panose="020B0604030504040204" pitchFamily="50" charset="-128"/>
                <a:ea typeface="Meiryo UI" panose="020B0604030504040204" pitchFamily="50" charset="-128"/>
              </a:rPr>
              <a:t>　用語と定義</a:t>
            </a:r>
          </a:p>
        </p:txBody>
      </p:sp>
    </p:spTree>
    <p:extLst>
      <p:ext uri="{BB962C8B-B14F-4D97-AF65-F5344CB8AC3E}">
        <p14:creationId xmlns:p14="http://schemas.microsoft.com/office/powerpoint/2010/main" val="263739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BCDA9F38-984E-CE47-C203-31C2CE74BE50}"/>
              </a:ext>
            </a:extLst>
          </p:cNvPr>
          <p:cNvGraphicFramePr>
            <a:graphicFrameLocks noGrp="1"/>
          </p:cNvGraphicFramePr>
          <p:nvPr>
            <p:extLst>
              <p:ext uri="{D42A27DB-BD31-4B8C-83A1-F6EECF244321}">
                <p14:modId xmlns:p14="http://schemas.microsoft.com/office/powerpoint/2010/main" val="1721403098"/>
              </p:ext>
            </p:extLst>
          </p:nvPr>
        </p:nvGraphicFramePr>
        <p:xfrm>
          <a:off x="0" y="505549"/>
          <a:ext cx="12192000" cy="5846902"/>
        </p:xfrm>
        <a:graphic>
          <a:graphicData uri="http://schemas.openxmlformats.org/drawingml/2006/table">
            <a:tbl>
              <a:tblPr>
                <a:tableStyleId>{5C22544A-7EE6-4342-B048-85BDC9FD1C3A}</a:tableStyleId>
              </a:tblPr>
              <a:tblGrid>
                <a:gridCol w="1887006">
                  <a:extLst>
                    <a:ext uri="{9D8B030D-6E8A-4147-A177-3AD203B41FA5}">
                      <a16:colId xmlns:a16="http://schemas.microsoft.com/office/drawing/2014/main" val="1339324677"/>
                    </a:ext>
                  </a:extLst>
                </a:gridCol>
                <a:gridCol w="10304994">
                  <a:extLst>
                    <a:ext uri="{9D8B030D-6E8A-4147-A177-3AD203B41FA5}">
                      <a16:colId xmlns:a16="http://schemas.microsoft.com/office/drawing/2014/main" val="382421916"/>
                    </a:ext>
                  </a:extLst>
                </a:gridCol>
              </a:tblGrid>
              <a:tr h="325199">
                <a:tc>
                  <a:txBody>
                    <a:bodyPr/>
                    <a:lstStyle/>
                    <a:p>
                      <a:pPr algn="ctr" fontAlgn="ctr"/>
                      <a:r>
                        <a:rPr lang="ja-JP" altLang="en-US" sz="1200" u="none" strike="noStrike" dirty="0">
                          <a:effectLst/>
                          <a:latin typeface="Meiryo UI" panose="020B0604030504040204" pitchFamily="34" charset="-128"/>
                          <a:ea typeface="Meiryo UI" panose="020B0604030504040204" pitchFamily="34" charset="-128"/>
                        </a:rPr>
                        <a:t>交通シナリオ</a:t>
                      </a:r>
                      <a:endParaRPr lang="en-US" altLang="ja-JP" sz="1200" b="0" i="0" u="none" strike="noStrike" dirty="0">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特定の走行中に発生する可能性のある一連の運転状況の説明</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2717296"/>
                  </a:ext>
                </a:extLst>
              </a:tr>
              <a:tr h="325199">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基準シナリオ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通常、または予想可能な、物体／物体の挙動／道路状況を表す交通シナリオ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010950"/>
                  </a:ext>
                </a:extLst>
              </a:tr>
              <a:tr h="325199">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危険シナリオ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異常、または予期できない、物体／物体の挙動／道路状況を表す交通シナリオ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0585988"/>
                  </a:ext>
                </a:extLst>
              </a:tr>
              <a:tr h="325199">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故障シナリオ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DDT</a:t>
                      </a:r>
                      <a:r>
                        <a:rPr lang="ja-JP" altLang="en-US" sz="1200" u="none" strike="noStrike">
                          <a:effectLst/>
                          <a:latin typeface="Meiryo UI" panose="020B0604030504040204" pitchFamily="34" charset="-128"/>
                          <a:ea typeface="Meiryo UI" panose="020B0604030504040204" pitchFamily="34" charset="-128"/>
                        </a:rPr>
                        <a:t>全体を実行する</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の能力を損なうシステム故障を表す交通シナリオ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103537"/>
                  </a:ext>
                </a:extLst>
              </a:tr>
              <a:tr h="325199">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ファンクショナルシナリオ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状況とそれに対応する要素を自然言語、非専門用語で最高レベルの抽象化で記述した基本的な交通シナリオ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1727707"/>
                  </a:ext>
                </a:extLst>
              </a:tr>
              <a:tr h="649062">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抽象シナリオ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ファンクショナルシナリオから派生した、シナリオの形式的で宣言的な記述を意味する抽象レベルの仕様により、関係</a:t>
                      </a:r>
                      <a:r>
                        <a:rPr lang="en-US" altLang="ja-JP" sz="1200" u="none" strike="noStrike">
                          <a:effectLst/>
                          <a:latin typeface="Meiryo UI" panose="020B0604030504040204" pitchFamily="34" charset="-128"/>
                          <a:ea typeface="Meiryo UI" panose="020B0604030504040204" pitchFamily="34" charset="-128"/>
                        </a:rPr>
                        <a:t>(</a:t>
                      </a:r>
                      <a:r>
                        <a:rPr lang="ja-JP" altLang="en-US" sz="1200" u="none" strike="noStrike">
                          <a:effectLst/>
                          <a:latin typeface="Meiryo UI" panose="020B0604030504040204" pitchFamily="34" charset="-128"/>
                          <a:ea typeface="Meiryo UI" panose="020B0604030504040204" pitchFamily="34" charset="-128"/>
                        </a:rPr>
                        <a:t>原因と結果</a:t>
                      </a:r>
                      <a:r>
                        <a:rPr lang="en-US" altLang="ja-JP" sz="1200" u="none" strike="noStrike">
                          <a:effectLst/>
                          <a:latin typeface="Meiryo UI" panose="020B0604030504040204" pitchFamily="34" charset="-128"/>
                          <a:ea typeface="Meiryo UI" panose="020B0604030504040204" pitchFamily="34" charset="-128"/>
                        </a:rPr>
                        <a:t>)</a:t>
                      </a:r>
                      <a:r>
                        <a:rPr lang="ja-JP" altLang="en-US" sz="1200" u="none" strike="noStrike">
                          <a:effectLst/>
                          <a:latin typeface="Meiryo UI" panose="020B0604030504040204" pitchFamily="34" charset="-128"/>
                          <a:ea typeface="Meiryo UI" panose="020B0604030504040204" pitchFamily="34" charset="-128"/>
                        </a:rPr>
                        <a:t>の効率的な記述に焦点を当てながら、シナリオの関連側面を強調する</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3955175"/>
                  </a:ext>
                </a:extLst>
              </a:tr>
              <a:tr h="325199">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論理シナリオ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対応するファンクショナルシナリオの各要素の値の範囲または確率分布を含めるために、より低い抽象レベルで精緻化されるシナリオ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3406293"/>
                  </a:ext>
                </a:extLst>
              </a:tr>
              <a:tr h="325199">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具体シナリオ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対応する論理シナリオで定義され得る連続範囲から各要素に対して特定の値が選択されるシナリオ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3809910"/>
                  </a:ext>
                </a:extLst>
              </a:tr>
              <a:tr h="325199">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複合シナリオ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多数の他ユーザ、低確立の道路インフラ、または異常な地理的</a:t>
                      </a:r>
                      <a:r>
                        <a:rPr lang="en-US" altLang="ja-JP" sz="1200" u="none" strike="noStrike">
                          <a:effectLst/>
                          <a:latin typeface="Meiryo UI" panose="020B0604030504040204" pitchFamily="34" charset="-128"/>
                          <a:ea typeface="Meiryo UI" panose="020B0604030504040204" pitchFamily="34" charset="-128"/>
                        </a:rPr>
                        <a:t>/</a:t>
                      </a:r>
                      <a:r>
                        <a:rPr lang="ja-JP" altLang="en-US" sz="1200" u="none" strike="noStrike">
                          <a:effectLst/>
                          <a:latin typeface="Meiryo UI" panose="020B0604030504040204" pitchFamily="34" charset="-128"/>
                          <a:ea typeface="Meiryo UI" panose="020B0604030504040204" pitchFamily="34" charset="-128"/>
                        </a:rPr>
                        <a:t>環境的条件が関与する</a:t>
                      </a:r>
                      <a:r>
                        <a:rPr lang="en-US" altLang="ja-JP" sz="1200" u="none" strike="noStrike">
                          <a:effectLst/>
                          <a:latin typeface="Meiryo UI" panose="020B0604030504040204" pitchFamily="34" charset="-128"/>
                          <a:ea typeface="Meiryo UI" panose="020B0604030504040204" pitchFamily="34" charset="-128"/>
                        </a:rPr>
                        <a:t>1</a:t>
                      </a:r>
                      <a:r>
                        <a:rPr lang="ja-JP" altLang="en-US" sz="1200" u="none" strike="noStrike">
                          <a:effectLst/>
                          <a:latin typeface="Meiryo UI" panose="020B0604030504040204" pitchFamily="34" charset="-128"/>
                          <a:ea typeface="Meiryo UI" panose="020B0604030504040204" pitchFamily="34" charset="-128"/>
                        </a:rPr>
                        <a:t>つ以上の状況を含むシナリオ</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0014087"/>
                  </a:ext>
                </a:extLst>
              </a:tr>
              <a:tr h="649062">
                <a:tc>
                  <a:txBody>
                    <a:bodyPr/>
                    <a:lstStyle/>
                    <a:p>
                      <a:pPr algn="ctr" fontAlgn="ctr"/>
                      <a:r>
                        <a:rPr lang="ja-JP" altLang="en-US" sz="1200" u="none" strike="noStrike" dirty="0">
                          <a:effectLst/>
                          <a:latin typeface="Meiryo UI" panose="020B0604030504040204" pitchFamily="34" charset="-128"/>
                          <a:ea typeface="Meiryo UI" panose="020B0604030504040204" pitchFamily="34" charset="-128"/>
                        </a:rPr>
                        <a:t>システム起因の</a:t>
                      </a:r>
                      <a:r>
                        <a:rPr lang="en" altLang="ja-JP" sz="1200" u="none" strike="noStrike" dirty="0">
                          <a:effectLst/>
                          <a:latin typeface="Meiryo UI" panose="020B0604030504040204" pitchFamily="34" charset="-128"/>
                          <a:ea typeface="Meiryo UI" panose="020B0604030504040204" pitchFamily="34" charset="-128"/>
                        </a:rPr>
                        <a:t>ADS</a:t>
                      </a:r>
                      <a:r>
                        <a:rPr lang="ja-JP" altLang="en-US" sz="1200" u="none" strike="noStrike" dirty="0">
                          <a:effectLst/>
                          <a:latin typeface="Meiryo UI" panose="020B0604030504040204" pitchFamily="34" charset="-128"/>
                          <a:ea typeface="Meiryo UI" panose="020B0604030504040204" pitchFamily="34" charset="-128"/>
                        </a:rPr>
                        <a:t>の非開始</a:t>
                      </a:r>
                      <a:endParaRPr lang="en-US" altLang="ja-JP" sz="1200" b="0" i="0" u="none" strike="noStrike" dirty="0">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によって、車両ユーザへの</a:t>
                      </a:r>
                      <a:r>
                        <a:rPr lang="en" sz="1200" u="none" strike="noStrike">
                          <a:effectLst/>
                          <a:latin typeface="Meiryo UI" panose="020B0604030504040204" pitchFamily="34" charset="-128"/>
                          <a:ea typeface="Meiryo UI" panose="020B0604030504040204" pitchFamily="34" charset="-128"/>
                        </a:rPr>
                        <a:t>DDT</a:t>
                      </a:r>
                      <a:r>
                        <a:rPr lang="ja-JP" altLang="en-US" sz="1200" u="none" strike="noStrike">
                          <a:effectLst/>
                          <a:latin typeface="Meiryo UI" panose="020B0604030504040204" pitchFamily="34" charset="-128"/>
                          <a:ea typeface="Meiryo UI" panose="020B0604030504040204" pitchFamily="34" charset="-128"/>
                        </a:rPr>
                        <a:t>実行の移動を開始する手順</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4916801"/>
                  </a:ext>
                </a:extLst>
              </a:tr>
              <a:tr h="649062">
                <a:tc>
                  <a:txBody>
                    <a:bodyPr/>
                    <a:lstStyle/>
                    <a:p>
                      <a:pPr algn="ctr" fontAlgn="ctr"/>
                      <a:r>
                        <a:rPr lang="ja-JP" altLang="en-US" sz="1200" u="none" strike="noStrike" dirty="0">
                          <a:effectLst/>
                          <a:latin typeface="Meiryo UI" panose="020B0604030504040204" pitchFamily="34" charset="-128"/>
                          <a:ea typeface="Meiryo UI" panose="020B0604030504040204" pitchFamily="34" charset="-128"/>
                        </a:rPr>
                        <a:t>ユーザ起因の</a:t>
                      </a:r>
                      <a:r>
                        <a:rPr lang="en" altLang="ja-JP" sz="1200" u="none" strike="noStrike" dirty="0">
                          <a:effectLst/>
                          <a:latin typeface="Meiryo UI" panose="020B0604030504040204" pitchFamily="34" charset="-128"/>
                          <a:ea typeface="Meiryo UI" panose="020B0604030504040204" pitchFamily="34" charset="-128"/>
                        </a:rPr>
                        <a:t>ADS</a:t>
                      </a:r>
                      <a:r>
                        <a:rPr lang="ja-JP" altLang="en-US" sz="1200" u="none" strike="noStrike" dirty="0">
                          <a:effectLst/>
                          <a:latin typeface="Meiryo UI" panose="020B0604030504040204" pitchFamily="34" charset="-128"/>
                          <a:ea typeface="Meiryo UI" panose="020B0604030504040204" pitchFamily="34" charset="-128"/>
                        </a:rPr>
                        <a:t>の非開始</a:t>
                      </a:r>
                      <a:endParaRPr lang="en-US" altLang="ja-JP" sz="1200" b="0" i="0" u="none" strike="noStrike" dirty="0">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ユーザによって、車両ユーザへの</a:t>
                      </a:r>
                      <a:r>
                        <a:rPr lang="en" altLang="ja-JP" sz="1200" u="none" strike="noStrike">
                          <a:effectLst/>
                          <a:latin typeface="Meiryo UI" panose="020B0604030504040204" pitchFamily="34" charset="-128"/>
                          <a:ea typeface="Meiryo UI" panose="020B0604030504040204" pitchFamily="34" charset="-128"/>
                        </a:rPr>
                        <a:t>DDT</a:t>
                      </a:r>
                      <a:r>
                        <a:rPr lang="ja-JP" altLang="en-US" sz="1200" u="none" strike="noStrike">
                          <a:effectLst/>
                          <a:latin typeface="Meiryo UI" panose="020B0604030504040204" pitchFamily="34" charset="-128"/>
                          <a:ea typeface="Meiryo UI" panose="020B0604030504040204" pitchFamily="34" charset="-128"/>
                        </a:rPr>
                        <a:t>実行の移動を開始する手順</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0581057"/>
                  </a:ext>
                </a:extLst>
              </a:tr>
              <a:tr h="649062">
                <a:tc>
                  <a:txBody>
                    <a:bodyPr/>
                    <a:lstStyle/>
                    <a:p>
                      <a:pPr algn="ctr" fontAlgn="ctr"/>
                      <a:r>
                        <a:rPr lang="en" altLang="ja-JP"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ユーザ</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車両の人間のユーザ</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9482861"/>
                  </a:ext>
                </a:extLst>
              </a:tr>
              <a:tr h="649062">
                <a:tc>
                  <a:txBody>
                    <a:bodyPr/>
                    <a:lstStyle/>
                    <a:p>
                      <a:pPr algn="ctr" fontAlgn="ctr"/>
                      <a:r>
                        <a:rPr lang="en" altLang="ja-JP"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車両の）耐用年数</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車両が</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の作動状態に関わらず公道を走行できる作動状態にある期間</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7526440"/>
                  </a:ext>
                </a:extLst>
              </a:tr>
            </a:tbl>
          </a:graphicData>
        </a:graphic>
      </p:graphicFrame>
      <p:sp>
        <p:nvSpPr>
          <p:cNvPr id="3" name="テキスト ボックス 2">
            <a:extLst>
              <a:ext uri="{FF2B5EF4-FFF2-40B4-BE49-F238E27FC236}">
                <a16:creationId xmlns:a16="http://schemas.microsoft.com/office/drawing/2014/main" id="{017FD986-0DD3-D209-AD54-B67DA14A1B07}"/>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3</a:t>
            </a:r>
            <a:r>
              <a:rPr lang="ja-JP" altLang="en-US">
                <a:solidFill>
                  <a:schemeClr val="bg1"/>
                </a:solidFill>
                <a:latin typeface="Meiryo UI" panose="020B0604030504040204" pitchFamily="50" charset="-128"/>
                <a:ea typeface="Meiryo UI" panose="020B0604030504040204" pitchFamily="50" charset="-128"/>
              </a:rPr>
              <a:t>　用語と定義</a:t>
            </a:r>
          </a:p>
        </p:txBody>
      </p:sp>
    </p:spTree>
    <p:extLst>
      <p:ext uri="{BB962C8B-B14F-4D97-AF65-F5344CB8AC3E}">
        <p14:creationId xmlns:p14="http://schemas.microsoft.com/office/powerpoint/2010/main" val="396947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68CDCF28-8AB9-2873-F654-1848DAC50B6C}"/>
              </a:ext>
            </a:extLst>
          </p:cNvPr>
          <p:cNvGraphicFramePr>
            <a:graphicFrameLocks noGrp="1"/>
          </p:cNvGraphicFramePr>
          <p:nvPr/>
        </p:nvGraphicFramePr>
        <p:xfrm>
          <a:off x="0" y="776048"/>
          <a:ext cx="12192000" cy="5099528"/>
        </p:xfrm>
        <a:graphic>
          <a:graphicData uri="http://schemas.openxmlformats.org/drawingml/2006/table">
            <a:tbl>
              <a:tblPr>
                <a:tableStyleId>{5C22544A-7EE6-4342-B048-85BDC9FD1C3A}</a:tableStyleId>
              </a:tblPr>
              <a:tblGrid>
                <a:gridCol w="1887006">
                  <a:extLst>
                    <a:ext uri="{9D8B030D-6E8A-4147-A177-3AD203B41FA5}">
                      <a16:colId xmlns:a16="http://schemas.microsoft.com/office/drawing/2014/main" val="2353223384"/>
                    </a:ext>
                  </a:extLst>
                </a:gridCol>
                <a:gridCol w="10304994">
                  <a:extLst>
                    <a:ext uri="{9D8B030D-6E8A-4147-A177-3AD203B41FA5}">
                      <a16:colId xmlns:a16="http://schemas.microsoft.com/office/drawing/2014/main" val="1902382563"/>
                    </a:ext>
                  </a:extLst>
                </a:gridCol>
              </a:tblGrid>
              <a:tr h="637441">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シミュレーションモデルの検証</a:t>
                      </a:r>
                      <a:r>
                        <a:rPr lang="en-US" altLang="ja-JP" sz="1200" u="none" strike="noStrike">
                          <a:effectLst/>
                          <a:latin typeface="Meiryo UI" panose="020B0604030504040204" pitchFamily="34" charset="-128"/>
                          <a:ea typeface="Meiryo UI" panose="020B0604030504040204" pitchFamily="34" charset="-128"/>
                        </a:rPr>
                        <a:t>˙</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ツールの使用目的の観点から、シミュレーションモデルが現実世界をどの程度正確に表現しているかを判断するプロセス</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3827502"/>
                  </a:ext>
                </a:extLst>
              </a:tr>
              <a:tr h="637441">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シミュレーションモデルの検証</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シミュレーションモデルまたは仮想テストツールが、その概念モデル、数学的モデル、またはその他の構造に詳述されている要件と仕様にどの程度準拠しているかを判断するプロセス</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207363"/>
                  </a:ext>
                </a:extLst>
              </a:tr>
              <a:tr h="637441">
                <a:tc>
                  <a:txBody>
                    <a:bodyPr/>
                    <a:lstStyle/>
                    <a:p>
                      <a:pPr algn="ctr" fontAlgn="ctr"/>
                      <a:r>
                        <a:rPr lang="ja-JP" altLang="en-US" sz="1200" u="none" strike="noStrike">
                          <a:effectLst/>
                          <a:latin typeface="Meiryo UI" panose="020B0604030504040204" pitchFamily="34" charset="-128"/>
                          <a:ea typeface="Meiryo UI" panose="020B0604030504040204" pitchFamily="34" charset="-128"/>
                        </a:rPr>
                        <a:t>シュミレーション</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ja-JP" sz="1200" u="none" strike="noStrike">
                          <a:effectLst/>
                          <a:latin typeface="Meiryo UI" panose="020B0604030504040204" pitchFamily="34" charset="-128"/>
                          <a:ea typeface="Meiryo UI" panose="020B0604030504040204" pitchFamily="34" charset="-128"/>
                        </a:rPr>
                        <a:t>1</a:t>
                      </a:r>
                      <a:r>
                        <a:rPr lang="ja-JP" altLang="en-US" sz="1200" u="none" strike="noStrike">
                          <a:effectLst/>
                          <a:latin typeface="Meiryo UI" panose="020B0604030504040204" pitchFamily="34" charset="-128"/>
                          <a:ea typeface="Meiryo UI" panose="020B0604030504040204" pitchFamily="34" charset="-128"/>
                        </a:rPr>
                        <a:t>つ以上のシミュレーションモデルを使用してシステムをテストするプロセス</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0578276"/>
                  </a:ext>
                </a:extLst>
              </a:tr>
              <a:tr h="637441">
                <a:tc>
                  <a:txBody>
                    <a:bodyPr/>
                    <a:lstStyle/>
                    <a:p>
                      <a:pPr algn="ctr" fontAlgn="ctr"/>
                      <a:r>
                        <a:rPr lang="en" altLang="ja-JP" sz="1200" u="none" strike="noStrike">
                          <a:effectLst/>
                          <a:latin typeface="Meiryo UI" panose="020B0604030504040204" pitchFamily="34" charset="-128"/>
                          <a:ea typeface="Meiryo UI" panose="020B0604030504040204" pitchFamily="34" charset="-128"/>
                        </a:rPr>
                        <a:t>Driver-In-the-Loop(DIL)</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運転者が仮想環境内で操作と通信できるようにするコンポーネントを備えた運転シミュレーターを意味し、ヒューマンオートメーションインタラクション設計の評価に使用される</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394231"/>
                  </a:ext>
                </a:extLst>
              </a:tr>
              <a:tr h="637441">
                <a:tc>
                  <a:txBody>
                    <a:bodyPr/>
                    <a:lstStyle/>
                    <a:p>
                      <a:pPr algn="ctr" fontAlgn="ctr"/>
                      <a:r>
                        <a:rPr lang="en" altLang="ja-JP" sz="1200" u="none" strike="noStrike">
                          <a:effectLst/>
                          <a:latin typeface="Meiryo UI" panose="020B0604030504040204" pitchFamily="34" charset="-128"/>
                          <a:ea typeface="Meiryo UI" panose="020B0604030504040204" pitchFamily="34" charset="-128"/>
                        </a:rPr>
                        <a:t>Hardware-In-the-Loop(HIL)</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シミュレーション環境に接続された入力と出力を備えたソフトウェアを実行する特定の車両サブシステムのハードウェアを意味し、センサー、アクチュエーター、かつ</a:t>
                      </a:r>
                      <a:r>
                        <a:rPr lang="en-US" altLang="ja-JP" sz="1200" u="none" strike="noStrike">
                          <a:effectLst/>
                          <a:latin typeface="Meiryo UI" panose="020B0604030504040204" pitchFamily="34" charset="-128"/>
                          <a:ea typeface="Meiryo UI" panose="020B0604030504040204" pitchFamily="34" charset="-128"/>
                        </a:rPr>
                        <a:t>/</a:t>
                      </a:r>
                      <a:r>
                        <a:rPr lang="ja-JP" altLang="en-US" sz="1200" u="none" strike="noStrike">
                          <a:effectLst/>
                          <a:latin typeface="Meiryo UI" panose="020B0604030504040204" pitchFamily="34" charset="-128"/>
                          <a:ea typeface="Meiryo UI" panose="020B0604030504040204" pitchFamily="34" charset="-128"/>
                        </a:rPr>
                        <a:t>または機械コンポーネントを複製し、すべての最終システムが統合される前の電子制御ユニット</a:t>
                      </a:r>
                      <a:r>
                        <a:rPr lang="en-US" altLang="ja-JP" sz="1200" u="none" strike="noStrike">
                          <a:effectLst/>
                          <a:latin typeface="Meiryo UI" panose="020B0604030504040204" pitchFamily="34" charset="-128"/>
                          <a:ea typeface="Meiryo UI" panose="020B0604030504040204" pitchFamily="34" charset="-128"/>
                        </a:rPr>
                        <a:t>(</a:t>
                      </a:r>
                      <a:r>
                        <a:rPr lang="en" sz="1200" u="none" strike="noStrike">
                          <a:effectLst/>
                          <a:latin typeface="Meiryo UI" panose="020B0604030504040204" pitchFamily="34" charset="-128"/>
                          <a:ea typeface="Meiryo UI" panose="020B0604030504040204" pitchFamily="34" charset="-128"/>
                        </a:rPr>
                        <a:t>ECU)</a:t>
                      </a:r>
                      <a:r>
                        <a:rPr lang="ja-JP" altLang="en-US" sz="1200" u="none" strike="noStrike">
                          <a:effectLst/>
                          <a:latin typeface="Meiryo UI" panose="020B0604030504040204" pitchFamily="34" charset="-128"/>
                          <a:ea typeface="Meiryo UI" panose="020B0604030504040204" pitchFamily="34" charset="-128"/>
                        </a:rPr>
                        <a:t>の</a:t>
                      </a:r>
                      <a:r>
                        <a:rPr lang="en" sz="1200" u="none" strike="noStrike">
                          <a:effectLst/>
                          <a:latin typeface="Meiryo UI" panose="020B0604030504040204" pitchFamily="34" charset="-128"/>
                          <a:ea typeface="Meiryo UI" panose="020B0604030504040204" pitchFamily="34" charset="-128"/>
                        </a:rPr>
                        <a:t>I/O</a:t>
                      </a:r>
                      <a:r>
                        <a:rPr lang="ja-JP" altLang="en-US" sz="1200" u="none" strike="noStrike">
                          <a:effectLst/>
                          <a:latin typeface="Meiryo UI" panose="020B0604030504040204" pitchFamily="34" charset="-128"/>
                          <a:ea typeface="Meiryo UI" panose="020B0604030504040204" pitchFamily="34" charset="-128"/>
                        </a:rPr>
                        <a:t>を接続する</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3273277"/>
                  </a:ext>
                </a:extLst>
              </a:tr>
              <a:tr h="637441">
                <a:tc>
                  <a:txBody>
                    <a:bodyPr/>
                    <a:lstStyle/>
                    <a:p>
                      <a:pPr algn="ctr" fontAlgn="ctr"/>
                      <a:r>
                        <a:rPr lang="en" altLang="ja-JP" sz="1200" u="none" strike="noStrike">
                          <a:effectLst/>
                          <a:latin typeface="Meiryo UI" panose="020B0604030504040204" pitchFamily="34" charset="-128"/>
                          <a:ea typeface="Meiryo UI" panose="020B0604030504040204" pitchFamily="34" charset="-128"/>
                        </a:rPr>
                        <a:t>Model-In-the-Loop(MIL)</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専用のハードウェアを必要とせずに迅速なアルゴリズム開発を可能にする、汎用コンピューティングシステム上で実行される高レベルの抽象化ソフトウェアフレームワーク</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0122459"/>
                  </a:ext>
                </a:extLst>
              </a:tr>
              <a:tr h="637441">
                <a:tc>
                  <a:txBody>
                    <a:bodyPr/>
                    <a:lstStyle/>
                    <a:p>
                      <a:pPr algn="ctr" fontAlgn="ctr"/>
                      <a:r>
                        <a:rPr lang="en" altLang="ja-JP" sz="1200" u="none" strike="noStrike">
                          <a:effectLst/>
                          <a:latin typeface="Meiryo UI" panose="020B0604030504040204" pitchFamily="34" charset="-128"/>
                          <a:ea typeface="Meiryo UI" panose="020B0604030504040204" pitchFamily="34" charset="-128"/>
                        </a:rPr>
                        <a:t>Software-In-the-Loop(SIL)</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アルゴリズム等の実行可能コード、コントローラーストラテジ全体、または完全なソフトウェア実装が汎用コンピューティングシステム上のモデリング環境内で評価される方法論</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0962050"/>
                  </a:ext>
                </a:extLst>
              </a:tr>
              <a:tr h="637441">
                <a:tc>
                  <a:txBody>
                    <a:bodyPr/>
                    <a:lstStyle/>
                    <a:p>
                      <a:pPr algn="ctr" fontAlgn="ctr"/>
                      <a:r>
                        <a:rPr lang="en" altLang="ja-JP" sz="1200" u="none" strike="noStrike">
                          <a:effectLst/>
                          <a:latin typeface="Meiryo UI" panose="020B0604030504040204" pitchFamily="34" charset="-128"/>
                          <a:ea typeface="Meiryo UI" panose="020B0604030504040204" pitchFamily="34" charset="-128"/>
                        </a:rPr>
                        <a:t>Vehicle-In-the-Loop(VIL)</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752"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200" u="none" strike="noStrike">
                          <a:effectLst/>
                          <a:latin typeface="Meiryo UI" panose="020B0604030504040204" pitchFamily="34" charset="-128"/>
                          <a:ea typeface="Meiryo UI" panose="020B0604030504040204" pitchFamily="34" charset="-128"/>
                        </a:rPr>
                        <a:t>実世界のテストと同じレベルで車両テストベッドまたは試験トラック上の物理的な</a:t>
                      </a:r>
                      <a:r>
                        <a:rPr lang="en" sz="1200" u="none" strike="noStrike">
                          <a:effectLst/>
                          <a:latin typeface="Meiryo UI" panose="020B0604030504040204" pitchFamily="34" charset="-128"/>
                          <a:ea typeface="Meiryo UI" panose="020B0604030504040204" pitchFamily="34" charset="-128"/>
                        </a:rPr>
                        <a:t>ADS</a:t>
                      </a:r>
                      <a:r>
                        <a:rPr lang="ja-JP" altLang="en-US" sz="1200" u="none" strike="noStrike">
                          <a:effectLst/>
                          <a:latin typeface="Meiryo UI" panose="020B0604030504040204" pitchFamily="34" charset="-128"/>
                          <a:ea typeface="Meiryo UI" panose="020B0604030504040204" pitchFamily="34" charset="-128"/>
                        </a:rPr>
                        <a:t>車両のダイナミクスを評価するための、現実世界と仮想環境の融合</a:t>
                      </a:r>
                      <a:endParaRPr lang="en-US" altLang="ja-JP" sz="1200" b="0" i="0" u="none" strike="noStrike">
                        <a:solidFill>
                          <a:srgbClr val="000000"/>
                        </a:solidFill>
                        <a:effectLst/>
                        <a:latin typeface="Meiryo UI" panose="020B0604030504040204" pitchFamily="34" charset="-128"/>
                        <a:ea typeface="Meiryo UI" panose="020B0604030504040204" pitchFamily="34" charset="-128"/>
                      </a:endParaRPr>
                    </a:p>
                  </a:txBody>
                  <a:tcPr marL="144000" marR="752" marT="7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2902273"/>
                  </a:ext>
                </a:extLst>
              </a:tr>
            </a:tbl>
          </a:graphicData>
        </a:graphic>
      </p:graphicFrame>
      <p:sp>
        <p:nvSpPr>
          <p:cNvPr id="3" name="テキスト ボックス 2">
            <a:extLst>
              <a:ext uri="{FF2B5EF4-FFF2-40B4-BE49-F238E27FC236}">
                <a16:creationId xmlns:a16="http://schemas.microsoft.com/office/drawing/2014/main" id="{BA4D73B9-48E9-9BDB-AFF6-969D82F5C7AF}"/>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3 </a:t>
            </a:r>
            <a:r>
              <a:rPr lang="ja-JP" altLang="en-US">
                <a:solidFill>
                  <a:schemeClr val="bg1"/>
                </a:solidFill>
                <a:latin typeface="Meiryo UI" panose="020B0604030504040204" pitchFamily="50" charset="-128"/>
                <a:ea typeface="Meiryo UI" panose="020B0604030504040204" pitchFamily="50" charset="-128"/>
              </a:rPr>
              <a:t>用語と定義</a:t>
            </a:r>
          </a:p>
        </p:txBody>
      </p:sp>
    </p:spTree>
    <p:extLst>
      <p:ext uri="{BB962C8B-B14F-4D97-AF65-F5344CB8AC3E}">
        <p14:creationId xmlns:p14="http://schemas.microsoft.com/office/powerpoint/2010/main" val="870326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E3708BD-98C4-44FB-6491-65D21015DF69}"/>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Section4</a:t>
            </a:r>
            <a:r>
              <a:rPr lang="ja-JP" altLang="en-US">
                <a:solidFill>
                  <a:schemeClr val="bg1"/>
                </a:solidFill>
                <a:latin typeface="Meiryo UI" panose="020B0604030504040204" pitchFamily="50" charset="-128"/>
                <a:ea typeface="Meiryo UI" panose="020B0604030504040204" pitchFamily="50" charset="-128"/>
              </a:rPr>
              <a:t>　 </a:t>
            </a:r>
            <a:r>
              <a:rPr lang="en-US" altLang="ja-JP">
                <a:solidFill>
                  <a:schemeClr val="bg1"/>
                </a:solidFill>
                <a:latin typeface="Meiryo UI" panose="020B0604030504040204" pitchFamily="50" charset="-128"/>
                <a:ea typeface="Meiryo UI" panose="020B0604030504040204" pitchFamily="50" charset="-128"/>
              </a:rPr>
              <a:t>ADS</a:t>
            </a:r>
            <a:r>
              <a:rPr lang="ja-JP" altLang="en-US">
                <a:solidFill>
                  <a:schemeClr val="bg1"/>
                </a:solidFill>
                <a:latin typeface="Meiryo UI" panose="020B0604030504040204" pitchFamily="50" charset="-128"/>
                <a:ea typeface="Meiryo UI" panose="020B0604030504040204" pitchFamily="50" charset="-128"/>
              </a:rPr>
              <a:t>の安全要件、評価および検証の概要</a:t>
            </a:r>
          </a:p>
        </p:txBody>
      </p:sp>
      <p:sp>
        <p:nvSpPr>
          <p:cNvPr id="4" name="テキスト ボックス 3">
            <a:extLst>
              <a:ext uri="{FF2B5EF4-FFF2-40B4-BE49-F238E27FC236}">
                <a16:creationId xmlns:a16="http://schemas.microsoft.com/office/drawing/2014/main" id="{4F28E2CA-1709-5690-3F63-443B9CA14882}"/>
              </a:ext>
            </a:extLst>
          </p:cNvPr>
          <p:cNvSpPr txBox="1"/>
          <p:nvPr/>
        </p:nvSpPr>
        <p:spPr>
          <a:xfrm>
            <a:off x="965734" y="920621"/>
            <a:ext cx="8361145" cy="5016758"/>
          </a:xfrm>
          <a:prstGeom prst="rect">
            <a:avLst/>
          </a:prstGeom>
          <a:noFill/>
        </p:spPr>
        <p:txBody>
          <a:bodyPr wrap="square" rtlCol="0">
            <a:spAutoFit/>
          </a:bodyPr>
          <a:lstStyle/>
          <a:p>
            <a:r>
              <a:rPr kumimoji="1" lang="en-US" altLang="ja-JP" sz="1600" dirty="0">
                <a:solidFill>
                  <a:schemeClr val="bg1">
                    <a:lumMod val="65000"/>
                  </a:schemeClr>
                </a:solidFill>
              </a:rPr>
              <a:t>Section1</a:t>
            </a:r>
            <a:r>
              <a:rPr kumimoji="1" lang="ja-JP" altLang="en-US" sz="1600" dirty="0">
                <a:solidFill>
                  <a:schemeClr val="bg1">
                    <a:lumMod val="65000"/>
                  </a:schemeClr>
                </a:solidFill>
              </a:rPr>
              <a:t>　導入</a:t>
            </a:r>
            <a:endParaRPr kumimoji="1" lang="en-US" altLang="ja-JP" sz="1600" dirty="0">
              <a:solidFill>
                <a:schemeClr val="bg1">
                  <a:lumMod val="65000"/>
                </a:schemeClr>
              </a:solidFill>
            </a:endParaRPr>
          </a:p>
          <a:p>
            <a:r>
              <a:rPr kumimoji="1" lang="en-US" altLang="ja-JP" sz="1600" dirty="0">
                <a:solidFill>
                  <a:schemeClr val="bg1">
                    <a:lumMod val="65000"/>
                  </a:schemeClr>
                </a:solidFill>
              </a:rPr>
              <a:t>Section2</a:t>
            </a:r>
            <a:r>
              <a:rPr kumimoji="1" lang="ja-JP" altLang="en-US" sz="1600" dirty="0">
                <a:solidFill>
                  <a:schemeClr val="bg1">
                    <a:lumMod val="65000"/>
                  </a:schemeClr>
                </a:solidFill>
              </a:rPr>
              <a:t>　スコープと目的</a:t>
            </a:r>
            <a:endParaRPr lang="en-US" altLang="ja-JP" sz="1600" dirty="0">
              <a:solidFill>
                <a:schemeClr val="bg1">
                  <a:lumMod val="65000"/>
                </a:schemeClr>
              </a:solidFill>
            </a:endParaRPr>
          </a:p>
          <a:p>
            <a:r>
              <a:rPr kumimoji="1" lang="en-US" altLang="ja-JP" sz="1600" dirty="0">
                <a:solidFill>
                  <a:schemeClr val="bg1">
                    <a:lumMod val="65000"/>
                  </a:schemeClr>
                </a:solidFill>
              </a:rPr>
              <a:t>Section3</a:t>
            </a:r>
            <a:r>
              <a:rPr kumimoji="1" lang="ja-JP" altLang="en-US" sz="1600" dirty="0">
                <a:solidFill>
                  <a:schemeClr val="bg1">
                    <a:lumMod val="65000"/>
                  </a:schemeClr>
                </a:solidFill>
              </a:rPr>
              <a:t>　用語とその定義</a:t>
            </a:r>
            <a:endParaRPr lang="en-US" altLang="ja-JP" sz="1600" dirty="0">
              <a:solidFill>
                <a:schemeClr val="bg1">
                  <a:lumMod val="65000"/>
                </a:schemeClr>
              </a:solidFill>
            </a:endParaRPr>
          </a:p>
          <a:p>
            <a:r>
              <a:rPr kumimoji="1" lang="en-US" altLang="ja-JP" sz="1600" dirty="0">
                <a:solidFill>
                  <a:srgbClr val="0000FF"/>
                </a:solidFill>
              </a:rPr>
              <a:t>Section4</a:t>
            </a:r>
            <a:r>
              <a:rPr kumimoji="1" lang="ja-JP" altLang="en-US" sz="1600" dirty="0">
                <a:solidFill>
                  <a:srgbClr val="0000FF"/>
                </a:solidFill>
              </a:rPr>
              <a:t>　</a:t>
            </a:r>
            <a:r>
              <a:rPr kumimoji="1" lang="en" altLang="ja-JP" sz="1600" dirty="0">
                <a:solidFill>
                  <a:srgbClr val="0000FF"/>
                </a:solidFill>
              </a:rPr>
              <a:t> ADS</a:t>
            </a:r>
            <a:r>
              <a:rPr kumimoji="1" lang="ja-JP" altLang="en-US" sz="1600" dirty="0">
                <a:solidFill>
                  <a:srgbClr val="0000FF"/>
                </a:solidFill>
              </a:rPr>
              <a:t>の安全要件、評価および検証の概要</a:t>
            </a:r>
            <a:endParaRPr kumimoji="1" lang="en-US" altLang="ja-JP" sz="1600" dirty="0">
              <a:solidFill>
                <a:srgbClr val="0000FF"/>
              </a:solidFill>
            </a:endParaRPr>
          </a:p>
          <a:p>
            <a:r>
              <a:rPr kumimoji="1" lang="en-US" altLang="ja-JP" sz="1600" dirty="0"/>
              <a:t>Section5</a:t>
            </a:r>
            <a:r>
              <a:rPr kumimoji="1" lang="ja-JP" altLang="en-US" sz="1600" dirty="0"/>
              <a:t>　審査、安全性評価、メーカのシステムに関する文書</a:t>
            </a:r>
            <a:endParaRPr lang="en-US" altLang="ja-JP" sz="1600" dirty="0"/>
          </a:p>
          <a:p>
            <a:r>
              <a:rPr kumimoji="1" lang="en-US" altLang="ja-JP" sz="1600" dirty="0"/>
              <a:t>Section6</a:t>
            </a:r>
            <a:r>
              <a:rPr kumimoji="1" lang="ja-JP" altLang="en-US" sz="1600" dirty="0"/>
              <a:t>　</a:t>
            </a:r>
            <a:r>
              <a:rPr kumimoji="1" lang="en" altLang="ja-JP" sz="1600" dirty="0"/>
              <a:t> </a:t>
            </a:r>
            <a:r>
              <a:rPr kumimoji="1" lang="en-US" altLang="ja-JP" sz="1600" dirty="0"/>
              <a:t>ADS</a:t>
            </a:r>
            <a:r>
              <a:rPr kumimoji="1" lang="ja-JP" altLang="en-US" sz="1600" dirty="0"/>
              <a:t>の動的運転タスク性能要件</a:t>
            </a:r>
            <a:endParaRPr kumimoji="1" lang="en-US" altLang="ja-JP" sz="1600" dirty="0"/>
          </a:p>
          <a:p>
            <a:r>
              <a:rPr kumimoji="1" lang="en-US" altLang="ja-JP" sz="1600" dirty="0"/>
              <a:t>Section7</a:t>
            </a:r>
            <a:r>
              <a:rPr kumimoji="1" lang="ja-JP" altLang="en-US" sz="1600" dirty="0"/>
              <a:t>　ユーザと</a:t>
            </a:r>
            <a:r>
              <a:rPr kumimoji="1" lang="en" altLang="ja-JP" sz="1600" dirty="0"/>
              <a:t>ADS</a:t>
            </a:r>
            <a:r>
              <a:rPr kumimoji="1" lang="ja-JP" altLang="en-US" sz="1600" dirty="0"/>
              <a:t>の安全なインタラクションの要件</a:t>
            </a:r>
            <a:endParaRPr lang="en-US" altLang="ja-JP" sz="1600" dirty="0"/>
          </a:p>
          <a:p>
            <a:r>
              <a:rPr kumimoji="1" lang="en-US" altLang="ja-JP" sz="1600" dirty="0"/>
              <a:t>Section8</a:t>
            </a:r>
            <a:r>
              <a:rPr kumimoji="1" lang="ja-JP" altLang="en-US" sz="1600" dirty="0"/>
              <a:t>　使用中の監視と報告</a:t>
            </a:r>
            <a:endParaRPr kumimoji="1" lang="en-US" altLang="ja-JP" sz="1600" dirty="0"/>
          </a:p>
          <a:p>
            <a:endParaRPr lang="en-US" altLang="ja-JP" sz="1600" dirty="0"/>
          </a:p>
          <a:p>
            <a:r>
              <a:rPr lang="en-US" altLang="ja-JP" sz="1600" dirty="0"/>
              <a:t>Annex1</a:t>
            </a:r>
            <a:r>
              <a:rPr lang="ja-JP" altLang="en-US" sz="1600" dirty="0"/>
              <a:t>　</a:t>
            </a:r>
            <a:r>
              <a:rPr lang="en" altLang="ja-JP" sz="1600" dirty="0"/>
              <a:t> ADS</a:t>
            </a:r>
            <a:r>
              <a:rPr lang="ja-JP" altLang="en-US" sz="1600" dirty="0"/>
              <a:t>安全要件の作成の背景</a:t>
            </a:r>
            <a:endParaRPr lang="en-US" altLang="ja-JP" sz="1600" dirty="0"/>
          </a:p>
          <a:p>
            <a:r>
              <a:rPr lang="en-US" altLang="ja-JP" sz="1600" dirty="0"/>
              <a:t>Annex2</a:t>
            </a:r>
            <a:r>
              <a:rPr lang="ja-JP" altLang="en-US" sz="1600" dirty="0"/>
              <a:t>　適切な検証ピラーへの</a:t>
            </a:r>
            <a:r>
              <a:rPr lang="en" altLang="ja-JP" sz="1600" dirty="0"/>
              <a:t>DDT </a:t>
            </a:r>
            <a:r>
              <a:rPr lang="ja-JP" altLang="en-US" sz="1600" dirty="0"/>
              <a:t>とユーザ要件の基準</a:t>
            </a:r>
            <a:endParaRPr lang="en-US" altLang="ja-JP" sz="1600" dirty="0"/>
          </a:p>
          <a:p>
            <a:r>
              <a:rPr lang="en-US" altLang="ja-JP" sz="1600" dirty="0"/>
              <a:t>Annex3</a:t>
            </a:r>
            <a:r>
              <a:rPr lang="ja-JP" altLang="en-US" sz="1600" dirty="0"/>
              <a:t>　検証可能な性能基準を導くアプローチ</a:t>
            </a:r>
            <a:endParaRPr lang="en-US" altLang="ja-JP" sz="1600" dirty="0"/>
          </a:p>
          <a:p>
            <a:r>
              <a:rPr lang="en-US" altLang="ja-JP" sz="1600" dirty="0"/>
              <a:t>Annex4</a:t>
            </a:r>
            <a:r>
              <a:rPr lang="ja-JP" altLang="en-US" sz="1600" dirty="0"/>
              <a:t>　交通シナリオ</a:t>
            </a:r>
            <a:endParaRPr lang="en-US" altLang="ja-JP" sz="1600" dirty="0"/>
          </a:p>
          <a:p>
            <a:r>
              <a:rPr lang="en-US" altLang="ja-JP" sz="1600" dirty="0"/>
              <a:t>Annex5</a:t>
            </a:r>
            <a:r>
              <a:rPr lang="ja-JP" altLang="en-US" sz="1600" dirty="0"/>
              <a:t>　シュミレーションと信頼性評価</a:t>
            </a:r>
            <a:endParaRPr lang="en-US" altLang="ja-JP" sz="1600" dirty="0"/>
          </a:p>
          <a:p>
            <a:r>
              <a:rPr lang="en-US" altLang="ja-JP" sz="1600" dirty="0"/>
              <a:t>Annex6</a:t>
            </a:r>
            <a:r>
              <a:rPr lang="ja-JP" altLang="en-US" sz="1600" dirty="0"/>
              <a:t>　トラック試験と実世界での試験</a:t>
            </a:r>
            <a:endParaRPr lang="en-US" altLang="ja-JP" sz="1600" dirty="0"/>
          </a:p>
          <a:p>
            <a:r>
              <a:rPr lang="en-US" altLang="ja-JP" sz="1600" dirty="0"/>
              <a:t>Annex7</a:t>
            </a:r>
            <a:r>
              <a:rPr lang="ja-JP" altLang="en-US" sz="1600" dirty="0"/>
              <a:t>　</a:t>
            </a:r>
            <a:r>
              <a:rPr lang="en" altLang="ja-JP" sz="1600" dirty="0"/>
              <a:t> ISMR</a:t>
            </a:r>
            <a:r>
              <a:rPr lang="ja-JP" altLang="en-US" sz="1600" dirty="0"/>
              <a:t>と安全要件のマトリクス</a:t>
            </a:r>
            <a:endParaRPr lang="en-US" altLang="ja-JP" sz="1600" dirty="0"/>
          </a:p>
          <a:p>
            <a:r>
              <a:rPr lang="en-US" altLang="ja-JP" sz="1600" dirty="0"/>
              <a:t>Annex8</a:t>
            </a:r>
            <a:r>
              <a:rPr lang="ja-JP" altLang="en-US" sz="1600" dirty="0"/>
              <a:t>　</a:t>
            </a:r>
            <a:r>
              <a:rPr lang="en" altLang="ja-JP" sz="1600" dirty="0"/>
              <a:t> ISMR</a:t>
            </a:r>
            <a:r>
              <a:rPr lang="ja-JP" altLang="en-US" sz="1600" dirty="0"/>
              <a:t>報告テンプレート</a:t>
            </a:r>
            <a:endParaRPr lang="en-US" altLang="ja-JP" sz="1600" dirty="0"/>
          </a:p>
          <a:p>
            <a:r>
              <a:rPr lang="en-US" altLang="ja-JP" sz="1600" dirty="0"/>
              <a:t>Annex9</a:t>
            </a:r>
            <a:r>
              <a:rPr lang="ja-JP" altLang="en-US" sz="1600" dirty="0"/>
              <a:t>　使用中の監視を効果的に実施するための推奨事項</a:t>
            </a:r>
            <a:endParaRPr lang="en-US" altLang="ja-JP" sz="1600" dirty="0"/>
          </a:p>
          <a:p>
            <a:r>
              <a:rPr lang="en-US" altLang="ja-JP" sz="1600" dirty="0"/>
              <a:t>Annex10</a:t>
            </a:r>
            <a:r>
              <a:rPr lang="ja-JP" altLang="en-US" sz="1600" dirty="0"/>
              <a:t>　今後の活動におけるさらなる議論</a:t>
            </a:r>
            <a:endParaRPr lang="en-US" altLang="ja-JP" sz="1600" dirty="0"/>
          </a:p>
          <a:p>
            <a:endParaRPr kumimoji="1" lang="en-US" altLang="ja-JP" sz="1600" dirty="0"/>
          </a:p>
        </p:txBody>
      </p:sp>
    </p:spTree>
    <p:extLst>
      <p:ext uri="{BB962C8B-B14F-4D97-AF65-F5344CB8AC3E}">
        <p14:creationId xmlns:p14="http://schemas.microsoft.com/office/powerpoint/2010/main" val="1651741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表 29">
            <a:extLst>
              <a:ext uri="{FF2B5EF4-FFF2-40B4-BE49-F238E27FC236}">
                <a16:creationId xmlns:a16="http://schemas.microsoft.com/office/drawing/2014/main" id="{E27BAED1-98BE-5CFD-E19A-E5BE4E1A4350}"/>
              </a:ext>
            </a:extLst>
          </p:cNvPr>
          <p:cNvGraphicFramePr>
            <a:graphicFrameLocks noGrp="1"/>
          </p:cNvGraphicFramePr>
          <p:nvPr>
            <p:extLst>
              <p:ext uri="{D42A27DB-BD31-4B8C-83A1-F6EECF244321}">
                <p14:modId xmlns:p14="http://schemas.microsoft.com/office/powerpoint/2010/main" val="1829609532"/>
              </p:ext>
            </p:extLst>
          </p:nvPr>
        </p:nvGraphicFramePr>
        <p:xfrm>
          <a:off x="449097" y="3245876"/>
          <a:ext cx="11408457" cy="2711627"/>
        </p:xfrm>
        <a:graphic>
          <a:graphicData uri="http://schemas.openxmlformats.org/drawingml/2006/table">
            <a:tbl>
              <a:tblPr firstRow="1" bandRow="1">
                <a:tableStyleId>{5C22544A-7EE6-4342-B048-85BDC9FD1C3A}</a:tableStyleId>
              </a:tblPr>
              <a:tblGrid>
                <a:gridCol w="1451736">
                  <a:extLst>
                    <a:ext uri="{9D8B030D-6E8A-4147-A177-3AD203B41FA5}">
                      <a16:colId xmlns:a16="http://schemas.microsoft.com/office/drawing/2014/main" val="1509194907"/>
                    </a:ext>
                  </a:extLst>
                </a:gridCol>
                <a:gridCol w="1494053">
                  <a:extLst>
                    <a:ext uri="{9D8B030D-6E8A-4147-A177-3AD203B41FA5}">
                      <a16:colId xmlns:a16="http://schemas.microsoft.com/office/drawing/2014/main" val="2931880897"/>
                    </a:ext>
                  </a:extLst>
                </a:gridCol>
                <a:gridCol w="1494053">
                  <a:extLst>
                    <a:ext uri="{9D8B030D-6E8A-4147-A177-3AD203B41FA5}">
                      <a16:colId xmlns:a16="http://schemas.microsoft.com/office/drawing/2014/main" val="3508132146"/>
                    </a:ext>
                  </a:extLst>
                </a:gridCol>
                <a:gridCol w="1704366">
                  <a:extLst>
                    <a:ext uri="{9D8B030D-6E8A-4147-A177-3AD203B41FA5}">
                      <a16:colId xmlns:a16="http://schemas.microsoft.com/office/drawing/2014/main" val="719919287"/>
                    </a:ext>
                  </a:extLst>
                </a:gridCol>
                <a:gridCol w="5264249">
                  <a:extLst>
                    <a:ext uri="{9D8B030D-6E8A-4147-A177-3AD203B41FA5}">
                      <a16:colId xmlns:a16="http://schemas.microsoft.com/office/drawing/2014/main" val="3186726167"/>
                    </a:ext>
                  </a:extLst>
                </a:gridCol>
              </a:tblGrid>
              <a:tr h="374605">
                <a:tc gridSpan="4">
                  <a:txBody>
                    <a:bodyPr/>
                    <a:lstStyle/>
                    <a:p>
                      <a:pPr algn="ctr"/>
                      <a:r>
                        <a:rPr lang="en-US" sz="1200" b="1" err="1">
                          <a:solidFill>
                            <a:schemeClr val="tx1"/>
                          </a:solidFill>
                          <a:latin typeface="Meiryo UI" panose="020B0604030504040204" pitchFamily="34" charset="-128"/>
                          <a:ea typeface="Meiryo UI" panose="020B0604030504040204" pitchFamily="34" charset="-128"/>
                        </a:rPr>
                        <a:t>交通シナリオ</a:t>
                      </a:r>
                      <a:endParaRPr lang="en-US" sz="1200" b="1">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algn="ctr"/>
                      <a:endParaRPr kumimoji="1" lang="ja-JP" altLang="en-US" sz="11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rowSpan="2">
                  <a:txBody>
                    <a:bodyPr/>
                    <a:lstStyle/>
                    <a:p>
                      <a:pPr algn="ctr"/>
                      <a:r>
                        <a:rPr kumimoji="1" lang="ja-JP" altLang="en-US" sz="1200" b="1">
                          <a:solidFill>
                            <a:schemeClr val="tx1"/>
                          </a:solidFill>
                          <a:latin typeface="Meiryo UI" panose="020B0604030504040204" pitchFamily="34" charset="-128"/>
                          <a:ea typeface="Meiryo UI" panose="020B0604030504040204" pitchFamily="34" charset="-128"/>
                        </a:rPr>
                        <a:t>安全要件</a:t>
                      </a:r>
                      <a:endParaRPr kumimoji="1" lang="en-US" altLang="ja-JP" sz="1200" b="1">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842975449"/>
                  </a:ext>
                </a:extLst>
              </a:tr>
              <a:tr h="374605">
                <a:tc>
                  <a:txBody>
                    <a:bodyPr/>
                    <a:lstStyle/>
                    <a:p>
                      <a:pPr algn="ctr"/>
                      <a:r>
                        <a:rPr lang="en-US" sz="1200" b="1" dirty="0" err="1">
                          <a:solidFill>
                            <a:schemeClr val="tx1"/>
                          </a:solidFill>
                          <a:latin typeface="Meiryo UI" panose="020B0604030504040204" pitchFamily="34" charset="-128"/>
                          <a:ea typeface="Meiryo UI" panose="020B0604030504040204" pitchFamily="34" charset="-128"/>
                        </a:rPr>
                        <a:t>分類</a:t>
                      </a:r>
                      <a:endParaRPr lang="en-US" sz="1200" b="1"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kumimoji="1" lang="ja-JP" altLang="en-US" sz="1100" b="1">
                          <a:solidFill>
                            <a:schemeClr val="tx1"/>
                          </a:solidFill>
                        </a:rPr>
                        <a:t>道路状況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kumimoji="1" lang="ja-JP" altLang="en-US" sz="1200" b="1">
                          <a:solidFill>
                            <a:schemeClr val="tx1"/>
                          </a:solidFill>
                        </a:rPr>
                        <a:t>他の振る舞い</a:t>
                      </a:r>
                      <a:endParaRPr kumimoji="1" lang="ja-JP" altLang="en-US"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kumimoji="1" lang="ja-JP" altLang="en-US" sz="1200" b="1">
                          <a:solidFill>
                            <a:schemeClr val="tx1"/>
                          </a:solidFill>
                        </a:rPr>
                        <a:t>自の振る舞い</a:t>
                      </a:r>
                      <a:endParaRPr kumimoji="1" lang="ja-JP" altLang="en-US"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vMerge="1">
                  <a:txBody>
                    <a:bodyPr/>
                    <a:lstStyle/>
                    <a:p>
                      <a:endParaRPr kumimoji="1" lang="ja-JP" altLang="en-US"/>
                    </a:p>
                  </a:txBody>
                  <a:tcPr/>
                </a:tc>
                <a:extLst>
                  <a:ext uri="{0D108BD9-81ED-4DB2-BD59-A6C34878D82A}">
                    <a16:rowId xmlns:a16="http://schemas.microsoft.com/office/drawing/2014/main" val="4225556094"/>
                  </a:ext>
                </a:extLst>
              </a:tr>
              <a:tr h="584630">
                <a:tc>
                  <a:txBody>
                    <a:bodyPr/>
                    <a:lstStyle/>
                    <a:p>
                      <a:pPr algn="ctr"/>
                      <a:r>
                        <a:rPr kumimoji="1" lang="ja-JP" altLang="en-US" sz="1200" b="1">
                          <a:solidFill>
                            <a:schemeClr val="bg1"/>
                          </a:solidFill>
                        </a:rPr>
                        <a:t>基準シナリオ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u="none" strike="noStrike">
                          <a:solidFill>
                            <a:schemeClr val="tx1"/>
                          </a:solidFill>
                          <a:effectLst/>
                          <a:latin typeface="Meiryo UI" panose="020B0604030504040204" pitchFamily="34" charset="-128"/>
                          <a:ea typeface="Meiryo UI" panose="020B0604030504040204" pitchFamily="34" charset="-128"/>
                        </a:rPr>
                        <a:t>高確率で遭遇</a:t>
                      </a:r>
                      <a:endParaRPr kumimoji="1" lang="en" altLang="ja-JP"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u="none" strike="noStrike">
                          <a:solidFill>
                            <a:schemeClr val="tx1"/>
                          </a:solidFill>
                          <a:effectLst/>
                          <a:latin typeface="Meiryo UI" panose="020B0604030504040204" pitchFamily="34" charset="-128"/>
                          <a:ea typeface="Meiryo UI" panose="020B0604030504040204" pitchFamily="34" charset="-128"/>
                        </a:rPr>
                        <a:t>高確率で遭遇</a:t>
                      </a:r>
                      <a:endParaRPr kumimoji="1" lang="en" altLang="ja-JP"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panose="020B0604030504040204" pitchFamily="34" charset="-128"/>
                          <a:ea typeface="Meiryo UI" panose="020B0604030504040204" pitchFamily="34" charset="-128"/>
                          <a:cs typeface="+mn-cs"/>
                        </a:rPr>
                        <a:t>正常な動作</a:t>
                      </a:r>
                      <a:endParaRPr kumimoji="1" lang="en-US" altLang="ja-JP" sz="1200" b="1" i="0" u="none" strike="noStrike" kern="1200" cap="none" spc="0" normalizeH="0" baseline="0" noProof="0">
                        <a:ln>
                          <a:noFill/>
                        </a:ln>
                        <a:solidFill>
                          <a:prstClr val="black"/>
                        </a:solidFill>
                        <a:effectLst/>
                        <a:uLnTx/>
                        <a:uFillTx/>
                        <a:latin typeface="Meiryo UI" panose="020B0604030504040204" pitchFamily="34" charset="-128"/>
                        <a:ea typeface="Meiryo UI" panose="020B0604030504040204" pitchFamily="34"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a:solidFill>
                            <a:schemeClr val="tx1"/>
                          </a:solidFill>
                        </a:rPr>
                        <a:t>自の振る舞いが動作要件と一致すること</a:t>
                      </a:r>
                      <a:endParaRPr kumimoji="1" lang="en" altLang="ja-JP"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144292"/>
                  </a:ext>
                </a:extLst>
              </a:tr>
              <a:tr h="753446">
                <a:tc>
                  <a:txBody>
                    <a:bodyPr/>
                    <a:lstStyle/>
                    <a:p>
                      <a:pPr algn="ctr"/>
                      <a:r>
                        <a:rPr kumimoji="1" lang="ja-JP" altLang="en-US" sz="1200" b="1">
                          <a:solidFill>
                            <a:schemeClr val="bg1"/>
                          </a:solidFill>
                        </a:rPr>
                        <a:t>危険シナリオ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a:solidFill>
                            <a:schemeClr val="tx1"/>
                          </a:solidFill>
                        </a:rPr>
                        <a:t>低確率</a:t>
                      </a:r>
                      <a:r>
                        <a:rPr kumimoji="1" lang="ja-JP" altLang="en-US" sz="1200" b="1" u="none" strike="noStrike">
                          <a:solidFill>
                            <a:schemeClr val="tx1"/>
                          </a:solidFill>
                          <a:effectLst/>
                          <a:latin typeface="Meiryo UI" panose="020B0604030504040204" pitchFamily="34" charset="-128"/>
                          <a:ea typeface="Meiryo UI" panose="020B0604030504040204" pitchFamily="34" charset="-128"/>
                        </a:rPr>
                        <a:t>で遭遇</a:t>
                      </a:r>
                      <a:endParaRPr kumimoji="1" lang="en-US" altLang="ja-JP" sz="1200" b="1" u="none" strike="noStrike">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a:solidFill>
                            <a:schemeClr val="tx1"/>
                          </a:solidFill>
                        </a:rPr>
                        <a:t>リスクが高い</a:t>
                      </a:r>
                      <a:endParaRPr kumimoji="1" lang="en-US" altLang="ja-JP"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a:solidFill>
                            <a:schemeClr val="tx1"/>
                          </a:solidFill>
                        </a:rPr>
                        <a:t>低確率</a:t>
                      </a:r>
                      <a:r>
                        <a:rPr kumimoji="1" lang="ja-JP" altLang="en-US" sz="1200" b="1" u="none" strike="noStrike">
                          <a:solidFill>
                            <a:schemeClr val="tx1"/>
                          </a:solidFill>
                          <a:effectLst/>
                          <a:latin typeface="Meiryo UI" panose="020B0604030504040204" pitchFamily="34" charset="-128"/>
                          <a:ea typeface="Meiryo UI" panose="020B0604030504040204" pitchFamily="34" charset="-128"/>
                        </a:rPr>
                        <a:t>で遭遇</a:t>
                      </a:r>
                      <a:endParaRPr kumimoji="1" lang="en-US" altLang="ja-JP" sz="1200" b="1" u="none" strike="noStrike">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a:solidFill>
                            <a:schemeClr val="tx1"/>
                          </a:solidFill>
                        </a:rPr>
                        <a:t>リスクが高い</a:t>
                      </a:r>
                      <a:endParaRPr kumimoji="1" lang="en-US" altLang="ja-JP"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Calibri" panose="020F0502020204030204"/>
                          <a:ea typeface="メイリオ" panose="020B0604030504040204" pitchFamily="50" charset="-128"/>
                          <a:cs typeface="+mn-cs"/>
                        </a:rPr>
                        <a:t>リスクを最小にする動作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a:solidFill>
                            <a:schemeClr val="tx1"/>
                          </a:solidFill>
                        </a:rPr>
                        <a:t>リスクを最小にするための、衝突を回避または緩和する自の振る舞いが正当である（交通規則に対する遵守性）と判断されること</a:t>
                      </a:r>
                      <a:endParaRPr kumimoji="1" lang="en-US" altLang="ja-JP"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6415164"/>
                  </a:ext>
                </a:extLst>
              </a:tr>
              <a:tr h="624341">
                <a:tc>
                  <a:txBody>
                    <a:bodyPr/>
                    <a:lstStyle/>
                    <a:p>
                      <a:pPr algn="ctr"/>
                      <a:r>
                        <a:rPr kumimoji="1" lang="ja-JP" altLang="en-US" sz="1200" b="1">
                          <a:solidFill>
                            <a:schemeClr val="bg1"/>
                          </a:solidFill>
                        </a:rPr>
                        <a:t>故障シナリオ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Calibri" panose="020F0502020204030204"/>
                          <a:ea typeface="メイリオ" panose="020B0604030504040204" pitchFamily="50" charset="-128"/>
                          <a:cs typeface="+mn-cs"/>
                        </a:rPr>
                        <a:t>ー</a:t>
                      </a:r>
                      <a:endParaRPr kumimoji="1" lang="en" altLang="ja-JP" sz="1200" b="1" i="0" u="none" strike="noStrike" kern="1200" cap="none" spc="0" normalizeH="0" baseline="0" noProof="0">
                        <a:ln>
                          <a:noFill/>
                        </a:ln>
                        <a:solidFill>
                          <a:prstClr val="black"/>
                        </a:solidFill>
                        <a:effectLst/>
                        <a:uLnTx/>
                        <a:uFillTx/>
                        <a:latin typeface="Calibri" panose="020F0502020204030204"/>
                        <a:ea typeface="メイリオ" panose="020B0604030504040204"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Calibri" panose="020F0502020204030204"/>
                          <a:ea typeface="メイリオ" panose="020B0604030504040204" pitchFamily="50" charset="-128"/>
                          <a:cs typeface="+mn-cs"/>
                        </a:rPr>
                        <a:t>ー</a:t>
                      </a:r>
                      <a:endParaRPr kumimoji="1" lang="en" altLang="ja-JP" sz="1200" b="1" i="0" u="none" strike="noStrike" kern="1200" cap="none" spc="0" normalizeH="0" baseline="0" noProof="0">
                        <a:ln>
                          <a:noFill/>
                        </a:ln>
                        <a:solidFill>
                          <a:prstClr val="black"/>
                        </a:solidFill>
                        <a:effectLst/>
                        <a:uLnTx/>
                        <a:uFillTx/>
                        <a:latin typeface="Calibri" panose="020F0502020204030204"/>
                        <a:ea typeface="メイリオ" panose="020B0604030504040204"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u="none" strike="noStrike">
                          <a:effectLst/>
                          <a:latin typeface="Meiryo UI" panose="020B0604030504040204" pitchFamily="34" charset="-128"/>
                          <a:ea typeface="Meiryo UI" panose="020B0604030504040204" pitchFamily="34" charset="-128"/>
                        </a:rPr>
                        <a:t>システム故障に対応し、</a:t>
                      </a:r>
                      <a:endParaRPr lang="en-US" altLang="ja-JP" sz="1200" b="1" u="none" strike="noStrike">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u="none" strike="noStrike">
                          <a:effectLst/>
                          <a:latin typeface="Meiryo UI" panose="020B0604030504040204" pitchFamily="34" charset="-128"/>
                          <a:ea typeface="Meiryo UI" panose="020B0604030504040204" pitchFamily="34" charset="-128"/>
                        </a:rPr>
                        <a:t>リスクを最小にする動作</a:t>
                      </a:r>
                      <a:endParaRPr kumimoji="1" lang="ja-JP" altLang="en-US"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dirty="0">
                          <a:solidFill>
                            <a:schemeClr val="tx1"/>
                          </a:solidFill>
                        </a:rPr>
                        <a:t>ドライバに操作を戻すか、車両を安全な停止状態に置くこと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6975450"/>
                  </a:ext>
                </a:extLst>
              </a:tr>
            </a:tbl>
          </a:graphicData>
        </a:graphic>
      </p:graphicFrame>
      <p:sp>
        <p:nvSpPr>
          <p:cNvPr id="31" name="正方形/長方形 30">
            <a:extLst>
              <a:ext uri="{FF2B5EF4-FFF2-40B4-BE49-F238E27FC236}">
                <a16:creationId xmlns:a16="http://schemas.microsoft.com/office/drawing/2014/main" id="{96A2B894-7C76-D782-0D01-93B04048DCC9}"/>
              </a:ext>
            </a:extLst>
          </p:cNvPr>
          <p:cNvSpPr/>
          <p:nvPr/>
        </p:nvSpPr>
        <p:spPr>
          <a:xfrm>
            <a:off x="411455" y="2858355"/>
            <a:ext cx="3564197" cy="369332"/>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non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34" charset="-128"/>
                <a:ea typeface="Meiryo UI" panose="020B0604030504040204" pitchFamily="34" charset="-128"/>
              </a:rPr>
              <a:t>＜交通シナリオ開発フレームワークの概要＞</a:t>
            </a:r>
            <a:endParaRPr lang="en-US" altLang="ja-JP" sz="1200" dirty="0">
              <a:solidFill>
                <a:schemeClr val="tx1"/>
              </a:solidFill>
              <a:latin typeface="Meiryo UI" panose="020B0604030504040204" pitchFamily="34" charset="-128"/>
              <a:ea typeface="Meiryo UI" panose="020B0604030504040204" pitchFamily="34" charset="-128"/>
            </a:endParaRPr>
          </a:p>
        </p:txBody>
      </p:sp>
      <p:sp>
        <p:nvSpPr>
          <p:cNvPr id="32" name="テキスト ボックス 31">
            <a:extLst>
              <a:ext uri="{FF2B5EF4-FFF2-40B4-BE49-F238E27FC236}">
                <a16:creationId xmlns:a16="http://schemas.microsoft.com/office/drawing/2014/main" id="{611918FE-3607-7C75-B341-20199BCCAAF6}"/>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4 </a:t>
            </a:r>
            <a:r>
              <a:rPr lang="en" altLang="ja-JP">
                <a:solidFill>
                  <a:schemeClr val="bg1"/>
                </a:solidFill>
                <a:latin typeface="Meiryo UI" panose="020B0604030504040204" pitchFamily="50" charset="-128"/>
                <a:ea typeface="Meiryo UI" panose="020B0604030504040204" pitchFamily="50" charset="-128"/>
              </a:rPr>
              <a:t>ADS</a:t>
            </a:r>
            <a:r>
              <a:rPr lang="ja-JP" altLang="en-US">
                <a:solidFill>
                  <a:schemeClr val="bg1"/>
                </a:solidFill>
                <a:latin typeface="Meiryo UI" panose="020B0604030504040204" pitchFamily="50" charset="-128"/>
                <a:ea typeface="Meiryo UI" panose="020B0604030504040204" pitchFamily="50" charset="-128"/>
              </a:rPr>
              <a:t>の安全要件、評価と検証の概要</a:t>
            </a:r>
          </a:p>
        </p:txBody>
      </p:sp>
      <p:sp>
        <p:nvSpPr>
          <p:cNvPr id="33" name="正方形/長方形 32">
            <a:extLst>
              <a:ext uri="{FF2B5EF4-FFF2-40B4-BE49-F238E27FC236}">
                <a16:creationId xmlns:a16="http://schemas.microsoft.com/office/drawing/2014/main" id="{C8C938AF-4032-487C-E67A-3721F291819C}"/>
              </a:ext>
            </a:extLst>
          </p:cNvPr>
          <p:cNvSpPr/>
          <p:nvPr/>
        </p:nvSpPr>
        <p:spPr>
          <a:xfrm>
            <a:off x="132421" y="2227849"/>
            <a:ext cx="5224770" cy="519090"/>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non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a:solidFill>
                  <a:schemeClr val="tx1"/>
                </a:solidFill>
                <a:latin typeface="Meiryo UI" panose="020B0604030504040204" pitchFamily="34" charset="-128"/>
                <a:ea typeface="Meiryo UI" panose="020B0604030504040204" pitchFamily="34" charset="-128"/>
              </a:rPr>
              <a:t>◾️</a:t>
            </a:r>
            <a:r>
              <a:rPr lang="en-US" altLang="ja-JP" sz="1400">
                <a:solidFill>
                  <a:schemeClr val="tx1"/>
                </a:solidFill>
                <a:latin typeface="Meiryo UI" panose="020B0604030504040204" pitchFamily="34" charset="-128"/>
                <a:ea typeface="Meiryo UI" panose="020B0604030504040204" pitchFamily="34" charset="-128"/>
              </a:rPr>
              <a:t>4.1 ADS</a:t>
            </a:r>
            <a:r>
              <a:rPr lang="ja-JP" altLang="en-US" sz="1400">
                <a:solidFill>
                  <a:schemeClr val="tx1"/>
                </a:solidFill>
                <a:latin typeface="Meiryo UI" panose="020B0604030504040204" pitchFamily="34" charset="-128"/>
                <a:ea typeface="Meiryo UI" panose="020B0604030504040204" pitchFamily="34" charset="-128"/>
              </a:rPr>
              <a:t>要件</a:t>
            </a:r>
            <a:endParaRPr lang="en-US" altLang="ja-JP" sz="1200">
              <a:solidFill>
                <a:schemeClr val="tx1"/>
              </a:solidFill>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solidFill>
                <a:effectLst/>
                <a:uLnTx/>
                <a:uFillTx/>
                <a:latin typeface="Meiryo UI" panose="020B0604030504040204" pitchFamily="34" charset="-128"/>
                <a:ea typeface="Meiryo UI" panose="020B0604030504040204" pitchFamily="34" charset="-128"/>
              </a:rPr>
              <a:t>　　</a:t>
            </a:r>
            <a:r>
              <a:rPr lang="ja-JP" altLang="en-US" sz="1200" u="sng">
                <a:solidFill>
                  <a:schemeClr val="tx1"/>
                </a:solidFill>
                <a:latin typeface="Meiryo UI" panose="020B0604030504040204" pitchFamily="34" charset="-128"/>
                <a:ea typeface="Meiryo UI" panose="020B0604030504040204" pitchFamily="34" charset="-128"/>
              </a:rPr>
              <a:t>交通シナリオ開発フレームワーク</a:t>
            </a:r>
            <a:r>
              <a:rPr lang="ja-JP" altLang="en-US" sz="1200">
                <a:solidFill>
                  <a:schemeClr val="tx1"/>
                </a:solidFill>
                <a:latin typeface="Meiryo UI" panose="020B0604030504040204" pitchFamily="34" charset="-128"/>
                <a:ea typeface="Meiryo UI" panose="020B0604030504040204" pitchFamily="34" charset="-128"/>
              </a:rPr>
              <a:t>を通じて体系的に要件を確立する</a:t>
            </a:r>
            <a:endParaRPr lang="en-US" altLang="ja-JP" sz="1200">
              <a:solidFill>
                <a:schemeClr val="tx1"/>
              </a:solidFill>
              <a:latin typeface="Meiryo UI" panose="020B0604030504040204" pitchFamily="34" charset="-128"/>
              <a:ea typeface="Meiryo UI" panose="020B0604030504040204" pitchFamily="34" charset="-128"/>
            </a:endParaRPr>
          </a:p>
        </p:txBody>
      </p:sp>
      <p:sp>
        <p:nvSpPr>
          <p:cNvPr id="34" name="正方形/長方形 33">
            <a:extLst>
              <a:ext uri="{FF2B5EF4-FFF2-40B4-BE49-F238E27FC236}">
                <a16:creationId xmlns:a16="http://schemas.microsoft.com/office/drawing/2014/main" id="{B244BB3D-2BB2-3B79-30A0-64174E7C10B3}"/>
              </a:ext>
            </a:extLst>
          </p:cNvPr>
          <p:cNvSpPr/>
          <p:nvPr/>
        </p:nvSpPr>
        <p:spPr>
          <a:xfrm>
            <a:off x="132420" y="572504"/>
            <a:ext cx="5603362" cy="432183"/>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non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b="1">
                <a:solidFill>
                  <a:schemeClr val="tx1"/>
                </a:solidFill>
                <a:latin typeface="Meiryo UI" panose="020B0604030504040204" pitchFamily="34" charset="-128"/>
                <a:ea typeface="Meiryo UI" panose="020B0604030504040204" pitchFamily="34" charset="-128"/>
              </a:rPr>
              <a:t>Section4</a:t>
            </a:r>
            <a:r>
              <a:rPr lang="ja-JP" altLang="en-US" sz="1400" b="1">
                <a:solidFill>
                  <a:schemeClr val="tx1"/>
                </a:solidFill>
                <a:latin typeface="Meiryo UI" panose="020B0604030504040204" pitchFamily="34" charset="-128"/>
                <a:ea typeface="Meiryo UI" panose="020B0604030504040204" pitchFamily="34" charset="-128"/>
              </a:rPr>
              <a:t>では、</a:t>
            </a:r>
            <a:r>
              <a:rPr lang="en-US" altLang="ja-JP" sz="1400" b="1">
                <a:solidFill>
                  <a:schemeClr val="tx1"/>
                </a:solidFill>
                <a:latin typeface="Meiryo UI" panose="020B0604030504040204" pitchFamily="34" charset="-128"/>
                <a:ea typeface="Meiryo UI" panose="020B0604030504040204" pitchFamily="34" charset="-128"/>
              </a:rPr>
              <a:t>ADS</a:t>
            </a:r>
            <a:r>
              <a:rPr lang="ja-JP" altLang="en-US" sz="1400" b="1">
                <a:solidFill>
                  <a:schemeClr val="tx1"/>
                </a:solidFill>
                <a:latin typeface="Meiryo UI" panose="020B0604030504040204" pitchFamily="34" charset="-128"/>
                <a:ea typeface="Meiryo UI" panose="020B0604030504040204" pitchFamily="34" charset="-128"/>
              </a:rPr>
              <a:t>の安全要件と評価の概要について述べる</a:t>
            </a:r>
            <a:endParaRPr lang="en-US" altLang="ja-JP" sz="1200" b="1">
              <a:solidFill>
                <a:schemeClr val="tx1"/>
              </a:solidFill>
              <a:latin typeface="Meiryo UI" panose="020B0604030504040204" pitchFamily="34" charset="-128"/>
              <a:ea typeface="Meiryo UI" panose="020B0604030504040204" pitchFamily="34" charset="-128"/>
            </a:endParaRPr>
          </a:p>
        </p:txBody>
      </p:sp>
      <p:sp>
        <p:nvSpPr>
          <p:cNvPr id="35" name="正方形/長方形 34">
            <a:extLst>
              <a:ext uri="{FF2B5EF4-FFF2-40B4-BE49-F238E27FC236}">
                <a16:creationId xmlns:a16="http://schemas.microsoft.com/office/drawing/2014/main" id="{A81C8404-B6D5-A341-7599-7526303022B1}"/>
              </a:ext>
            </a:extLst>
          </p:cNvPr>
          <p:cNvSpPr/>
          <p:nvPr/>
        </p:nvSpPr>
        <p:spPr>
          <a:xfrm>
            <a:off x="211933" y="900497"/>
            <a:ext cx="5224770" cy="1272056"/>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non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a:solidFill>
                  <a:schemeClr val="tx1"/>
                </a:solidFill>
                <a:latin typeface="Meiryo UI" panose="020B0604030504040204" pitchFamily="34" charset="-128"/>
                <a:ea typeface="Meiryo UI" panose="020B0604030504040204" pitchFamily="34" charset="-128"/>
              </a:rPr>
              <a:t>4.1 ADS</a:t>
            </a:r>
            <a:r>
              <a:rPr lang="ja-JP" altLang="en-US" sz="1200">
                <a:solidFill>
                  <a:schemeClr val="tx1"/>
                </a:solidFill>
                <a:latin typeface="Meiryo UI" panose="020B0604030504040204" pitchFamily="34" charset="-128"/>
                <a:ea typeface="Meiryo UI" panose="020B0604030504040204" pitchFamily="34" charset="-128"/>
              </a:rPr>
              <a:t>要件</a:t>
            </a:r>
            <a:endParaRPr lang="en-US" altLang="ja-JP" sz="1200">
              <a:solidFill>
                <a:schemeClr val="tx1"/>
              </a:solidFill>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a:solidFill>
                  <a:schemeClr val="tx1"/>
                </a:solidFill>
                <a:latin typeface="Meiryo UI" panose="020B0604030504040204" pitchFamily="34" charset="-128"/>
                <a:ea typeface="Meiryo UI" panose="020B0604030504040204" pitchFamily="34" charset="-128"/>
              </a:rPr>
              <a:t>4.2 ADS</a:t>
            </a:r>
            <a:r>
              <a:rPr lang="ja-JP" altLang="en-US" sz="1200">
                <a:solidFill>
                  <a:schemeClr val="tx1"/>
                </a:solidFill>
                <a:latin typeface="Meiryo UI" panose="020B0604030504040204" pitchFamily="34" charset="-128"/>
                <a:ea typeface="Meiryo UI" panose="020B0604030504040204" pitchFamily="34" charset="-128"/>
              </a:rPr>
              <a:t>評価</a:t>
            </a:r>
            <a:endParaRPr lang="en-US" altLang="ja-JP" sz="1200">
              <a:solidFill>
                <a:schemeClr val="tx1"/>
              </a:solidFill>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solidFill>
                  <a:schemeClr val="tx1"/>
                </a:solidFill>
                <a:latin typeface="Meiryo UI" panose="020B0604030504040204" pitchFamily="34" charset="-128"/>
                <a:ea typeface="Meiryo UI" panose="020B0604030504040204" pitchFamily="34" charset="-128"/>
              </a:rPr>
              <a:t>　</a:t>
            </a:r>
            <a:r>
              <a:rPr lang="en-US" altLang="ja-JP" sz="1200">
                <a:solidFill>
                  <a:schemeClr val="tx1"/>
                </a:solidFill>
                <a:latin typeface="Meiryo UI" panose="020B0604030504040204" pitchFamily="34" charset="-128"/>
                <a:ea typeface="Meiryo UI" panose="020B0604030504040204" pitchFamily="34" charset="-128"/>
              </a:rPr>
              <a:t> 4.2.1 </a:t>
            </a:r>
            <a:r>
              <a:rPr lang="ja-JP" altLang="en-US" sz="1200">
                <a:solidFill>
                  <a:schemeClr val="tx1"/>
                </a:solidFill>
                <a:latin typeface="Meiryo UI" panose="020B0604030504040204" pitchFamily="34" charset="-128"/>
                <a:ea typeface="Meiryo UI" panose="020B0604030504040204" pitchFamily="34" charset="-128"/>
              </a:rPr>
              <a:t>審査</a:t>
            </a:r>
            <a:endParaRPr lang="en-US" altLang="ja-JP" sz="1200">
              <a:solidFill>
                <a:schemeClr val="tx1"/>
              </a:solidFill>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solidFill>
                  <a:schemeClr val="tx1"/>
                </a:solidFill>
                <a:latin typeface="Meiryo UI" panose="020B0604030504040204" pitchFamily="34" charset="-128"/>
                <a:ea typeface="Meiryo UI" panose="020B0604030504040204" pitchFamily="34" charset="-128"/>
              </a:rPr>
              <a:t>　</a:t>
            </a:r>
            <a:r>
              <a:rPr lang="en-US" altLang="ja-JP" sz="1200">
                <a:solidFill>
                  <a:schemeClr val="tx1"/>
                </a:solidFill>
                <a:latin typeface="Meiryo UI" panose="020B0604030504040204" pitchFamily="34" charset="-128"/>
                <a:ea typeface="Meiryo UI" panose="020B0604030504040204" pitchFamily="34" charset="-128"/>
              </a:rPr>
              <a:t> 4.2.2 </a:t>
            </a:r>
            <a:r>
              <a:rPr lang="ja-JP" altLang="en-US" sz="1200">
                <a:solidFill>
                  <a:schemeClr val="tx1"/>
                </a:solidFill>
                <a:latin typeface="Meiryo UI" panose="020B0604030504040204" pitchFamily="34" charset="-128"/>
                <a:ea typeface="Meiryo UI" panose="020B0604030504040204" pitchFamily="34" charset="-128"/>
              </a:rPr>
              <a:t>試験方法</a:t>
            </a:r>
            <a:endParaRPr lang="en-US" altLang="ja-JP" sz="1200">
              <a:solidFill>
                <a:schemeClr val="tx1"/>
              </a:solidFill>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a:solidFill>
                  <a:schemeClr val="tx1"/>
                </a:solidFill>
                <a:latin typeface="Meiryo UI" panose="020B0604030504040204" pitchFamily="34" charset="-128"/>
                <a:ea typeface="Meiryo UI" panose="020B0604030504040204" pitchFamily="34" charset="-128"/>
              </a:rPr>
              <a:t>   4.2.3 ODD</a:t>
            </a:r>
            <a:r>
              <a:rPr lang="ja-JP" altLang="en-US" sz="1200">
                <a:solidFill>
                  <a:schemeClr val="tx1"/>
                </a:solidFill>
                <a:latin typeface="Meiryo UI" panose="020B0604030504040204" pitchFamily="34" charset="-128"/>
                <a:ea typeface="Meiryo UI" panose="020B0604030504040204" pitchFamily="34" charset="-128"/>
              </a:rPr>
              <a:t>枠組み</a:t>
            </a:r>
            <a:endParaRPr lang="en-US" altLang="ja-JP" sz="1200">
              <a:solidFill>
                <a:schemeClr val="tx1"/>
              </a:solidFill>
              <a:latin typeface="Meiryo UI" panose="020B0604030504040204" pitchFamily="34" charset="-128"/>
              <a:ea typeface="Meiryo UI" panose="020B0604030504040204" pitchFamily="34" charset="-128"/>
            </a:endParaRPr>
          </a:p>
          <a:p>
            <a:pPr>
              <a:defRPr/>
            </a:pPr>
            <a:r>
              <a:rPr lang="en-US" altLang="ja-JP" sz="1200">
                <a:solidFill>
                  <a:schemeClr val="tx1"/>
                </a:solidFill>
                <a:latin typeface="Meiryo UI" panose="020B0604030504040204" pitchFamily="34" charset="-128"/>
                <a:ea typeface="Meiryo UI" panose="020B0604030504040204" pitchFamily="34" charset="-128"/>
              </a:rPr>
              <a:t>   4.2.4 </a:t>
            </a:r>
            <a:r>
              <a:rPr lang="ja-JP" altLang="en-US" sz="1200">
                <a:solidFill>
                  <a:schemeClr val="tx1"/>
                </a:solidFill>
                <a:latin typeface="Meiryo UI" panose="020B0604030504040204" pitchFamily="34" charset="-128"/>
                <a:ea typeface="Meiryo UI" panose="020B0604030504040204" pitchFamily="34" charset="-128"/>
              </a:rPr>
              <a:t>使用中の監視と報告</a:t>
            </a:r>
            <a:r>
              <a:rPr lang="en-US" altLang="ja-JP" sz="1200">
                <a:solidFill>
                  <a:schemeClr val="tx1"/>
                </a:solidFill>
                <a:latin typeface="Meiryo UI" panose="020B0604030504040204" pitchFamily="34" charset="-128"/>
                <a:ea typeface="Meiryo UI" panose="020B0604030504040204" pitchFamily="34" charset="-128"/>
              </a:rPr>
              <a:t>(ISMR)</a:t>
            </a:r>
          </a:p>
        </p:txBody>
      </p:sp>
      <p:sp>
        <p:nvSpPr>
          <p:cNvPr id="10" name="テキスト ボックス 9">
            <a:extLst>
              <a:ext uri="{FF2B5EF4-FFF2-40B4-BE49-F238E27FC236}">
                <a16:creationId xmlns:a16="http://schemas.microsoft.com/office/drawing/2014/main" id="{DE0DEEAD-63C8-D3EB-A54B-38DFF05C808E}"/>
              </a:ext>
            </a:extLst>
          </p:cNvPr>
          <p:cNvSpPr txBox="1"/>
          <p:nvPr/>
        </p:nvSpPr>
        <p:spPr>
          <a:xfrm>
            <a:off x="0" y="6488668"/>
            <a:ext cx="12192000" cy="369332"/>
          </a:xfrm>
          <a:prstGeom prst="rect">
            <a:avLst/>
          </a:prstGeom>
          <a:noFill/>
        </p:spPr>
        <p:txBody>
          <a:bodyPr wrap="square" rtlCol="0">
            <a:spAutoFit/>
          </a:bodyPr>
          <a:lstStyle/>
          <a:p>
            <a:pPr algn="ctr"/>
            <a:r>
              <a:rPr lang="ja-JP" altLang="en-US">
                <a:latin typeface="Meiryo UI" panose="020B0604030504040204" pitchFamily="50" charset="-128"/>
                <a:ea typeface="Meiryo UI" panose="020B0604030504040204" pitchFamily="50" charset="-128"/>
              </a:rPr>
              <a:t>交通シナリオフレームワークにより、</a:t>
            </a:r>
            <a:r>
              <a:rPr lang="en-US" altLang="ja-JP">
                <a:latin typeface="Meiryo UI" panose="020B0604030504040204" pitchFamily="50" charset="-128"/>
                <a:ea typeface="Meiryo UI" panose="020B0604030504040204" pitchFamily="50" charset="-128"/>
              </a:rPr>
              <a:t>ADS</a:t>
            </a:r>
            <a:r>
              <a:rPr lang="ja-JP" altLang="en-US">
                <a:latin typeface="Meiryo UI" panose="020B0604030504040204" pitchFamily="50" charset="-128"/>
                <a:ea typeface="Meiryo UI" panose="020B0604030504040204" pitchFamily="50" charset="-128"/>
              </a:rPr>
              <a:t>要件を体系的に確立</a:t>
            </a:r>
            <a:endParaRPr lang="en-US" altLang="ja-JP">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77119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テキスト ボックス 53">
            <a:extLst>
              <a:ext uri="{FF2B5EF4-FFF2-40B4-BE49-F238E27FC236}">
                <a16:creationId xmlns:a16="http://schemas.microsoft.com/office/drawing/2014/main" id="{2CB00AB6-3B70-C4CD-2AFA-C9C042303161}"/>
              </a:ext>
            </a:extLst>
          </p:cNvPr>
          <p:cNvSpPr txBox="1"/>
          <p:nvPr/>
        </p:nvSpPr>
        <p:spPr>
          <a:xfrm>
            <a:off x="97059" y="612776"/>
            <a:ext cx="8258047"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chemeClr val="tx1"/>
                </a:solidFill>
                <a:effectLst/>
                <a:uLnTx/>
                <a:uFillTx/>
                <a:latin typeface="Meiryo UI" panose="020B0604030504040204" pitchFamily="34" charset="-128"/>
                <a:ea typeface="Meiryo UI" panose="020B0604030504040204" pitchFamily="34" charset="-128"/>
              </a:rPr>
              <a:t>◾️</a:t>
            </a:r>
            <a:r>
              <a:rPr lang="en-US" altLang="ja-JP" sz="1400">
                <a:solidFill>
                  <a:schemeClr val="tx1"/>
                </a:solidFill>
                <a:latin typeface="Meiryo UI" panose="020B0604030504040204" pitchFamily="34" charset="-128"/>
                <a:ea typeface="Meiryo UI" panose="020B0604030504040204" pitchFamily="34" charset="-128"/>
              </a:rPr>
              <a:t> 4.2 ADS</a:t>
            </a:r>
            <a:r>
              <a:rPr kumimoji="1" lang="ja-JP" altLang="en-US" sz="1400" b="0" i="0" u="none" strike="noStrike" kern="1200" cap="none" spc="0" normalizeH="0" baseline="0" noProof="0">
                <a:ln>
                  <a:noFill/>
                </a:ln>
                <a:solidFill>
                  <a:schemeClr val="tx1"/>
                </a:solidFill>
                <a:effectLst/>
                <a:uLnTx/>
                <a:uFillTx/>
                <a:latin typeface="Meiryo UI" panose="020B0604030504040204" pitchFamily="34" charset="-128"/>
                <a:ea typeface="Meiryo UI" panose="020B0604030504040204" pitchFamily="34" charset="-128"/>
              </a:rPr>
              <a:t>評価</a:t>
            </a:r>
            <a:endParaRPr lang="en-US" altLang="ja-JP" sz="140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Meiryo UI" panose="020B0604030504040204" pitchFamily="50" charset="-128"/>
                <a:ea typeface="Meiryo UI" panose="020B0604030504040204" pitchFamily="50" charset="-128"/>
              </a:rPr>
              <a:t>　　交通シナリオをシナリオカタログに統合して、マルチピラーアプローチにより</a:t>
            </a:r>
            <a:r>
              <a:rPr lang="ja-JP" altLang="en-US" sz="1200"/>
              <a:t>包括的かつ効率的に</a:t>
            </a:r>
            <a:r>
              <a:rPr lang="ja-JP" altLang="en-US" sz="1200">
                <a:latin typeface="Meiryo UI" panose="020B0604030504040204" pitchFamily="50" charset="-128"/>
                <a:ea typeface="Meiryo UI" panose="020B0604030504040204" pitchFamily="50" charset="-128"/>
              </a:rPr>
              <a:t>検証することを推奨する</a:t>
            </a:r>
            <a:endParaRPr lang="en-US" altLang="ja-JP" sz="1200">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18B5851D-8D23-0F03-0A9D-8DC9D4CA0B34}"/>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4 </a:t>
            </a:r>
            <a:r>
              <a:rPr lang="en" altLang="ja-JP">
                <a:solidFill>
                  <a:schemeClr val="bg1"/>
                </a:solidFill>
                <a:latin typeface="Meiryo UI" panose="020B0604030504040204" pitchFamily="50" charset="-128"/>
                <a:ea typeface="Meiryo UI" panose="020B0604030504040204" pitchFamily="50" charset="-128"/>
              </a:rPr>
              <a:t>ADS</a:t>
            </a:r>
            <a:r>
              <a:rPr lang="ja-JP" altLang="en-US">
                <a:solidFill>
                  <a:schemeClr val="bg1"/>
                </a:solidFill>
                <a:latin typeface="Meiryo UI" panose="020B0604030504040204" pitchFamily="50" charset="-128"/>
                <a:ea typeface="Meiryo UI" panose="020B0604030504040204" pitchFamily="50" charset="-128"/>
              </a:rPr>
              <a:t>の安全要件、評価および検証の概要</a:t>
            </a:r>
          </a:p>
        </p:txBody>
      </p:sp>
      <p:sp>
        <p:nvSpPr>
          <p:cNvPr id="3" name="テキスト ボックス 2">
            <a:extLst>
              <a:ext uri="{FF2B5EF4-FFF2-40B4-BE49-F238E27FC236}">
                <a16:creationId xmlns:a16="http://schemas.microsoft.com/office/drawing/2014/main" id="{C57100E3-3A9C-CC74-4FA0-D0526643E333}"/>
              </a:ext>
            </a:extLst>
          </p:cNvPr>
          <p:cNvSpPr txBox="1"/>
          <p:nvPr/>
        </p:nvSpPr>
        <p:spPr>
          <a:xfrm>
            <a:off x="3225181" y="5510286"/>
            <a:ext cx="4887877" cy="276999"/>
          </a:xfrm>
          <a:prstGeom prst="rect">
            <a:avLst/>
          </a:prstGeom>
          <a:noFill/>
        </p:spPr>
        <p:txBody>
          <a:bodyPr wrap="none">
            <a:spAutoFit/>
          </a:bodyPr>
          <a:lstStyle/>
          <a:p>
            <a:r>
              <a:rPr lang="ja-JP" altLang="en-US" sz="1200">
                <a:latin typeface="Meiryo UI" panose="020B0604030504040204" pitchFamily="50" charset="-128"/>
                <a:ea typeface="Meiryo UI" panose="020B0604030504040204" pitchFamily="50" charset="-128"/>
              </a:rPr>
              <a:t>図２：安全要件、</a:t>
            </a:r>
            <a:r>
              <a:rPr lang="en" altLang="ja-JP" sz="1200">
                <a:latin typeface="Meiryo UI" panose="020B0604030504040204" pitchFamily="50" charset="-128"/>
                <a:ea typeface="Meiryo UI" panose="020B0604030504040204" pitchFamily="50" charset="-128"/>
              </a:rPr>
              <a:t>ODD </a:t>
            </a:r>
            <a:r>
              <a:rPr lang="ja-JP" altLang="en-US" sz="1200">
                <a:latin typeface="Meiryo UI" panose="020B0604030504040204" pitchFamily="50" charset="-128"/>
                <a:ea typeface="Meiryo UI" panose="020B0604030504040204" pitchFamily="50" charset="-128"/>
              </a:rPr>
              <a:t>分析、シナリオ生成および検証のためのピラーの関係</a:t>
            </a:r>
          </a:p>
        </p:txBody>
      </p:sp>
      <p:sp>
        <p:nvSpPr>
          <p:cNvPr id="7231" name="正方形/長方形 7230">
            <a:extLst>
              <a:ext uri="{FF2B5EF4-FFF2-40B4-BE49-F238E27FC236}">
                <a16:creationId xmlns:a16="http://schemas.microsoft.com/office/drawing/2014/main" id="{D511AFC2-E6AF-727B-203F-BAD7CECB03CF}"/>
              </a:ext>
            </a:extLst>
          </p:cNvPr>
          <p:cNvSpPr/>
          <p:nvPr/>
        </p:nvSpPr>
        <p:spPr>
          <a:xfrm>
            <a:off x="212861" y="1519183"/>
            <a:ext cx="7900197" cy="3906816"/>
          </a:xfrm>
          <a:prstGeom prst="rect">
            <a:avLst/>
          </a:prstGeom>
          <a:noFill/>
          <a:ln w="9525">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endParaRPr lang="ja-JP" altLang="ja-JP" sz="1200" b="1" kern="10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7183" name="正方形/長方形 7182">
            <a:extLst>
              <a:ext uri="{FF2B5EF4-FFF2-40B4-BE49-F238E27FC236}">
                <a16:creationId xmlns:a16="http://schemas.microsoft.com/office/drawing/2014/main" id="{FD87E179-77E1-EDE5-5D86-9277A56225FD}"/>
              </a:ext>
            </a:extLst>
          </p:cNvPr>
          <p:cNvSpPr/>
          <p:nvPr/>
        </p:nvSpPr>
        <p:spPr>
          <a:xfrm>
            <a:off x="1750391" y="2539007"/>
            <a:ext cx="3447184" cy="1367174"/>
          </a:xfrm>
          <a:prstGeom prst="rect">
            <a:avLst/>
          </a:prstGeom>
          <a:noFill/>
          <a:ln>
            <a:solidFill>
              <a:schemeClr val="tx1"/>
            </a:solidFill>
            <a:prstDash val="solid"/>
          </a:ln>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endParaRPr lang="ja-JP" altLang="ja-JP" sz="1200" kern="10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7169" name="正方形/長方形 7168">
            <a:extLst>
              <a:ext uri="{FF2B5EF4-FFF2-40B4-BE49-F238E27FC236}">
                <a16:creationId xmlns:a16="http://schemas.microsoft.com/office/drawing/2014/main" id="{0EB2A3E7-D926-639C-5FD6-0F6190476517}"/>
              </a:ext>
            </a:extLst>
          </p:cNvPr>
          <p:cNvSpPr/>
          <p:nvPr/>
        </p:nvSpPr>
        <p:spPr>
          <a:xfrm>
            <a:off x="553255" y="2048757"/>
            <a:ext cx="385902" cy="1820424"/>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ja-JP" altLang="en-US" sz="1200" b="1">
                <a:solidFill>
                  <a:schemeClr val="bg1"/>
                </a:solidFill>
                <a:latin typeface="Meiryo UI" panose="020B0604030504040204" pitchFamily="50" charset="-128"/>
                <a:ea typeface="Meiryo UI" panose="020B0604030504040204" pitchFamily="50" charset="-128"/>
              </a:rPr>
              <a:t>要件</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7171" name="正方形/長方形 7170">
            <a:extLst>
              <a:ext uri="{FF2B5EF4-FFF2-40B4-BE49-F238E27FC236}">
                <a16:creationId xmlns:a16="http://schemas.microsoft.com/office/drawing/2014/main" id="{8FBC7FE4-E48F-2561-5B1C-F29BCECED14F}"/>
              </a:ext>
            </a:extLst>
          </p:cNvPr>
          <p:cNvSpPr/>
          <p:nvPr/>
        </p:nvSpPr>
        <p:spPr>
          <a:xfrm>
            <a:off x="3077761" y="2103251"/>
            <a:ext cx="2439938" cy="321563"/>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r>
              <a:rPr lang="ja-JP" altLang="en-US" sz="120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メーカ</a:t>
            </a:r>
            <a:r>
              <a:rPr lang="ja-JP" altLang="ja-JP" sz="120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の安全管理システム</a:t>
            </a:r>
          </a:p>
        </p:txBody>
      </p:sp>
      <p:sp>
        <p:nvSpPr>
          <p:cNvPr id="7172" name="正方形/長方形 7171">
            <a:extLst>
              <a:ext uri="{FF2B5EF4-FFF2-40B4-BE49-F238E27FC236}">
                <a16:creationId xmlns:a16="http://schemas.microsoft.com/office/drawing/2014/main" id="{FBD928BF-9E8A-46E3-767C-B86F8C260464}"/>
              </a:ext>
            </a:extLst>
          </p:cNvPr>
          <p:cNvSpPr/>
          <p:nvPr/>
        </p:nvSpPr>
        <p:spPr>
          <a:xfrm>
            <a:off x="3331426" y="3498298"/>
            <a:ext cx="1767291" cy="321563"/>
          </a:xfrm>
          <a:prstGeom prst="rect">
            <a:avLst/>
          </a:prstGeom>
          <a:solidFill>
            <a:schemeClr val="accent5"/>
          </a:solidFill>
          <a:ln>
            <a:noFill/>
          </a:ln>
        </p:spPr>
        <p:style>
          <a:lnRef idx="2">
            <a:schemeClr val="accent1"/>
          </a:lnRef>
          <a:fillRef idx="1">
            <a:schemeClr val="lt1"/>
          </a:fillRef>
          <a:effectRef idx="0">
            <a:schemeClr val="accent1"/>
          </a:effectRef>
          <a:fontRef idx="minor">
            <a:schemeClr val="dk1"/>
          </a:fontRef>
        </p:style>
        <p:txBody>
          <a:bodyPr wrap="none" rtlCol="0" anchor="b"/>
          <a:lstStyle/>
          <a:p>
            <a:pPr algn="ctr">
              <a:lnSpc>
                <a:spcPts val="900"/>
              </a:lnSpc>
              <a:spcAft>
                <a:spcPts val="800"/>
              </a:spcAft>
            </a:pPr>
            <a:r>
              <a:rPr lang="ja-JP" altLang="en-US" sz="1200" b="1" kern="10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実世界での試験</a:t>
            </a:r>
            <a:endParaRPr lang="ja-JP" altLang="ja-JP" sz="1200" b="1" kern="10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p:txBody>
      </p:sp>
      <p:cxnSp>
        <p:nvCxnSpPr>
          <p:cNvPr id="7175" name="直線矢印コネクタ 7174">
            <a:extLst>
              <a:ext uri="{FF2B5EF4-FFF2-40B4-BE49-F238E27FC236}">
                <a16:creationId xmlns:a16="http://schemas.microsoft.com/office/drawing/2014/main" id="{FC377390-8A9B-9141-BE19-3DE4E318EA7E}"/>
              </a:ext>
            </a:extLst>
          </p:cNvPr>
          <p:cNvCxnSpPr>
            <a:cxnSpLocks/>
            <a:endCxn id="7171" idx="1"/>
          </p:cNvCxnSpPr>
          <p:nvPr/>
        </p:nvCxnSpPr>
        <p:spPr>
          <a:xfrm flipV="1">
            <a:off x="936641" y="2264033"/>
            <a:ext cx="2141120" cy="41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77" name="直線矢印コネクタ 7176">
            <a:extLst>
              <a:ext uri="{FF2B5EF4-FFF2-40B4-BE49-F238E27FC236}">
                <a16:creationId xmlns:a16="http://schemas.microsoft.com/office/drawing/2014/main" id="{78F6126A-9009-3D66-80C1-97B9522F5D68}"/>
              </a:ext>
            </a:extLst>
          </p:cNvPr>
          <p:cNvCxnSpPr>
            <a:cxnSpLocks/>
          </p:cNvCxnSpPr>
          <p:nvPr/>
        </p:nvCxnSpPr>
        <p:spPr>
          <a:xfrm flipV="1">
            <a:off x="746205" y="3869180"/>
            <a:ext cx="0" cy="4708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180" name="正方形/長方形 7179">
            <a:extLst>
              <a:ext uri="{FF2B5EF4-FFF2-40B4-BE49-F238E27FC236}">
                <a16:creationId xmlns:a16="http://schemas.microsoft.com/office/drawing/2014/main" id="{C81DB02E-B37B-E91E-532B-1D997989E375}"/>
              </a:ext>
            </a:extLst>
          </p:cNvPr>
          <p:cNvSpPr/>
          <p:nvPr/>
        </p:nvSpPr>
        <p:spPr>
          <a:xfrm>
            <a:off x="412458" y="4358470"/>
            <a:ext cx="764537" cy="508312"/>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ODD</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7181" name="正方形/長方形 7180">
            <a:extLst>
              <a:ext uri="{FF2B5EF4-FFF2-40B4-BE49-F238E27FC236}">
                <a16:creationId xmlns:a16="http://schemas.microsoft.com/office/drawing/2014/main" id="{C137C743-A33D-FD10-0CCD-C55C912D579E}"/>
              </a:ext>
            </a:extLst>
          </p:cNvPr>
          <p:cNvSpPr/>
          <p:nvPr/>
        </p:nvSpPr>
        <p:spPr>
          <a:xfrm>
            <a:off x="3220217" y="3054470"/>
            <a:ext cx="1767291" cy="321563"/>
          </a:xfrm>
          <a:prstGeom prst="rect">
            <a:avLst/>
          </a:prstGeom>
          <a:solidFill>
            <a:schemeClr val="accent4"/>
          </a:solidFill>
          <a:ln>
            <a:noFill/>
          </a:ln>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r>
              <a:rPr lang="ja-JP" altLang="en-US" sz="1200" b="1" kern="10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トラック試験</a:t>
            </a:r>
            <a:endParaRPr lang="ja-JP" altLang="ja-JP" sz="1200" b="1" kern="10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7182" name="正方形/長方形 7181">
            <a:extLst>
              <a:ext uri="{FF2B5EF4-FFF2-40B4-BE49-F238E27FC236}">
                <a16:creationId xmlns:a16="http://schemas.microsoft.com/office/drawing/2014/main" id="{8D0C5BF8-0C3D-B704-C215-0CC003A928B3}"/>
              </a:ext>
            </a:extLst>
          </p:cNvPr>
          <p:cNvSpPr/>
          <p:nvPr/>
        </p:nvSpPr>
        <p:spPr>
          <a:xfrm>
            <a:off x="3059691" y="2615871"/>
            <a:ext cx="1767291" cy="321563"/>
          </a:xfrm>
          <a:prstGeom prst="rect">
            <a:avLst/>
          </a:prstGeom>
          <a:solidFill>
            <a:schemeClr val="accent2"/>
          </a:solidFill>
          <a:ln>
            <a:noFill/>
          </a:ln>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r>
              <a:rPr lang="ja-JP" altLang="en-US" sz="1200" b="1" kern="10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シュミレーション</a:t>
            </a:r>
            <a:endParaRPr lang="ja-JP" altLang="ja-JP" sz="1200" b="1" kern="10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p:txBody>
      </p:sp>
      <p:cxnSp>
        <p:nvCxnSpPr>
          <p:cNvPr id="7185" name="直線矢印コネクタ 7184">
            <a:extLst>
              <a:ext uri="{FF2B5EF4-FFF2-40B4-BE49-F238E27FC236}">
                <a16:creationId xmlns:a16="http://schemas.microsoft.com/office/drawing/2014/main" id="{EADAEEA7-A0C5-09E9-4ABB-BCDA2E96BACA}"/>
              </a:ext>
            </a:extLst>
          </p:cNvPr>
          <p:cNvCxnSpPr>
            <a:cxnSpLocks/>
            <a:endCxn id="7183" idx="1"/>
          </p:cNvCxnSpPr>
          <p:nvPr/>
        </p:nvCxnSpPr>
        <p:spPr>
          <a:xfrm flipV="1">
            <a:off x="936641" y="3222594"/>
            <a:ext cx="813750" cy="995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190" name="カギ線コネクタ 7189">
            <a:extLst>
              <a:ext uri="{FF2B5EF4-FFF2-40B4-BE49-F238E27FC236}">
                <a16:creationId xmlns:a16="http://schemas.microsoft.com/office/drawing/2014/main" id="{0185E330-39E8-2101-2ADA-E2B56034DC20}"/>
              </a:ext>
            </a:extLst>
          </p:cNvPr>
          <p:cNvCxnSpPr>
            <a:cxnSpLocks/>
            <a:stCxn id="7183" idx="1"/>
            <a:endCxn id="7172" idx="1"/>
          </p:cNvCxnSpPr>
          <p:nvPr/>
        </p:nvCxnSpPr>
        <p:spPr>
          <a:xfrm rot="10800000" flipH="1" flipV="1">
            <a:off x="1750390" y="3222594"/>
            <a:ext cx="1581035" cy="436486"/>
          </a:xfrm>
          <a:prstGeom prst="bentConnector3">
            <a:avLst>
              <a:gd name="adj1" fmla="val 1874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91" name="カギ線コネクタ 7190">
            <a:extLst>
              <a:ext uri="{FF2B5EF4-FFF2-40B4-BE49-F238E27FC236}">
                <a16:creationId xmlns:a16="http://schemas.microsoft.com/office/drawing/2014/main" id="{17364916-8391-4D62-CA5E-E9CC25CFC60A}"/>
              </a:ext>
            </a:extLst>
          </p:cNvPr>
          <p:cNvCxnSpPr>
            <a:cxnSpLocks/>
            <a:stCxn id="7183" idx="1"/>
            <a:endCxn id="7182" idx="1"/>
          </p:cNvCxnSpPr>
          <p:nvPr/>
        </p:nvCxnSpPr>
        <p:spPr>
          <a:xfrm rot="10800000" flipH="1">
            <a:off x="1750391" y="2776654"/>
            <a:ext cx="1309300" cy="445941"/>
          </a:xfrm>
          <a:prstGeom prst="bentConnector3">
            <a:avLst>
              <a:gd name="adj1" fmla="val 21986"/>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94" name="直線矢印コネクタ 7193">
            <a:extLst>
              <a:ext uri="{FF2B5EF4-FFF2-40B4-BE49-F238E27FC236}">
                <a16:creationId xmlns:a16="http://schemas.microsoft.com/office/drawing/2014/main" id="{FD5AFC6C-11BA-6C2D-7E43-2CA95573DA4B}"/>
              </a:ext>
            </a:extLst>
          </p:cNvPr>
          <p:cNvCxnSpPr>
            <a:cxnSpLocks/>
            <a:stCxn id="7183" idx="1"/>
            <a:endCxn id="7181" idx="1"/>
          </p:cNvCxnSpPr>
          <p:nvPr/>
        </p:nvCxnSpPr>
        <p:spPr>
          <a:xfrm flipV="1">
            <a:off x="1750391" y="3215252"/>
            <a:ext cx="1469826" cy="7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98" name="直線矢印コネクタ 7197">
            <a:extLst>
              <a:ext uri="{FF2B5EF4-FFF2-40B4-BE49-F238E27FC236}">
                <a16:creationId xmlns:a16="http://schemas.microsoft.com/office/drawing/2014/main" id="{27CD2C19-34AF-F059-D70E-2789320BC189}"/>
              </a:ext>
            </a:extLst>
          </p:cNvPr>
          <p:cNvCxnSpPr>
            <a:cxnSpLocks/>
            <a:stCxn id="7183" idx="3"/>
          </p:cNvCxnSpPr>
          <p:nvPr/>
        </p:nvCxnSpPr>
        <p:spPr>
          <a:xfrm>
            <a:off x="5197575" y="3222594"/>
            <a:ext cx="61377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7200" name="正方形/長方形 7199">
            <a:extLst>
              <a:ext uri="{FF2B5EF4-FFF2-40B4-BE49-F238E27FC236}">
                <a16:creationId xmlns:a16="http://schemas.microsoft.com/office/drawing/2014/main" id="{DEDA061C-AD5A-272B-FF0E-9F2A9DF50FA8}"/>
              </a:ext>
            </a:extLst>
          </p:cNvPr>
          <p:cNvSpPr/>
          <p:nvPr/>
        </p:nvSpPr>
        <p:spPr>
          <a:xfrm>
            <a:off x="5834581" y="2048757"/>
            <a:ext cx="1015354" cy="1712794"/>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vert="eaVert" wrap="none" rtlCol="0" anchor="ctr"/>
          <a:lstStyle/>
          <a:p>
            <a:pPr algn="ctr"/>
            <a:r>
              <a:rPr lang="en-GB" altLang="ja-JP" sz="1200" b="1" kern="10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ADS</a:t>
            </a:r>
            <a:r>
              <a:rPr lang="ja-JP" altLang="ja-JP" sz="1200" b="1" kern="10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の安全性評価</a:t>
            </a:r>
          </a:p>
        </p:txBody>
      </p:sp>
      <p:sp>
        <p:nvSpPr>
          <p:cNvPr id="7201" name="正方形/長方形 7200">
            <a:extLst>
              <a:ext uri="{FF2B5EF4-FFF2-40B4-BE49-F238E27FC236}">
                <a16:creationId xmlns:a16="http://schemas.microsoft.com/office/drawing/2014/main" id="{5200DB23-2733-1090-8F01-12D4B53A356C}"/>
              </a:ext>
            </a:extLst>
          </p:cNvPr>
          <p:cNvSpPr/>
          <p:nvPr/>
        </p:nvSpPr>
        <p:spPr>
          <a:xfrm>
            <a:off x="5834226" y="3869180"/>
            <a:ext cx="1042653" cy="734764"/>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試験環境</a:t>
            </a:r>
            <a:endParaRPr kumimoji="1" lang="en-US" altLang="ja-JP" sz="1200" b="1">
              <a:solidFill>
                <a:schemeClr val="bg1"/>
              </a:solidFill>
              <a:latin typeface="Meiryo UI" panose="020B0604030504040204" pitchFamily="50" charset="-128"/>
              <a:ea typeface="Meiryo UI" panose="020B0604030504040204" pitchFamily="50" charset="-128"/>
            </a:endParaRPr>
          </a:p>
          <a:p>
            <a:pPr algn="ctr"/>
            <a:r>
              <a:rPr kumimoji="1" lang="ja-JP" altLang="en-US" sz="1200" b="1">
                <a:solidFill>
                  <a:schemeClr val="bg1"/>
                </a:solidFill>
                <a:latin typeface="Meiryo UI" panose="020B0604030504040204" pitchFamily="50" charset="-128"/>
                <a:ea typeface="Meiryo UI" panose="020B0604030504040204" pitchFamily="50" charset="-128"/>
              </a:rPr>
              <a:t>の評価</a:t>
            </a:r>
          </a:p>
        </p:txBody>
      </p:sp>
      <p:sp>
        <p:nvSpPr>
          <p:cNvPr id="7202" name="正方形/長方形 7201">
            <a:extLst>
              <a:ext uri="{FF2B5EF4-FFF2-40B4-BE49-F238E27FC236}">
                <a16:creationId xmlns:a16="http://schemas.microsoft.com/office/drawing/2014/main" id="{C2719818-31B4-08AE-6CD7-2EAD27C24D14}"/>
              </a:ext>
            </a:extLst>
          </p:cNvPr>
          <p:cNvSpPr/>
          <p:nvPr/>
        </p:nvSpPr>
        <p:spPr>
          <a:xfrm>
            <a:off x="7188764" y="2424815"/>
            <a:ext cx="459618" cy="1939912"/>
          </a:xfrm>
          <a:prstGeom prst="rect">
            <a:avLst/>
          </a:prstGeom>
          <a:solidFill>
            <a:schemeClr val="accent6"/>
          </a:solidFill>
          <a:ln>
            <a:noFill/>
          </a:ln>
        </p:spPr>
        <p:style>
          <a:lnRef idx="2">
            <a:schemeClr val="accent1"/>
          </a:lnRef>
          <a:fillRef idx="1">
            <a:schemeClr val="lt1"/>
          </a:fillRef>
          <a:effectRef idx="0">
            <a:schemeClr val="accent1"/>
          </a:effectRef>
          <a:fontRef idx="minor">
            <a:schemeClr val="dk1"/>
          </a:fontRef>
        </p:style>
        <p:txBody>
          <a:bodyPr vert="eaVert" wrap="none"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使用中の監視と</a:t>
            </a:r>
          </a:p>
          <a:p>
            <a:pPr algn="ctr"/>
            <a:r>
              <a:rPr kumimoji="1" lang="ja-JP" altLang="en-US" sz="1200" b="1">
                <a:solidFill>
                  <a:schemeClr val="bg1"/>
                </a:solidFill>
                <a:latin typeface="Meiryo UI" panose="020B0604030504040204" pitchFamily="50" charset="-128"/>
                <a:ea typeface="Meiryo UI" panose="020B0604030504040204" pitchFamily="50" charset="-128"/>
              </a:rPr>
              <a:t>報告</a:t>
            </a:r>
            <a:r>
              <a:rPr lang="ja-JP" altLang="en-US" sz="1200" b="1">
                <a:solidFill>
                  <a:schemeClr val="bg1"/>
                </a:solidFill>
                <a:latin typeface="+mj-lt"/>
                <a:ea typeface="Meiryo UI" panose="020B0604030504040204" pitchFamily="50" charset="-128"/>
              </a:rPr>
              <a:t>（</a:t>
            </a:r>
            <a:r>
              <a:rPr lang="en-US" altLang="ja-JP" sz="1200" b="1">
                <a:solidFill>
                  <a:schemeClr val="bg1"/>
                </a:solidFill>
                <a:latin typeface="+mj-lt"/>
                <a:ea typeface="Meiryo UI" panose="020B0604030504040204" pitchFamily="50" charset="-128"/>
              </a:rPr>
              <a:t>ISMR</a:t>
            </a:r>
            <a:r>
              <a:rPr kumimoji="1" lang="en" altLang="ja-JP" sz="1200" b="1">
                <a:solidFill>
                  <a:schemeClr val="bg1"/>
                </a:solidFill>
                <a:latin typeface="+mj-lt"/>
                <a:ea typeface="Meiryo UI" panose="020B0604030504040204" pitchFamily="50" charset="-128"/>
              </a:rPr>
              <a:t>)</a:t>
            </a:r>
          </a:p>
        </p:txBody>
      </p:sp>
      <p:sp>
        <p:nvSpPr>
          <p:cNvPr id="7203" name="正方形/長方形 7202">
            <a:extLst>
              <a:ext uri="{FF2B5EF4-FFF2-40B4-BE49-F238E27FC236}">
                <a16:creationId xmlns:a16="http://schemas.microsoft.com/office/drawing/2014/main" id="{7AA28C42-B4DB-F9E8-5160-5C29B8623784}"/>
              </a:ext>
            </a:extLst>
          </p:cNvPr>
          <p:cNvSpPr/>
          <p:nvPr/>
        </p:nvSpPr>
        <p:spPr>
          <a:xfrm>
            <a:off x="4046610" y="4354579"/>
            <a:ext cx="1097475" cy="346444"/>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シナリオ</a:t>
            </a:r>
          </a:p>
        </p:txBody>
      </p:sp>
      <p:sp>
        <p:nvSpPr>
          <p:cNvPr id="7205" name="正方形/長方形 7204">
            <a:extLst>
              <a:ext uri="{FF2B5EF4-FFF2-40B4-BE49-F238E27FC236}">
                <a16:creationId xmlns:a16="http://schemas.microsoft.com/office/drawing/2014/main" id="{74220FFB-4123-46B6-5A5E-BAB213992BC5}"/>
              </a:ext>
            </a:extLst>
          </p:cNvPr>
          <p:cNvSpPr/>
          <p:nvPr/>
        </p:nvSpPr>
        <p:spPr>
          <a:xfrm>
            <a:off x="2430781" y="4734553"/>
            <a:ext cx="1495166" cy="317201"/>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動作性能</a:t>
            </a:r>
          </a:p>
        </p:txBody>
      </p:sp>
      <p:sp>
        <p:nvSpPr>
          <p:cNvPr id="7206" name="正方形/長方形 7205">
            <a:extLst>
              <a:ext uri="{FF2B5EF4-FFF2-40B4-BE49-F238E27FC236}">
                <a16:creationId xmlns:a16="http://schemas.microsoft.com/office/drawing/2014/main" id="{50639BA9-49B8-DAA0-F7DB-60E803559144}"/>
              </a:ext>
            </a:extLst>
          </p:cNvPr>
          <p:cNvSpPr/>
          <p:nvPr/>
        </p:nvSpPr>
        <p:spPr>
          <a:xfrm>
            <a:off x="2430781" y="4354579"/>
            <a:ext cx="1495166" cy="346445"/>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シナリオ生成</a:t>
            </a:r>
            <a:endParaRPr kumimoji="1" lang="en-US" altLang="ja-JP" sz="1200" b="1">
              <a:solidFill>
                <a:schemeClr val="bg1"/>
              </a:solidFill>
              <a:latin typeface="Meiryo UI" panose="020B0604030504040204" pitchFamily="50" charset="-128"/>
              <a:ea typeface="Meiryo UI" panose="020B0604030504040204" pitchFamily="50" charset="-128"/>
            </a:endParaRPr>
          </a:p>
          <a:p>
            <a:pPr algn="ctr"/>
            <a:r>
              <a:rPr lang="ja-JP" altLang="en-US" sz="1200" b="1">
                <a:solidFill>
                  <a:schemeClr val="bg1"/>
                </a:solidFill>
                <a:latin typeface="Meiryo UI" panose="020B0604030504040204" pitchFamily="50" charset="-128"/>
                <a:ea typeface="Meiryo UI" panose="020B0604030504040204" pitchFamily="50" charset="-128"/>
              </a:rPr>
              <a:t>アプローチ</a:t>
            </a:r>
            <a:endParaRPr kumimoji="1" lang="ja-JP" altLang="en-US" sz="1200" b="1">
              <a:solidFill>
                <a:schemeClr val="bg1"/>
              </a:solidFill>
              <a:latin typeface="Meiryo UI" panose="020B0604030504040204" pitchFamily="50" charset="-128"/>
              <a:ea typeface="Meiryo UI" panose="020B0604030504040204" pitchFamily="50" charset="-128"/>
            </a:endParaRPr>
          </a:p>
        </p:txBody>
      </p:sp>
      <p:cxnSp>
        <p:nvCxnSpPr>
          <p:cNvPr id="7207" name="直線矢印コネクタ 7206">
            <a:extLst>
              <a:ext uri="{FF2B5EF4-FFF2-40B4-BE49-F238E27FC236}">
                <a16:creationId xmlns:a16="http://schemas.microsoft.com/office/drawing/2014/main" id="{8483B691-044F-855E-A894-96F112C18A90}"/>
              </a:ext>
            </a:extLst>
          </p:cNvPr>
          <p:cNvCxnSpPr>
            <a:cxnSpLocks/>
          </p:cNvCxnSpPr>
          <p:nvPr/>
        </p:nvCxnSpPr>
        <p:spPr>
          <a:xfrm>
            <a:off x="5197529" y="4364727"/>
            <a:ext cx="637054"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208" name="直線矢印コネクタ 7207">
            <a:extLst>
              <a:ext uri="{FF2B5EF4-FFF2-40B4-BE49-F238E27FC236}">
                <a16:creationId xmlns:a16="http://schemas.microsoft.com/office/drawing/2014/main" id="{AE3B0DD3-3FF9-4D3E-4508-B72B684AE3EE}"/>
              </a:ext>
            </a:extLst>
          </p:cNvPr>
          <p:cNvCxnSpPr>
            <a:cxnSpLocks/>
            <a:stCxn id="7180" idx="3"/>
          </p:cNvCxnSpPr>
          <p:nvPr/>
        </p:nvCxnSpPr>
        <p:spPr>
          <a:xfrm>
            <a:off x="1176995" y="4612626"/>
            <a:ext cx="53313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16" name="直線矢印コネクタ 7215">
            <a:extLst>
              <a:ext uri="{FF2B5EF4-FFF2-40B4-BE49-F238E27FC236}">
                <a16:creationId xmlns:a16="http://schemas.microsoft.com/office/drawing/2014/main" id="{8387731C-5006-1C04-001F-1901100EFDBE}"/>
              </a:ext>
            </a:extLst>
          </p:cNvPr>
          <p:cNvCxnSpPr>
            <a:cxnSpLocks/>
          </p:cNvCxnSpPr>
          <p:nvPr/>
        </p:nvCxnSpPr>
        <p:spPr>
          <a:xfrm>
            <a:off x="3971208" y="3898919"/>
            <a:ext cx="0" cy="20237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219" name="カギ線コネクタ 7218">
            <a:extLst>
              <a:ext uri="{FF2B5EF4-FFF2-40B4-BE49-F238E27FC236}">
                <a16:creationId xmlns:a16="http://schemas.microsoft.com/office/drawing/2014/main" id="{74737629-6E9B-EB75-2C0D-BB295C6400D1}"/>
              </a:ext>
            </a:extLst>
          </p:cNvPr>
          <p:cNvCxnSpPr>
            <a:cxnSpLocks/>
            <a:stCxn id="7202" idx="2"/>
          </p:cNvCxnSpPr>
          <p:nvPr/>
        </p:nvCxnSpPr>
        <p:spPr>
          <a:xfrm rot="5400000">
            <a:off x="6061328" y="3509536"/>
            <a:ext cx="502055" cy="221243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23" name="カギ線コネクタ 7222">
            <a:extLst>
              <a:ext uri="{FF2B5EF4-FFF2-40B4-BE49-F238E27FC236}">
                <a16:creationId xmlns:a16="http://schemas.microsoft.com/office/drawing/2014/main" id="{43204E1E-03C7-5C07-1980-370DC638A356}"/>
              </a:ext>
            </a:extLst>
          </p:cNvPr>
          <p:cNvCxnSpPr>
            <a:cxnSpLocks/>
            <a:stCxn id="7169" idx="0"/>
            <a:endCxn id="7202" idx="0"/>
          </p:cNvCxnSpPr>
          <p:nvPr/>
        </p:nvCxnSpPr>
        <p:spPr>
          <a:xfrm rot="16200000" flipH="1">
            <a:off x="3894360" y="-1099397"/>
            <a:ext cx="376058" cy="6672367"/>
          </a:xfrm>
          <a:prstGeom prst="bentConnector3">
            <a:avLst>
              <a:gd name="adj1" fmla="val -60788"/>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224" name="カギ線コネクタ 7223">
            <a:extLst>
              <a:ext uri="{FF2B5EF4-FFF2-40B4-BE49-F238E27FC236}">
                <a16:creationId xmlns:a16="http://schemas.microsoft.com/office/drawing/2014/main" id="{860DAB38-33C4-8B4C-8646-84AA5A57EB82}"/>
              </a:ext>
            </a:extLst>
          </p:cNvPr>
          <p:cNvCxnSpPr>
            <a:cxnSpLocks/>
            <a:stCxn id="7169" idx="0"/>
            <a:endCxn id="7200" idx="0"/>
          </p:cNvCxnSpPr>
          <p:nvPr/>
        </p:nvCxnSpPr>
        <p:spPr>
          <a:xfrm rot="5400000" flipH="1" flipV="1">
            <a:off x="3544401" y="-749269"/>
            <a:ext cx="16194" cy="5596053"/>
          </a:xfrm>
          <a:prstGeom prst="bentConnector3">
            <a:avLst>
              <a:gd name="adj1" fmla="val 180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228" name="直線矢印コネクタ 7227">
            <a:extLst>
              <a:ext uri="{FF2B5EF4-FFF2-40B4-BE49-F238E27FC236}">
                <a16:creationId xmlns:a16="http://schemas.microsoft.com/office/drawing/2014/main" id="{3DA90459-C7E0-6A1C-9F43-69E4CC588BA6}"/>
              </a:ext>
            </a:extLst>
          </p:cNvPr>
          <p:cNvCxnSpPr>
            <a:cxnSpLocks/>
          </p:cNvCxnSpPr>
          <p:nvPr/>
        </p:nvCxnSpPr>
        <p:spPr>
          <a:xfrm>
            <a:off x="5197529" y="3656705"/>
            <a:ext cx="613816" cy="39047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E819829B-805D-5038-47CE-FD7DF7FE749D}"/>
              </a:ext>
            </a:extLst>
          </p:cNvPr>
          <p:cNvSpPr txBox="1"/>
          <p:nvPr/>
        </p:nvSpPr>
        <p:spPr>
          <a:xfrm>
            <a:off x="-12502" y="6432191"/>
            <a:ext cx="12192000" cy="369332"/>
          </a:xfrm>
          <a:prstGeom prst="rect">
            <a:avLst/>
          </a:prstGeom>
          <a:noFill/>
        </p:spPr>
        <p:txBody>
          <a:bodyPr wrap="square" rtlCol="0">
            <a:spAutoFit/>
          </a:bodyPr>
          <a:lstStyle/>
          <a:p>
            <a:pPr algn="ctr"/>
            <a:r>
              <a:rPr lang="ja-JP" altLang="en-US">
                <a:latin typeface="Meiryo UI" panose="020B0604030504040204" pitchFamily="50" charset="-128"/>
                <a:ea typeface="Meiryo UI" panose="020B0604030504040204" pitchFamily="50" charset="-128"/>
              </a:rPr>
              <a:t>マルチピラーアプローチを用いて</a:t>
            </a:r>
            <a:r>
              <a:rPr lang="ja-JP" altLang="en-US" sz="1800"/>
              <a:t>包括的かつ効率的な検証を実施</a:t>
            </a:r>
            <a:endParaRPr lang="en-US" altLang="ja-JP">
              <a:latin typeface="Meiryo UI" panose="020B0604030504040204" pitchFamily="50" charset="-128"/>
              <a:ea typeface="Meiryo UI" panose="020B0604030504040204" pitchFamily="50" charset="-128"/>
            </a:endParaRPr>
          </a:p>
        </p:txBody>
      </p:sp>
      <p:pic>
        <p:nvPicPr>
          <p:cNvPr id="11" name="図 10">
            <a:extLst>
              <a:ext uri="{FF2B5EF4-FFF2-40B4-BE49-F238E27FC236}">
                <a16:creationId xmlns:a16="http://schemas.microsoft.com/office/drawing/2014/main" id="{BBAC7321-BDA2-F8C5-3D53-083F3B0C9DA9}"/>
              </a:ext>
            </a:extLst>
          </p:cNvPr>
          <p:cNvPicPr>
            <a:picLocks noChangeAspect="1"/>
          </p:cNvPicPr>
          <p:nvPr/>
        </p:nvPicPr>
        <p:blipFill>
          <a:blip/>
          <a:stretch>
            <a:fillRect/>
          </a:stretch>
        </p:blipFill>
        <p:spPr>
          <a:xfrm>
            <a:off x="8398956" y="1437786"/>
            <a:ext cx="3597660" cy="1956622"/>
          </a:xfrm>
          <a:prstGeom prst="rect">
            <a:avLst/>
          </a:prstGeom>
        </p:spPr>
      </p:pic>
      <p:sp>
        <p:nvSpPr>
          <p:cNvPr id="13" name="右カーブ矢印 12">
            <a:extLst>
              <a:ext uri="{FF2B5EF4-FFF2-40B4-BE49-F238E27FC236}">
                <a16:creationId xmlns:a16="http://schemas.microsoft.com/office/drawing/2014/main" id="{D2C5018F-69A1-CBF6-8B54-C8AC5FB4891C}"/>
              </a:ext>
            </a:extLst>
          </p:cNvPr>
          <p:cNvSpPr/>
          <p:nvPr/>
        </p:nvSpPr>
        <p:spPr>
          <a:xfrm rot="3347004">
            <a:off x="7652954" y="1457505"/>
            <a:ext cx="443345" cy="848687"/>
          </a:xfrm>
          <a:prstGeom prst="curved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 name="正方形/長方形 1">
            <a:extLst>
              <a:ext uri="{FF2B5EF4-FFF2-40B4-BE49-F238E27FC236}">
                <a16:creationId xmlns:a16="http://schemas.microsoft.com/office/drawing/2014/main" id="{D9BC16FA-2476-AE45-F509-31D026D43AA7}"/>
              </a:ext>
            </a:extLst>
          </p:cNvPr>
          <p:cNvSpPr/>
          <p:nvPr/>
        </p:nvSpPr>
        <p:spPr>
          <a:xfrm>
            <a:off x="1750391" y="4094835"/>
            <a:ext cx="3455737" cy="1009453"/>
          </a:xfrm>
          <a:prstGeom prst="rect">
            <a:avLst/>
          </a:prstGeom>
          <a:noFill/>
          <a:ln>
            <a:solidFill>
              <a:schemeClr val="tx1"/>
            </a:solidFill>
            <a:prstDash val="solid"/>
          </a:ln>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endParaRPr lang="ja-JP" altLang="ja-JP" sz="1200" kern="10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21" name="フリーフォーム 20">
            <a:extLst>
              <a:ext uri="{FF2B5EF4-FFF2-40B4-BE49-F238E27FC236}">
                <a16:creationId xmlns:a16="http://schemas.microsoft.com/office/drawing/2014/main" id="{D48C9A5E-8DA9-B4F5-0D37-ED0B9A9A7D2F}"/>
              </a:ext>
            </a:extLst>
          </p:cNvPr>
          <p:cNvSpPr/>
          <p:nvPr/>
        </p:nvSpPr>
        <p:spPr>
          <a:xfrm>
            <a:off x="1750391" y="1912120"/>
            <a:ext cx="5238898" cy="2832562"/>
          </a:xfrm>
          <a:custGeom>
            <a:avLst/>
            <a:gdLst>
              <a:gd name="connsiteX0" fmla="*/ 4060242 w 5600968"/>
              <a:gd name="connsiteY0" fmla="*/ 0 h 2832562"/>
              <a:gd name="connsiteX1" fmla="*/ 5600968 w 5600968"/>
              <a:gd name="connsiteY1" fmla="*/ 0 h 2832562"/>
              <a:gd name="connsiteX2" fmla="*/ 5600968 w 5600968"/>
              <a:gd name="connsiteY2" fmla="*/ 2832562 h 2832562"/>
              <a:gd name="connsiteX3" fmla="*/ 4060242 w 5600968"/>
              <a:gd name="connsiteY3" fmla="*/ 2832562 h 2832562"/>
              <a:gd name="connsiteX4" fmla="*/ 4060242 w 5600968"/>
              <a:gd name="connsiteY4" fmla="*/ 577736 h 2832562"/>
              <a:gd name="connsiteX5" fmla="*/ 0 w 5600968"/>
              <a:gd name="connsiteY5" fmla="*/ 577736 h 2832562"/>
              <a:gd name="connsiteX6" fmla="*/ 0 w 5600968"/>
              <a:gd name="connsiteY6" fmla="*/ 7366 h 2832562"/>
              <a:gd name="connsiteX7" fmla="*/ 4060242 w 5600968"/>
              <a:gd name="connsiteY7" fmla="*/ 7366 h 283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00968" h="2832562">
                <a:moveTo>
                  <a:pt x="4060242" y="0"/>
                </a:moveTo>
                <a:lnTo>
                  <a:pt x="5600968" y="0"/>
                </a:lnTo>
                <a:lnTo>
                  <a:pt x="5600968" y="2832562"/>
                </a:lnTo>
                <a:lnTo>
                  <a:pt x="4060242" y="2832562"/>
                </a:lnTo>
                <a:lnTo>
                  <a:pt x="4060242" y="577736"/>
                </a:lnTo>
                <a:lnTo>
                  <a:pt x="0" y="577736"/>
                </a:lnTo>
                <a:lnTo>
                  <a:pt x="0" y="7366"/>
                </a:lnTo>
                <a:lnTo>
                  <a:pt x="4060242" y="7366"/>
                </a:lnTo>
                <a:close/>
              </a:path>
            </a:pathLst>
          </a:custGeom>
          <a:noFill/>
          <a:ln>
            <a:solidFill>
              <a:schemeClr val="tx1"/>
            </a:solidFill>
            <a:prstDash val="solid"/>
          </a:ln>
        </p:spPr>
        <p:style>
          <a:lnRef idx="2">
            <a:schemeClr val="accent1"/>
          </a:lnRef>
          <a:fillRef idx="1">
            <a:schemeClr val="lt1"/>
          </a:fillRef>
          <a:effectRef idx="0">
            <a:schemeClr val="accent1"/>
          </a:effectRef>
          <a:fontRef idx="minor">
            <a:schemeClr val="dk1"/>
          </a:fontRef>
        </p:style>
        <p:txBody>
          <a:bodyPr wrap="square" rtlCol="0" anchor="ctr">
            <a:noAutofit/>
          </a:bodyPr>
          <a:lstStyle/>
          <a:p>
            <a:pPr algn="ctr">
              <a:lnSpc>
                <a:spcPts val="900"/>
              </a:lnSpc>
              <a:spcAft>
                <a:spcPts val="800"/>
              </a:spcAft>
            </a:pPr>
            <a:endParaRPr lang="ja-JP" altLang="ja-JP" sz="1200" kern="10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28" name="テキスト ボックス 2">
            <a:extLst>
              <a:ext uri="{FF2B5EF4-FFF2-40B4-BE49-F238E27FC236}">
                <a16:creationId xmlns:a16="http://schemas.microsoft.com/office/drawing/2014/main" id="{70BE64DB-9240-4A22-5DDD-DE3C6D152E5B}"/>
              </a:ext>
            </a:extLst>
          </p:cNvPr>
          <p:cNvSpPr txBox="1">
            <a:spLocks noChangeArrowheads="1"/>
          </p:cNvSpPr>
          <p:nvPr/>
        </p:nvSpPr>
        <p:spPr bwMode="auto">
          <a:xfrm>
            <a:off x="1811051" y="1959925"/>
            <a:ext cx="720000" cy="216000"/>
          </a:xfrm>
          <a:prstGeom prst="rect">
            <a:avLst/>
          </a:prstGeom>
          <a:noFill/>
          <a:ln w="9525">
            <a:noFill/>
            <a:miter lim="800000"/>
            <a:headEnd/>
            <a:tailEnd/>
          </a:ln>
        </p:spPr>
        <p:txBody>
          <a:bodyPr rot="0" vert="horz" wrap="none" lIns="0" tIns="0" rIns="0" bIns="0" anchor="ctr"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ts val="900"/>
              </a:lnSpc>
              <a:spcAft>
                <a:spcPts val="800"/>
              </a:spcAft>
            </a:pPr>
            <a:r>
              <a:rPr lang="ja-JP" altLang="en-US" sz="1200" b="1" kern="100">
                <a:latin typeface="Meiryo UI" panose="020B0604030504040204" pitchFamily="50" charset="-128"/>
                <a:ea typeface="Meiryo UI" panose="020B0604030504040204" pitchFamily="50" charset="-128"/>
                <a:cs typeface="Times New Roman" panose="02020603050405020304" pitchFamily="18" charset="0"/>
              </a:rPr>
              <a:t>審査</a:t>
            </a:r>
            <a:endParaRPr lang="ja-JP" sz="1200" b="1" kern="10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29" name="テキスト ボックス 2">
            <a:extLst>
              <a:ext uri="{FF2B5EF4-FFF2-40B4-BE49-F238E27FC236}">
                <a16:creationId xmlns:a16="http://schemas.microsoft.com/office/drawing/2014/main" id="{3859F53C-8372-4927-543E-2EC73FC69DDC}"/>
              </a:ext>
            </a:extLst>
          </p:cNvPr>
          <p:cNvSpPr txBox="1">
            <a:spLocks noChangeArrowheads="1"/>
          </p:cNvSpPr>
          <p:nvPr/>
        </p:nvSpPr>
        <p:spPr bwMode="auto">
          <a:xfrm>
            <a:off x="1811050" y="2576695"/>
            <a:ext cx="720000" cy="216000"/>
          </a:xfrm>
          <a:prstGeom prst="rect">
            <a:avLst/>
          </a:prstGeom>
          <a:noFill/>
          <a:ln w="9525">
            <a:noFill/>
            <a:miter lim="800000"/>
            <a:headEnd/>
            <a:tailEnd/>
          </a:ln>
        </p:spPr>
        <p:txBody>
          <a:bodyPr rot="0" vert="horz" wrap="none" lIns="0" tIns="0" rIns="0" bIns="0" anchor="ctr"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ts val="900"/>
              </a:lnSpc>
              <a:spcAft>
                <a:spcPts val="800"/>
              </a:spcAft>
            </a:pPr>
            <a:r>
              <a:rPr lang="ja-JP" altLang="en-US" sz="1200" b="1" kern="100">
                <a:latin typeface="Meiryo UI" panose="020B0604030504040204" pitchFamily="50" charset="-128"/>
                <a:ea typeface="Meiryo UI" panose="020B0604030504040204" pitchFamily="50" charset="-128"/>
                <a:cs typeface="Times New Roman" panose="02020603050405020304" pitchFamily="18" charset="0"/>
              </a:rPr>
              <a:t>試験方法</a:t>
            </a:r>
            <a:endParaRPr lang="ja-JP" sz="1200" b="1" kern="10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32" name="テキスト ボックス 2">
            <a:extLst>
              <a:ext uri="{FF2B5EF4-FFF2-40B4-BE49-F238E27FC236}">
                <a16:creationId xmlns:a16="http://schemas.microsoft.com/office/drawing/2014/main" id="{1753656C-76E4-0EA9-1FC7-EBAE526A6117}"/>
              </a:ext>
            </a:extLst>
          </p:cNvPr>
          <p:cNvSpPr txBox="1">
            <a:spLocks noChangeArrowheads="1"/>
          </p:cNvSpPr>
          <p:nvPr/>
        </p:nvSpPr>
        <p:spPr bwMode="auto">
          <a:xfrm>
            <a:off x="1811050" y="4131116"/>
            <a:ext cx="720000" cy="216000"/>
          </a:xfrm>
          <a:prstGeom prst="rect">
            <a:avLst/>
          </a:prstGeom>
          <a:noFill/>
          <a:ln w="9525">
            <a:noFill/>
            <a:miter lim="800000"/>
            <a:headEnd/>
            <a:tailEnd/>
          </a:ln>
        </p:spPr>
        <p:txBody>
          <a:bodyPr rot="0" vert="horz" wrap="none" lIns="0" tIns="0" rIns="0" bIns="0" anchor="ctr"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ts val="900"/>
              </a:lnSpc>
              <a:spcAft>
                <a:spcPts val="800"/>
              </a:spcAft>
            </a:pPr>
            <a:r>
              <a:rPr lang="en-US" altLang="ja-JP" sz="1200" b="1" kern="100">
                <a:latin typeface="Meiryo UI" panose="020B0604030504040204" pitchFamily="50" charset="-128"/>
                <a:ea typeface="Meiryo UI" panose="020B0604030504040204" pitchFamily="50" charset="-128"/>
                <a:cs typeface="Times New Roman" panose="02020603050405020304" pitchFamily="18" charset="0"/>
              </a:rPr>
              <a:t>ODD</a:t>
            </a:r>
            <a:r>
              <a:rPr lang="ja-JP" altLang="en-US" sz="1200" b="1" kern="100">
                <a:latin typeface="Meiryo UI" panose="020B0604030504040204" pitchFamily="50" charset="-128"/>
                <a:ea typeface="Meiryo UI" panose="020B0604030504040204" pitchFamily="50" charset="-128"/>
                <a:cs typeface="Times New Roman" panose="02020603050405020304" pitchFamily="18" charset="0"/>
              </a:rPr>
              <a:t>枠組み</a:t>
            </a:r>
            <a:endParaRPr lang="ja-JP" sz="1200" b="1" kern="100">
              <a:effectLst/>
              <a:latin typeface="Meiryo UI" panose="020B0604030504040204" pitchFamily="50" charset="-128"/>
              <a:ea typeface="Meiryo UI" panose="020B0604030504040204" pitchFamily="50" charset="-128"/>
              <a:cs typeface="Times New Roman" panose="02020603050405020304" pitchFamily="18" charset="0"/>
            </a:endParaRPr>
          </a:p>
        </p:txBody>
      </p:sp>
    </p:spTree>
    <p:extLst>
      <p:ext uri="{BB962C8B-B14F-4D97-AF65-F5344CB8AC3E}">
        <p14:creationId xmlns:p14="http://schemas.microsoft.com/office/powerpoint/2010/main" val="129670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テキスト ボックス 53">
            <a:extLst>
              <a:ext uri="{FF2B5EF4-FFF2-40B4-BE49-F238E27FC236}">
                <a16:creationId xmlns:a16="http://schemas.microsoft.com/office/drawing/2014/main" id="{2CB00AB6-3B70-C4CD-2AFA-C9C042303161}"/>
              </a:ext>
            </a:extLst>
          </p:cNvPr>
          <p:cNvSpPr txBox="1"/>
          <p:nvPr/>
        </p:nvSpPr>
        <p:spPr>
          <a:xfrm>
            <a:off x="97059" y="612776"/>
            <a:ext cx="8258047"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chemeClr val="tx1"/>
                </a:solidFill>
                <a:effectLst/>
                <a:uLnTx/>
                <a:uFillTx/>
                <a:latin typeface="Meiryo UI" panose="020B0604030504040204" pitchFamily="34" charset="-128"/>
                <a:ea typeface="Meiryo UI" panose="020B0604030504040204" pitchFamily="34" charset="-128"/>
              </a:rPr>
              <a:t>◾️</a:t>
            </a:r>
            <a:r>
              <a:rPr lang="en-US" altLang="ja-JP" sz="1400" dirty="0">
                <a:solidFill>
                  <a:schemeClr val="tx1"/>
                </a:solidFill>
                <a:latin typeface="Meiryo UI" panose="020B0604030504040204" pitchFamily="34" charset="-128"/>
                <a:ea typeface="Meiryo UI" panose="020B0604030504040204" pitchFamily="34" charset="-128"/>
              </a:rPr>
              <a:t> 4.2 ADS</a:t>
            </a: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34" charset="-128"/>
                <a:ea typeface="Meiryo UI" panose="020B0604030504040204" pitchFamily="34" charset="-128"/>
              </a:rPr>
              <a:t>評価</a:t>
            </a:r>
            <a:endParaRPr lang="en-US" altLang="ja-JP" sz="1400"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　　交通シナリオをシナリオカタログに統合して、マルチピラーアプローチにより</a:t>
            </a:r>
            <a:r>
              <a:rPr lang="ja-JP" altLang="en-US" sz="1200" dirty="0">
                <a:latin typeface="Meiryo UI" panose="020B0604030504040204" pitchFamily="34" charset="-128"/>
              </a:rPr>
              <a:t>包括的かつ効率的に</a:t>
            </a:r>
            <a:r>
              <a:rPr lang="ja-JP" altLang="en-US" sz="1200" dirty="0">
                <a:latin typeface="Meiryo UI" panose="020B0604030504040204" pitchFamily="50" charset="-128"/>
                <a:ea typeface="Meiryo UI" panose="020B0604030504040204" pitchFamily="50" charset="-128"/>
              </a:rPr>
              <a:t>検証することを推奨する</a:t>
            </a:r>
            <a:endParaRPr lang="en-US" altLang="ja-JP" sz="1200" dirty="0">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18B5851D-8D23-0F03-0A9D-8DC9D4CA0B34}"/>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4 </a:t>
            </a:r>
            <a:r>
              <a:rPr lang="en" altLang="ja-JP" dirty="0">
                <a:solidFill>
                  <a:schemeClr val="bg1"/>
                </a:solidFill>
                <a:latin typeface="Meiryo UI" panose="020B0604030504040204" pitchFamily="50" charset="-128"/>
                <a:ea typeface="Meiryo UI" panose="020B0604030504040204" pitchFamily="50" charset="-128"/>
              </a:rPr>
              <a:t>ADS</a:t>
            </a:r>
            <a:r>
              <a:rPr lang="ja-JP" altLang="en-US">
                <a:solidFill>
                  <a:schemeClr val="bg1"/>
                </a:solidFill>
                <a:latin typeface="Meiryo UI" panose="020B0604030504040204" pitchFamily="50" charset="-128"/>
                <a:ea typeface="Meiryo UI" panose="020B0604030504040204" pitchFamily="50" charset="-128"/>
              </a:rPr>
              <a:t>の安全要件、評価および検証の概要</a:t>
            </a:r>
          </a:p>
        </p:txBody>
      </p:sp>
      <p:sp>
        <p:nvSpPr>
          <p:cNvPr id="3" name="テキスト ボックス 2">
            <a:extLst>
              <a:ext uri="{FF2B5EF4-FFF2-40B4-BE49-F238E27FC236}">
                <a16:creationId xmlns:a16="http://schemas.microsoft.com/office/drawing/2014/main" id="{C57100E3-3A9C-CC74-4FA0-D0526643E333}"/>
              </a:ext>
            </a:extLst>
          </p:cNvPr>
          <p:cNvSpPr txBox="1"/>
          <p:nvPr/>
        </p:nvSpPr>
        <p:spPr>
          <a:xfrm>
            <a:off x="3225181" y="5510286"/>
            <a:ext cx="4887877" cy="276999"/>
          </a:xfrm>
          <a:prstGeom prst="rect">
            <a:avLst/>
          </a:prstGeom>
          <a:noFill/>
        </p:spPr>
        <p:txBody>
          <a:bodyPr wrap="none">
            <a:spAutoFit/>
          </a:bodyPr>
          <a:lstStyle/>
          <a:p>
            <a:r>
              <a:rPr lang="ja-JP" altLang="en-US" sz="1200" dirty="0">
                <a:latin typeface="Meiryo UI" panose="020B0604030504040204" pitchFamily="50" charset="-128"/>
                <a:ea typeface="Meiryo UI" panose="020B0604030504040204" pitchFamily="50" charset="-128"/>
              </a:rPr>
              <a:t>図２：安全要件、</a:t>
            </a:r>
            <a:r>
              <a:rPr lang="en" altLang="ja-JP" sz="1200" dirty="0">
                <a:latin typeface="Meiryo UI" panose="020B0604030504040204" pitchFamily="50" charset="-128"/>
                <a:ea typeface="Meiryo UI" panose="020B0604030504040204" pitchFamily="50" charset="-128"/>
              </a:rPr>
              <a:t>ODD </a:t>
            </a:r>
            <a:r>
              <a:rPr lang="ja-JP" altLang="en-US" sz="1200" dirty="0">
                <a:latin typeface="Meiryo UI" panose="020B0604030504040204" pitchFamily="50" charset="-128"/>
                <a:ea typeface="Meiryo UI" panose="020B0604030504040204" pitchFamily="50" charset="-128"/>
              </a:rPr>
              <a:t>分析、シナリオ生成および検証のためのピラーの関係</a:t>
            </a:r>
          </a:p>
        </p:txBody>
      </p:sp>
      <p:sp>
        <p:nvSpPr>
          <p:cNvPr id="7231" name="正方形/長方形 7230">
            <a:extLst>
              <a:ext uri="{FF2B5EF4-FFF2-40B4-BE49-F238E27FC236}">
                <a16:creationId xmlns:a16="http://schemas.microsoft.com/office/drawing/2014/main" id="{D511AFC2-E6AF-727B-203F-BAD7CECB03CF}"/>
              </a:ext>
            </a:extLst>
          </p:cNvPr>
          <p:cNvSpPr/>
          <p:nvPr/>
        </p:nvSpPr>
        <p:spPr>
          <a:xfrm>
            <a:off x="212861" y="1519183"/>
            <a:ext cx="7900197" cy="3906816"/>
          </a:xfrm>
          <a:prstGeom prst="rect">
            <a:avLst/>
          </a:prstGeom>
          <a:noFill/>
          <a:ln w="9525">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endParaRPr lang="ja-JP" altLang="ja-JP" sz="1200" kern="10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7183" name="正方形/長方形 7182">
            <a:extLst>
              <a:ext uri="{FF2B5EF4-FFF2-40B4-BE49-F238E27FC236}">
                <a16:creationId xmlns:a16="http://schemas.microsoft.com/office/drawing/2014/main" id="{FD87E179-77E1-EDE5-5D86-9277A56225FD}"/>
              </a:ext>
            </a:extLst>
          </p:cNvPr>
          <p:cNvSpPr/>
          <p:nvPr/>
        </p:nvSpPr>
        <p:spPr>
          <a:xfrm>
            <a:off x="1750391" y="2539007"/>
            <a:ext cx="3447184" cy="1367174"/>
          </a:xfrm>
          <a:prstGeom prst="rect">
            <a:avLst/>
          </a:prstGeom>
          <a:noFill/>
          <a:ln>
            <a:solidFill>
              <a:srgbClr val="0000FF"/>
            </a:solidFill>
            <a:prstDash val="solid"/>
          </a:ln>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endParaRPr lang="ja-JP" altLang="ja-JP" sz="1200" kern="10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7169" name="正方形/長方形 7168">
            <a:extLst>
              <a:ext uri="{FF2B5EF4-FFF2-40B4-BE49-F238E27FC236}">
                <a16:creationId xmlns:a16="http://schemas.microsoft.com/office/drawing/2014/main" id="{0EB2A3E7-D926-639C-5FD6-0F6190476517}"/>
              </a:ext>
            </a:extLst>
          </p:cNvPr>
          <p:cNvSpPr/>
          <p:nvPr/>
        </p:nvSpPr>
        <p:spPr>
          <a:xfrm>
            <a:off x="553255" y="2048757"/>
            <a:ext cx="385902" cy="1820424"/>
          </a:xfrm>
          <a:prstGeom prst="rect">
            <a:avLst/>
          </a:prstGeom>
          <a:solidFill>
            <a:schemeClr val="accent1"/>
          </a:solidFill>
          <a:ln>
            <a:solidFill>
              <a:srgbClr val="0000FF"/>
            </a:solidFill>
            <a:prstDash val="dash"/>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ja-JP" altLang="en-US" sz="1200" b="1">
                <a:solidFill>
                  <a:schemeClr val="bg1"/>
                </a:solidFill>
                <a:latin typeface="Meiryo UI" panose="020B0604030504040204" pitchFamily="50" charset="-128"/>
                <a:ea typeface="Meiryo UI" panose="020B0604030504040204" pitchFamily="50" charset="-128"/>
              </a:rPr>
              <a:t>要件</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7171" name="正方形/長方形 7170">
            <a:extLst>
              <a:ext uri="{FF2B5EF4-FFF2-40B4-BE49-F238E27FC236}">
                <a16:creationId xmlns:a16="http://schemas.microsoft.com/office/drawing/2014/main" id="{8FBC7FE4-E48F-2561-5B1C-F29BCECED14F}"/>
              </a:ext>
            </a:extLst>
          </p:cNvPr>
          <p:cNvSpPr/>
          <p:nvPr/>
        </p:nvSpPr>
        <p:spPr>
          <a:xfrm>
            <a:off x="3077761" y="2103251"/>
            <a:ext cx="2439938" cy="321563"/>
          </a:xfrm>
          <a:prstGeom prst="rect">
            <a:avLst/>
          </a:prstGeom>
          <a:solidFill>
            <a:schemeClr val="accent1"/>
          </a:solidFill>
          <a:ln>
            <a:solidFill>
              <a:srgbClr val="0000FF"/>
            </a:solidFill>
            <a:prstDash val="dash"/>
          </a:ln>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r>
              <a:rPr lang="ja-JP" altLang="en-US" sz="1200" kern="10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メーカ</a:t>
            </a:r>
            <a:r>
              <a:rPr lang="ja-JP" altLang="ja-JP" sz="1200" kern="10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の</a:t>
            </a:r>
            <a:r>
              <a:rPr lang="ja-JP" altLang="ja-JP" sz="1200"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安全管理システム</a:t>
            </a:r>
          </a:p>
        </p:txBody>
      </p:sp>
      <p:cxnSp>
        <p:nvCxnSpPr>
          <p:cNvPr id="7175" name="直線矢印コネクタ 7174">
            <a:extLst>
              <a:ext uri="{FF2B5EF4-FFF2-40B4-BE49-F238E27FC236}">
                <a16:creationId xmlns:a16="http://schemas.microsoft.com/office/drawing/2014/main" id="{FC377390-8A9B-9141-BE19-3DE4E318EA7E}"/>
              </a:ext>
            </a:extLst>
          </p:cNvPr>
          <p:cNvCxnSpPr>
            <a:cxnSpLocks/>
            <a:endCxn id="7171" idx="1"/>
          </p:cNvCxnSpPr>
          <p:nvPr/>
        </p:nvCxnSpPr>
        <p:spPr>
          <a:xfrm flipV="1">
            <a:off x="936641" y="2264033"/>
            <a:ext cx="2141120" cy="41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77" name="直線矢印コネクタ 7176">
            <a:extLst>
              <a:ext uri="{FF2B5EF4-FFF2-40B4-BE49-F238E27FC236}">
                <a16:creationId xmlns:a16="http://schemas.microsoft.com/office/drawing/2014/main" id="{78F6126A-9009-3D66-80C1-97B9522F5D68}"/>
              </a:ext>
            </a:extLst>
          </p:cNvPr>
          <p:cNvCxnSpPr>
            <a:cxnSpLocks/>
          </p:cNvCxnSpPr>
          <p:nvPr/>
        </p:nvCxnSpPr>
        <p:spPr>
          <a:xfrm flipV="1">
            <a:off x="746205" y="3869180"/>
            <a:ext cx="0" cy="4708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180" name="正方形/長方形 7179">
            <a:extLst>
              <a:ext uri="{FF2B5EF4-FFF2-40B4-BE49-F238E27FC236}">
                <a16:creationId xmlns:a16="http://schemas.microsoft.com/office/drawing/2014/main" id="{C81DB02E-B37B-E91E-532B-1D997989E375}"/>
              </a:ext>
            </a:extLst>
          </p:cNvPr>
          <p:cNvSpPr/>
          <p:nvPr/>
        </p:nvSpPr>
        <p:spPr>
          <a:xfrm>
            <a:off x="412458" y="4358470"/>
            <a:ext cx="764537" cy="508312"/>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en-US" altLang="ja-JP" sz="1200" b="1" dirty="0">
                <a:solidFill>
                  <a:schemeClr val="bg1"/>
                </a:solidFill>
                <a:latin typeface="Meiryo UI" panose="020B0604030504040204" pitchFamily="50" charset="-128"/>
                <a:ea typeface="Meiryo UI" panose="020B0604030504040204" pitchFamily="50" charset="-128"/>
              </a:rPr>
              <a:t>ODD</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7181" name="正方形/長方形 7180">
            <a:extLst>
              <a:ext uri="{FF2B5EF4-FFF2-40B4-BE49-F238E27FC236}">
                <a16:creationId xmlns:a16="http://schemas.microsoft.com/office/drawing/2014/main" id="{C137C743-A33D-FD10-0CCD-C55C912D579E}"/>
              </a:ext>
            </a:extLst>
          </p:cNvPr>
          <p:cNvSpPr/>
          <p:nvPr/>
        </p:nvSpPr>
        <p:spPr>
          <a:xfrm>
            <a:off x="3220217" y="3054470"/>
            <a:ext cx="1767291" cy="321563"/>
          </a:xfrm>
          <a:prstGeom prst="rect">
            <a:avLst/>
          </a:prstGeom>
          <a:solidFill>
            <a:schemeClr val="accent4"/>
          </a:solidFill>
          <a:ln>
            <a:noFill/>
          </a:ln>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r>
              <a:rPr lang="ja-JP" altLang="en-US" sz="1200"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トラック試験</a:t>
            </a:r>
            <a:endParaRPr lang="ja-JP" altLang="ja-JP" sz="1200"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7182" name="正方形/長方形 7181">
            <a:extLst>
              <a:ext uri="{FF2B5EF4-FFF2-40B4-BE49-F238E27FC236}">
                <a16:creationId xmlns:a16="http://schemas.microsoft.com/office/drawing/2014/main" id="{8D0C5BF8-0C3D-B704-C215-0CC003A928B3}"/>
              </a:ext>
            </a:extLst>
          </p:cNvPr>
          <p:cNvSpPr/>
          <p:nvPr/>
        </p:nvSpPr>
        <p:spPr>
          <a:xfrm>
            <a:off x="3059691" y="2615871"/>
            <a:ext cx="1767291" cy="321563"/>
          </a:xfrm>
          <a:prstGeom prst="rect">
            <a:avLst/>
          </a:prstGeom>
          <a:solidFill>
            <a:schemeClr val="accent2"/>
          </a:solidFill>
          <a:ln>
            <a:noFill/>
          </a:ln>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r>
              <a:rPr lang="ja-JP" altLang="en-US" sz="1200"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シュミレーション</a:t>
            </a:r>
            <a:endParaRPr lang="ja-JP" altLang="ja-JP" sz="1200"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p:txBody>
      </p:sp>
      <p:cxnSp>
        <p:nvCxnSpPr>
          <p:cNvPr id="7185" name="直線矢印コネクタ 7184">
            <a:extLst>
              <a:ext uri="{FF2B5EF4-FFF2-40B4-BE49-F238E27FC236}">
                <a16:creationId xmlns:a16="http://schemas.microsoft.com/office/drawing/2014/main" id="{EADAEEA7-A0C5-09E9-4ABB-BCDA2E96BACA}"/>
              </a:ext>
            </a:extLst>
          </p:cNvPr>
          <p:cNvCxnSpPr>
            <a:cxnSpLocks/>
            <a:endCxn id="7183" idx="1"/>
          </p:cNvCxnSpPr>
          <p:nvPr/>
        </p:nvCxnSpPr>
        <p:spPr>
          <a:xfrm flipV="1">
            <a:off x="936641" y="3222594"/>
            <a:ext cx="813750" cy="995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190" name="カギ線コネクタ 7189">
            <a:extLst>
              <a:ext uri="{FF2B5EF4-FFF2-40B4-BE49-F238E27FC236}">
                <a16:creationId xmlns:a16="http://schemas.microsoft.com/office/drawing/2014/main" id="{0185E330-39E8-2101-2ADA-E2B56034DC20}"/>
              </a:ext>
            </a:extLst>
          </p:cNvPr>
          <p:cNvCxnSpPr>
            <a:cxnSpLocks/>
            <a:stCxn id="7183" idx="1"/>
          </p:cNvCxnSpPr>
          <p:nvPr/>
        </p:nvCxnSpPr>
        <p:spPr>
          <a:xfrm rot="10800000" flipH="1" flipV="1">
            <a:off x="1750390" y="3222594"/>
            <a:ext cx="1581035" cy="436486"/>
          </a:xfrm>
          <a:prstGeom prst="bentConnector3">
            <a:avLst>
              <a:gd name="adj1" fmla="val 1874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91" name="カギ線コネクタ 7190">
            <a:extLst>
              <a:ext uri="{FF2B5EF4-FFF2-40B4-BE49-F238E27FC236}">
                <a16:creationId xmlns:a16="http://schemas.microsoft.com/office/drawing/2014/main" id="{17364916-8391-4D62-CA5E-E9CC25CFC60A}"/>
              </a:ext>
            </a:extLst>
          </p:cNvPr>
          <p:cNvCxnSpPr>
            <a:cxnSpLocks/>
            <a:stCxn id="7183" idx="1"/>
            <a:endCxn id="7182" idx="1"/>
          </p:cNvCxnSpPr>
          <p:nvPr/>
        </p:nvCxnSpPr>
        <p:spPr>
          <a:xfrm rot="10800000" flipH="1">
            <a:off x="1750391" y="2776654"/>
            <a:ext cx="1309300" cy="445941"/>
          </a:xfrm>
          <a:prstGeom prst="bentConnector3">
            <a:avLst>
              <a:gd name="adj1" fmla="val 21986"/>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94" name="直線矢印コネクタ 7193">
            <a:extLst>
              <a:ext uri="{FF2B5EF4-FFF2-40B4-BE49-F238E27FC236}">
                <a16:creationId xmlns:a16="http://schemas.microsoft.com/office/drawing/2014/main" id="{FD5AFC6C-11BA-6C2D-7E43-2CA95573DA4B}"/>
              </a:ext>
            </a:extLst>
          </p:cNvPr>
          <p:cNvCxnSpPr>
            <a:cxnSpLocks/>
            <a:stCxn id="7183" idx="1"/>
            <a:endCxn id="7181" idx="1"/>
          </p:cNvCxnSpPr>
          <p:nvPr/>
        </p:nvCxnSpPr>
        <p:spPr>
          <a:xfrm flipV="1">
            <a:off x="1750391" y="3215252"/>
            <a:ext cx="1469826" cy="7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98" name="直線矢印コネクタ 7197">
            <a:extLst>
              <a:ext uri="{FF2B5EF4-FFF2-40B4-BE49-F238E27FC236}">
                <a16:creationId xmlns:a16="http://schemas.microsoft.com/office/drawing/2014/main" id="{27CD2C19-34AF-F059-D70E-2789320BC189}"/>
              </a:ext>
            </a:extLst>
          </p:cNvPr>
          <p:cNvCxnSpPr>
            <a:cxnSpLocks/>
            <a:stCxn id="7183" idx="3"/>
          </p:cNvCxnSpPr>
          <p:nvPr/>
        </p:nvCxnSpPr>
        <p:spPr>
          <a:xfrm>
            <a:off x="5197575" y="3222594"/>
            <a:ext cx="61377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7200" name="正方形/長方形 7199">
            <a:extLst>
              <a:ext uri="{FF2B5EF4-FFF2-40B4-BE49-F238E27FC236}">
                <a16:creationId xmlns:a16="http://schemas.microsoft.com/office/drawing/2014/main" id="{DEDA061C-AD5A-272B-FF0E-9F2A9DF50FA8}"/>
              </a:ext>
            </a:extLst>
          </p:cNvPr>
          <p:cNvSpPr/>
          <p:nvPr/>
        </p:nvSpPr>
        <p:spPr>
          <a:xfrm>
            <a:off x="5834581" y="2048757"/>
            <a:ext cx="1015354" cy="1712794"/>
          </a:xfrm>
          <a:prstGeom prst="rect">
            <a:avLst/>
          </a:prstGeom>
          <a:solidFill>
            <a:schemeClr val="accent1"/>
          </a:solidFill>
          <a:ln>
            <a:solidFill>
              <a:srgbClr val="0000FF"/>
            </a:solidFill>
            <a:prstDash val="dash"/>
          </a:ln>
        </p:spPr>
        <p:style>
          <a:lnRef idx="2">
            <a:schemeClr val="accent1"/>
          </a:lnRef>
          <a:fillRef idx="1">
            <a:schemeClr val="lt1"/>
          </a:fillRef>
          <a:effectRef idx="0">
            <a:schemeClr val="accent1"/>
          </a:effectRef>
          <a:fontRef idx="minor">
            <a:schemeClr val="dk1"/>
          </a:fontRef>
        </p:style>
        <p:txBody>
          <a:bodyPr vert="eaVert" wrap="none" rtlCol="0" anchor="ctr"/>
          <a:lstStyle/>
          <a:p>
            <a:pPr algn="ctr"/>
            <a:r>
              <a:rPr lang="en-GB" altLang="ja-JP" sz="1200"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ADS</a:t>
            </a:r>
            <a:r>
              <a:rPr lang="ja-JP" altLang="ja-JP" sz="1200" kern="10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の安全性評価</a:t>
            </a:r>
          </a:p>
        </p:txBody>
      </p:sp>
      <p:sp>
        <p:nvSpPr>
          <p:cNvPr id="7201" name="正方形/長方形 7200">
            <a:extLst>
              <a:ext uri="{FF2B5EF4-FFF2-40B4-BE49-F238E27FC236}">
                <a16:creationId xmlns:a16="http://schemas.microsoft.com/office/drawing/2014/main" id="{5200DB23-2733-1090-8F01-12D4B53A356C}"/>
              </a:ext>
            </a:extLst>
          </p:cNvPr>
          <p:cNvSpPr/>
          <p:nvPr/>
        </p:nvSpPr>
        <p:spPr>
          <a:xfrm>
            <a:off x="5834226" y="3869180"/>
            <a:ext cx="1042653" cy="734764"/>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試験環境</a:t>
            </a:r>
            <a:endParaRPr kumimoji="1" lang="en-US" altLang="ja-JP" sz="1200" b="1" dirty="0">
              <a:solidFill>
                <a:schemeClr val="bg1"/>
              </a:solidFill>
              <a:latin typeface="Meiryo UI" panose="020B0604030504040204" pitchFamily="50" charset="-128"/>
              <a:ea typeface="Meiryo UI" panose="020B0604030504040204" pitchFamily="50" charset="-128"/>
            </a:endParaRPr>
          </a:p>
          <a:p>
            <a:pPr algn="ctr"/>
            <a:r>
              <a:rPr kumimoji="1" lang="ja-JP" altLang="en-US" sz="1200" b="1">
                <a:solidFill>
                  <a:schemeClr val="bg1"/>
                </a:solidFill>
                <a:latin typeface="Meiryo UI" panose="020B0604030504040204" pitchFamily="50" charset="-128"/>
                <a:ea typeface="Meiryo UI" panose="020B0604030504040204" pitchFamily="50" charset="-128"/>
              </a:rPr>
              <a:t>の評価</a:t>
            </a:r>
          </a:p>
        </p:txBody>
      </p:sp>
      <p:sp>
        <p:nvSpPr>
          <p:cNvPr id="7202" name="正方形/長方形 7201">
            <a:extLst>
              <a:ext uri="{FF2B5EF4-FFF2-40B4-BE49-F238E27FC236}">
                <a16:creationId xmlns:a16="http://schemas.microsoft.com/office/drawing/2014/main" id="{C2719818-31B4-08AE-6CD7-2EAD27C24D14}"/>
              </a:ext>
            </a:extLst>
          </p:cNvPr>
          <p:cNvSpPr/>
          <p:nvPr/>
        </p:nvSpPr>
        <p:spPr>
          <a:xfrm>
            <a:off x="7188764" y="2424815"/>
            <a:ext cx="459618" cy="1939912"/>
          </a:xfrm>
          <a:prstGeom prst="rect">
            <a:avLst/>
          </a:prstGeom>
          <a:solidFill>
            <a:schemeClr val="accent6"/>
          </a:solidFill>
          <a:ln>
            <a:solidFill>
              <a:srgbClr val="0000FF"/>
            </a:solidFill>
            <a:prstDash val="dash"/>
          </a:ln>
        </p:spPr>
        <p:style>
          <a:lnRef idx="2">
            <a:schemeClr val="accent1"/>
          </a:lnRef>
          <a:fillRef idx="1">
            <a:schemeClr val="lt1"/>
          </a:fillRef>
          <a:effectRef idx="0">
            <a:schemeClr val="accent1"/>
          </a:effectRef>
          <a:fontRef idx="minor">
            <a:schemeClr val="dk1"/>
          </a:fontRef>
        </p:style>
        <p:txBody>
          <a:bodyPr vert="eaVert" wrap="none" rtlCol="0" anchor="ctr"/>
          <a:lstStyle/>
          <a:p>
            <a:pPr algn="ctr"/>
            <a:r>
              <a:rPr kumimoji="1" lang="ja-JP" altLang="en-US" sz="1200" b="1" dirty="0">
                <a:solidFill>
                  <a:schemeClr val="bg1"/>
                </a:solidFill>
                <a:latin typeface="Meiryo UI" panose="020B0604030504040204" pitchFamily="50" charset="-128"/>
                <a:ea typeface="Meiryo UI" panose="020B0604030504040204" pitchFamily="50" charset="-128"/>
              </a:rPr>
              <a:t>使用中の監視と</a:t>
            </a:r>
          </a:p>
          <a:p>
            <a:pPr algn="ctr"/>
            <a:r>
              <a:rPr kumimoji="1" lang="ja-JP" altLang="en-US" sz="1200" b="1">
                <a:solidFill>
                  <a:schemeClr val="bg1"/>
                </a:solidFill>
                <a:latin typeface="Meiryo UI" panose="020B0604030504040204" pitchFamily="50" charset="-128"/>
                <a:ea typeface="Meiryo UI" panose="020B0604030504040204" pitchFamily="50" charset="-128"/>
              </a:rPr>
              <a:t>報告</a:t>
            </a:r>
            <a:r>
              <a:rPr lang="en-US" altLang="ja-JP" sz="1200" dirty="0">
                <a:solidFill>
                  <a:schemeClr val="bg1"/>
                </a:solidFill>
                <a:latin typeface="Meiryo UI" panose="020B0604030504040204" pitchFamily="34" charset="-128"/>
                <a:ea typeface="Meiryo UI" panose="020B0604030504040204" pitchFamily="50" charset="-128"/>
              </a:rPr>
              <a:t>(ISMR</a:t>
            </a:r>
            <a:r>
              <a:rPr lang="en" altLang="ja-JP" sz="1200" dirty="0">
                <a:solidFill>
                  <a:schemeClr val="bg1"/>
                </a:solidFill>
                <a:latin typeface="Meiryo UI" panose="020B0604030504040204" pitchFamily="34" charset="-128"/>
                <a:ea typeface="Meiryo UI" panose="020B0604030504040204" pitchFamily="50" charset="-128"/>
              </a:rPr>
              <a:t>)</a:t>
            </a:r>
            <a:endParaRPr kumimoji="1" lang="en" altLang="ja-JP" sz="1200" dirty="0">
              <a:solidFill>
                <a:schemeClr val="bg1"/>
              </a:solidFill>
              <a:latin typeface="Meiryo UI" panose="020B0604030504040204" pitchFamily="34" charset="-128"/>
              <a:ea typeface="Meiryo UI" panose="020B0604030504040204" pitchFamily="50" charset="-128"/>
            </a:endParaRPr>
          </a:p>
        </p:txBody>
      </p:sp>
      <p:sp>
        <p:nvSpPr>
          <p:cNvPr id="7203" name="正方形/長方形 7202">
            <a:extLst>
              <a:ext uri="{FF2B5EF4-FFF2-40B4-BE49-F238E27FC236}">
                <a16:creationId xmlns:a16="http://schemas.microsoft.com/office/drawing/2014/main" id="{7AA28C42-B4DB-F9E8-5160-5C29B8623784}"/>
              </a:ext>
            </a:extLst>
          </p:cNvPr>
          <p:cNvSpPr/>
          <p:nvPr/>
        </p:nvSpPr>
        <p:spPr>
          <a:xfrm>
            <a:off x="4046610" y="4354579"/>
            <a:ext cx="1097475" cy="346444"/>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シナリオ</a:t>
            </a:r>
          </a:p>
        </p:txBody>
      </p:sp>
      <p:sp>
        <p:nvSpPr>
          <p:cNvPr id="7205" name="正方形/長方形 7204">
            <a:extLst>
              <a:ext uri="{FF2B5EF4-FFF2-40B4-BE49-F238E27FC236}">
                <a16:creationId xmlns:a16="http://schemas.microsoft.com/office/drawing/2014/main" id="{74220FFB-4123-46B6-5A5E-BAB213992BC5}"/>
              </a:ext>
            </a:extLst>
          </p:cNvPr>
          <p:cNvSpPr/>
          <p:nvPr/>
        </p:nvSpPr>
        <p:spPr>
          <a:xfrm>
            <a:off x="2430781" y="4734553"/>
            <a:ext cx="1495166" cy="317201"/>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sz="1200" b="1" dirty="0">
                <a:solidFill>
                  <a:schemeClr val="bg1"/>
                </a:solidFill>
                <a:latin typeface="Meiryo UI" panose="020B0604030504040204" pitchFamily="50" charset="-128"/>
                <a:ea typeface="Meiryo UI" panose="020B0604030504040204" pitchFamily="50" charset="-128"/>
              </a:rPr>
              <a:t>動作性能</a:t>
            </a:r>
          </a:p>
        </p:txBody>
      </p:sp>
      <p:sp>
        <p:nvSpPr>
          <p:cNvPr id="7206" name="正方形/長方形 7205">
            <a:extLst>
              <a:ext uri="{FF2B5EF4-FFF2-40B4-BE49-F238E27FC236}">
                <a16:creationId xmlns:a16="http://schemas.microsoft.com/office/drawing/2014/main" id="{50639BA9-49B8-DAA0-F7DB-60E803559144}"/>
              </a:ext>
            </a:extLst>
          </p:cNvPr>
          <p:cNvSpPr/>
          <p:nvPr/>
        </p:nvSpPr>
        <p:spPr>
          <a:xfrm>
            <a:off x="2430781" y="4354579"/>
            <a:ext cx="1495166" cy="346445"/>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シナリオ生成</a:t>
            </a:r>
            <a:endParaRPr kumimoji="1" lang="en-US" altLang="ja-JP" sz="1200" b="1" dirty="0">
              <a:solidFill>
                <a:schemeClr val="bg1"/>
              </a:solidFill>
              <a:latin typeface="Meiryo UI" panose="020B0604030504040204" pitchFamily="50" charset="-128"/>
              <a:ea typeface="Meiryo UI" panose="020B0604030504040204" pitchFamily="50" charset="-128"/>
            </a:endParaRPr>
          </a:p>
          <a:p>
            <a:pPr algn="ctr"/>
            <a:r>
              <a:rPr lang="ja-JP" altLang="en-US" sz="1200" b="1">
                <a:solidFill>
                  <a:schemeClr val="bg1"/>
                </a:solidFill>
                <a:latin typeface="Meiryo UI" panose="020B0604030504040204" pitchFamily="50" charset="-128"/>
                <a:ea typeface="Meiryo UI" panose="020B0604030504040204" pitchFamily="50" charset="-128"/>
              </a:rPr>
              <a:t>アプローチ</a:t>
            </a:r>
            <a:endParaRPr kumimoji="1" lang="ja-JP" altLang="en-US" sz="1200" b="1">
              <a:solidFill>
                <a:schemeClr val="bg1"/>
              </a:solidFill>
              <a:latin typeface="Meiryo UI" panose="020B0604030504040204" pitchFamily="50" charset="-128"/>
              <a:ea typeface="Meiryo UI" panose="020B0604030504040204" pitchFamily="50" charset="-128"/>
            </a:endParaRPr>
          </a:p>
        </p:txBody>
      </p:sp>
      <p:cxnSp>
        <p:nvCxnSpPr>
          <p:cNvPr id="7207" name="直線矢印コネクタ 7206">
            <a:extLst>
              <a:ext uri="{FF2B5EF4-FFF2-40B4-BE49-F238E27FC236}">
                <a16:creationId xmlns:a16="http://schemas.microsoft.com/office/drawing/2014/main" id="{8483B691-044F-855E-A894-96F112C18A90}"/>
              </a:ext>
            </a:extLst>
          </p:cNvPr>
          <p:cNvCxnSpPr>
            <a:cxnSpLocks/>
          </p:cNvCxnSpPr>
          <p:nvPr/>
        </p:nvCxnSpPr>
        <p:spPr>
          <a:xfrm>
            <a:off x="5197529" y="4364727"/>
            <a:ext cx="637054"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208" name="直線矢印コネクタ 7207">
            <a:extLst>
              <a:ext uri="{FF2B5EF4-FFF2-40B4-BE49-F238E27FC236}">
                <a16:creationId xmlns:a16="http://schemas.microsoft.com/office/drawing/2014/main" id="{AE3B0DD3-3FF9-4D3E-4508-B72B684AE3EE}"/>
              </a:ext>
            </a:extLst>
          </p:cNvPr>
          <p:cNvCxnSpPr>
            <a:cxnSpLocks/>
            <a:stCxn id="7180" idx="3"/>
          </p:cNvCxnSpPr>
          <p:nvPr/>
        </p:nvCxnSpPr>
        <p:spPr>
          <a:xfrm>
            <a:off x="1176995" y="4612626"/>
            <a:ext cx="53313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16" name="直線矢印コネクタ 7215">
            <a:extLst>
              <a:ext uri="{FF2B5EF4-FFF2-40B4-BE49-F238E27FC236}">
                <a16:creationId xmlns:a16="http://schemas.microsoft.com/office/drawing/2014/main" id="{8387731C-5006-1C04-001F-1901100EFDBE}"/>
              </a:ext>
            </a:extLst>
          </p:cNvPr>
          <p:cNvCxnSpPr>
            <a:cxnSpLocks/>
          </p:cNvCxnSpPr>
          <p:nvPr/>
        </p:nvCxnSpPr>
        <p:spPr>
          <a:xfrm>
            <a:off x="3971208" y="3898919"/>
            <a:ext cx="0" cy="20237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219" name="カギ線コネクタ 7218">
            <a:extLst>
              <a:ext uri="{FF2B5EF4-FFF2-40B4-BE49-F238E27FC236}">
                <a16:creationId xmlns:a16="http://schemas.microsoft.com/office/drawing/2014/main" id="{74737629-6E9B-EB75-2C0D-BB295C6400D1}"/>
              </a:ext>
            </a:extLst>
          </p:cNvPr>
          <p:cNvCxnSpPr>
            <a:cxnSpLocks/>
            <a:stCxn id="7202" idx="2"/>
          </p:cNvCxnSpPr>
          <p:nvPr/>
        </p:nvCxnSpPr>
        <p:spPr>
          <a:xfrm rot="5400000">
            <a:off x="6061328" y="3509536"/>
            <a:ext cx="502055" cy="221243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23" name="カギ線コネクタ 7222">
            <a:extLst>
              <a:ext uri="{FF2B5EF4-FFF2-40B4-BE49-F238E27FC236}">
                <a16:creationId xmlns:a16="http://schemas.microsoft.com/office/drawing/2014/main" id="{43204E1E-03C7-5C07-1980-370DC638A356}"/>
              </a:ext>
            </a:extLst>
          </p:cNvPr>
          <p:cNvCxnSpPr>
            <a:cxnSpLocks/>
            <a:stCxn id="7169" idx="0"/>
            <a:endCxn id="7202" idx="0"/>
          </p:cNvCxnSpPr>
          <p:nvPr/>
        </p:nvCxnSpPr>
        <p:spPr>
          <a:xfrm rot="16200000" flipH="1">
            <a:off x="3894360" y="-1099397"/>
            <a:ext cx="376058" cy="6672367"/>
          </a:xfrm>
          <a:prstGeom prst="bentConnector3">
            <a:avLst>
              <a:gd name="adj1" fmla="val -60788"/>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224" name="カギ線コネクタ 7223">
            <a:extLst>
              <a:ext uri="{FF2B5EF4-FFF2-40B4-BE49-F238E27FC236}">
                <a16:creationId xmlns:a16="http://schemas.microsoft.com/office/drawing/2014/main" id="{860DAB38-33C4-8B4C-8646-84AA5A57EB82}"/>
              </a:ext>
            </a:extLst>
          </p:cNvPr>
          <p:cNvCxnSpPr>
            <a:cxnSpLocks/>
            <a:stCxn id="7169" idx="0"/>
            <a:endCxn id="7200" idx="0"/>
          </p:cNvCxnSpPr>
          <p:nvPr/>
        </p:nvCxnSpPr>
        <p:spPr>
          <a:xfrm rot="5400000" flipH="1" flipV="1">
            <a:off x="3544401" y="-749269"/>
            <a:ext cx="16194" cy="5596053"/>
          </a:xfrm>
          <a:prstGeom prst="bentConnector3">
            <a:avLst>
              <a:gd name="adj1" fmla="val 180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228" name="直線矢印コネクタ 7227">
            <a:extLst>
              <a:ext uri="{FF2B5EF4-FFF2-40B4-BE49-F238E27FC236}">
                <a16:creationId xmlns:a16="http://schemas.microsoft.com/office/drawing/2014/main" id="{3DA90459-C7E0-6A1C-9F43-69E4CC588BA6}"/>
              </a:ext>
            </a:extLst>
          </p:cNvPr>
          <p:cNvCxnSpPr>
            <a:cxnSpLocks/>
          </p:cNvCxnSpPr>
          <p:nvPr/>
        </p:nvCxnSpPr>
        <p:spPr>
          <a:xfrm>
            <a:off x="5197529" y="3656705"/>
            <a:ext cx="613816" cy="39047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E819829B-805D-5038-47CE-FD7DF7FE749D}"/>
              </a:ext>
            </a:extLst>
          </p:cNvPr>
          <p:cNvSpPr txBox="1"/>
          <p:nvPr/>
        </p:nvSpPr>
        <p:spPr>
          <a:xfrm>
            <a:off x="-12502" y="6432191"/>
            <a:ext cx="12192000" cy="369332"/>
          </a:xfrm>
          <a:prstGeom prst="rect">
            <a:avLst/>
          </a:prstGeom>
          <a:noFill/>
        </p:spPr>
        <p:txBody>
          <a:bodyPr wrap="square" rtlCol="0">
            <a:spAutoFit/>
          </a:bodyPr>
          <a:lstStyle/>
          <a:p>
            <a:pPr algn="ctr"/>
            <a:r>
              <a:rPr lang="ja-JP" altLang="en-US">
                <a:latin typeface="Meiryo UI" panose="020B0604030504040204" pitchFamily="50" charset="-128"/>
                <a:ea typeface="Meiryo UI" panose="020B0604030504040204" pitchFamily="50" charset="-128"/>
              </a:rPr>
              <a:t>マルチピラーアプローチを用いて</a:t>
            </a:r>
            <a:r>
              <a:rPr lang="ja-JP" altLang="en-US" sz="1800">
                <a:latin typeface="Meiryo UI" panose="020B0604030504040204" pitchFamily="34" charset="-128"/>
              </a:rPr>
              <a:t>包括的かつ効率的な検証を実施</a:t>
            </a:r>
            <a:endParaRPr lang="en-US" altLang="ja-JP" dirty="0">
              <a:latin typeface="Meiryo UI" panose="020B0604030504040204" pitchFamily="50" charset="-128"/>
              <a:ea typeface="Meiryo UI" panose="020B0604030504040204" pitchFamily="50" charset="-128"/>
            </a:endParaRPr>
          </a:p>
        </p:txBody>
      </p:sp>
      <p:sp>
        <p:nvSpPr>
          <p:cNvPr id="28" name="テキスト ボックス 2">
            <a:extLst>
              <a:ext uri="{FF2B5EF4-FFF2-40B4-BE49-F238E27FC236}">
                <a16:creationId xmlns:a16="http://schemas.microsoft.com/office/drawing/2014/main" id="{70BE64DB-9240-4A22-5DDD-DE3C6D152E5B}"/>
              </a:ext>
            </a:extLst>
          </p:cNvPr>
          <p:cNvSpPr txBox="1">
            <a:spLocks noChangeArrowheads="1"/>
          </p:cNvSpPr>
          <p:nvPr/>
        </p:nvSpPr>
        <p:spPr bwMode="auto">
          <a:xfrm>
            <a:off x="1811051" y="1959925"/>
            <a:ext cx="720000" cy="216000"/>
          </a:xfrm>
          <a:prstGeom prst="rect">
            <a:avLst/>
          </a:prstGeom>
          <a:noFill/>
          <a:ln w="9525">
            <a:noFill/>
            <a:miter lim="800000"/>
            <a:headEnd/>
            <a:tailEnd/>
          </a:ln>
        </p:spPr>
        <p:txBody>
          <a:bodyPr rot="0" vert="horz" wrap="none" lIns="0" tIns="0" rIns="0" bIns="0" anchor="ctr"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ts val="900"/>
              </a:lnSpc>
              <a:spcAft>
                <a:spcPts val="800"/>
              </a:spcAft>
            </a:pPr>
            <a:r>
              <a:rPr lang="ja-JP" altLang="en-US" sz="1200" kern="100">
                <a:latin typeface="Meiryo UI" panose="020B0604030504040204" pitchFamily="50" charset="-128"/>
                <a:ea typeface="Meiryo UI" panose="020B0604030504040204" pitchFamily="50" charset="-128"/>
                <a:cs typeface="Times New Roman" panose="02020603050405020304" pitchFamily="18" charset="0"/>
              </a:rPr>
              <a:t>審査</a:t>
            </a:r>
            <a:endParaRPr lang="ja-JP" sz="1200" kern="10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29" name="テキスト ボックス 2">
            <a:extLst>
              <a:ext uri="{FF2B5EF4-FFF2-40B4-BE49-F238E27FC236}">
                <a16:creationId xmlns:a16="http://schemas.microsoft.com/office/drawing/2014/main" id="{3859F53C-8372-4927-543E-2EC73FC69DDC}"/>
              </a:ext>
            </a:extLst>
          </p:cNvPr>
          <p:cNvSpPr txBox="1">
            <a:spLocks noChangeArrowheads="1"/>
          </p:cNvSpPr>
          <p:nvPr/>
        </p:nvSpPr>
        <p:spPr bwMode="auto">
          <a:xfrm>
            <a:off x="1811050" y="2576695"/>
            <a:ext cx="720000" cy="216000"/>
          </a:xfrm>
          <a:prstGeom prst="rect">
            <a:avLst/>
          </a:prstGeom>
          <a:noFill/>
          <a:ln w="9525">
            <a:noFill/>
            <a:miter lim="800000"/>
            <a:headEnd/>
            <a:tailEnd/>
          </a:ln>
        </p:spPr>
        <p:txBody>
          <a:bodyPr rot="0" vert="horz" wrap="none" lIns="0" tIns="0" rIns="0" bIns="0" anchor="ctr"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ts val="900"/>
              </a:lnSpc>
              <a:spcAft>
                <a:spcPts val="800"/>
              </a:spcAft>
            </a:pPr>
            <a:r>
              <a:rPr lang="ja-JP" altLang="en-US" sz="1200" kern="100" dirty="0">
                <a:latin typeface="Meiryo UI" panose="020B0604030504040204" pitchFamily="50" charset="-128"/>
                <a:ea typeface="Meiryo UI" panose="020B0604030504040204" pitchFamily="50" charset="-128"/>
                <a:cs typeface="Times New Roman" panose="02020603050405020304" pitchFamily="18" charset="0"/>
              </a:rPr>
              <a:t>試験方法</a:t>
            </a:r>
            <a:endParaRPr lang="ja-JP" sz="1200" kern="100" dirty="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32" name="テキスト ボックス 2">
            <a:extLst>
              <a:ext uri="{FF2B5EF4-FFF2-40B4-BE49-F238E27FC236}">
                <a16:creationId xmlns:a16="http://schemas.microsoft.com/office/drawing/2014/main" id="{1753656C-76E4-0EA9-1FC7-EBAE526A6117}"/>
              </a:ext>
            </a:extLst>
          </p:cNvPr>
          <p:cNvSpPr txBox="1">
            <a:spLocks noChangeArrowheads="1"/>
          </p:cNvSpPr>
          <p:nvPr/>
        </p:nvSpPr>
        <p:spPr bwMode="auto">
          <a:xfrm>
            <a:off x="1811050" y="4131116"/>
            <a:ext cx="720000" cy="216000"/>
          </a:xfrm>
          <a:prstGeom prst="rect">
            <a:avLst/>
          </a:prstGeom>
          <a:noFill/>
          <a:ln w="9525">
            <a:noFill/>
            <a:miter lim="800000"/>
            <a:headEnd/>
            <a:tailEnd/>
          </a:ln>
        </p:spPr>
        <p:txBody>
          <a:bodyPr rot="0" vert="horz" wrap="none" lIns="0" tIns="0" rIns="0" bIns="0" anchor="ctr"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ts val="900"/>
              </a:lnSpc>
              <a:spcAft>
                <a:spcPts val="800"/>
              </a:spcAft>
            </a:pPr>
            <a:r>
              <a:rPr lang="en-US" altLang="ja-JP" sz="1200" kern="100" dirty="0">
                <a:latin typeface="Meiryo UI" panose="020B0604030504040204" pitchFamily="50" charset="-128"/>
                <a:ea typeface="Meiryo UI" panose="020B0604030504040204" pitchFamily="50" charset="-128"/>
                <a:cs typeface="Times New Roman" panose="02020603050405020304" pitchFamily="18" charset="0"/>
              </a:rPr>
              <a:t>ODD</a:t>
            </a:r>
            <a:r>
              <a:rPr lang="ja-JP" altLang="en-US" sz="1200" kern="100" dirty="0">
                <a:latin typeface="Meiryo UI" panose="020B0604030504040204" pitchFamily="50" charset="-128"/>
                <a:ea typeface="Meiryo UI" panose="020B0604030504040204" pitchFamily="50" charset="-128"/>
                <a:cs typeface="Times New Roman" panose="02020603050405020304" pitchFamily="18" charset="0"/>
              </a:rPr>
              <a:t>枠組み</a:t>
            </a:r>
            <a:endParaRPr lang="ja-JP" sz="1200" kern="100" dirty="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4" name="テキスト ボックス 3">
            <a:extLst>
              <a:ext uri="{FF2B5EF4-FFF2-40B4-BE49-F238E27FC236}">
                <a16:creationId xmlns:a16="http://schemas.microsoft.com/office/drawing/2014/main" id="{A55C62E1-4852-3314-7305-9571DAD90964}"/>
              </a:ext>
            </a:extLst>
          </p:cNvPr>
          <p:cNvSpPr txBox="1"/>
          <p:nvPr/>
        </p:nvSpPr>
        <p:spPr>
          <a:xfrm>
            <a:off x="8131991" y="1519183"/>
            <a:ext cx="4263155" cy="3816429"/>
          </a:xfrm>
          <a:prstGeom prst="rect">
            <a:avLst/>
          </a:prstGeom>
          <a:noFill/>
        </p:spPr>
        <p:txBody>
          <a:bodyPr wrap="square" rtlCol="0">
            <a:spAutoFit/>
          </a:bodyPr>
          <a:lstStyle/>
          <a:p>
            <a:r>
              <a:rPr kumimoji="1" lang="en-US" altLang="ja-JP" sz="1100" dirty="0">
                <a:solidFill>
                  <a:schemeClr val="bg1">
                    <a:lumMod val="75000"/>
                  </a:schemeClr>
                </a:solidFill>
                <a:latin typeface="Meiryo UI" panose="020B0604030504040204" pitchFamily="34" charset="-128"/>
              </a:rPr>
              <a:t>Section1</a:t>
            </a:r>
            <a:r>
              <a:rPr kumimoji="1" lang="ja-JP" altLang="en-US" sz="1100" dirty="0">
                <a:solidFill>
                  <a:schemeClr val="bg1">
                    <a:lumMod val="75000"/>
                  </a:schemeClr>
                </a:solidFill>
                <a:latin typeface="Meiryo UI" panose="020B0604030504040204" pitchFamily="34" charset="-128"/>
              </a:rPr>
              <a:t>　導入</a:t>
            </a:r>
            <a:endParaRPr kumimoji="1" lang="en-US" altLang="ja-JP" sz="1100" dirty="0">
              <a:solidFill>
                <a:schemeClr val="bg1">
                  <a:lumMod val="75000"/>
                </a:schemeClr>
              </a:solidFill>
              <a:latin typeface="Meiryo UI" panose="020B0604030504040204" pitchFamily="34" charset="-128"/>
            </a:endParaRPr>
          </a:p>
          <a:p>
            <a:r>
              <a:rPr kumimoji="1" lang="en-US" altLang="ja-JP" sz="1100" dirty="0">
                <a:solidFill>
                  <a:schemeClr val="bg1">
                    <a:lumMod val="75000"/>
                  </a:schemeClr>
                </a:solidFill>
                <a:latin typeface="Meiryo UI" panose="020B0604030504040204" pitchFamily="34" charset="-128"/>
              </a:rPr>
              <a:t>Section2</a:t>
            </a:r>
            <a:r>
              <a:rPr kumimoji="1" lang="ja-JP" altLang="en-US" sz="1100" dirty="0">
                <a:solidFill>
                  <a:schemeClr val="bg1">
                    <a:lumMod val="75000"/>
                  </a:schemeClr>
                </a:solidFill>
                <a:latin typeface="Meiryo UI" panose="020B0604030504040204" pitchFamily="34" charset="-128"/>
              </a:rPr>
              <a:t>　スコープと目的</a:t>
            </a:r>
            <a:endParaRPr lang="en-US" altLang="ja-JP" sz="1100" dirty="0">
              <a:solidFill>
                <a:schemeClr val="bg1">
                  <a:lumMod val="75000"/>
                </a:schemeClr>
              </a:solidFill>
              <a:latin typeface="Meiryo UI" panose="020B0604030504040204" pitchFamily="34" charset="-128"/>
            </a:endParaRPr>
          </a:p>
          <a:p>
            <a:r>
              <a:rPr kumimoji="1" lang="en-US" altLang="ja-JP" sz="1100" dirty="0">
                <a:solidFill>
                  <a:schemeClr val="bg1">
                    <a:lumMod val="75000"/>
                  </a:schemeClr>
                </a:solidFill>
                <a:latin typeface="Meiryo UI" panose="020B0604030504040204" pitchFamily="34" charset="-128"/>
              </a:rPr>
              <a:t>Section3</a:t>
            </a:r>
            <a:r>
              <a:rPr kumimoji="1" lang="ja-JP" altLang="en-US" sz="1100" dirty="0">
                <a:solidFill>
                  <a:schemeClr val="bg1">
                    <a:lumMod val="75000"/>
                  </a:schemeClr>
                </a:solidFill>
                <a:latin typeface="Meiryo UI" panose="020B0604030504040204" pitchFamily="34" charset="-128"/>
              </a:rPr>
              <a:t>　用語とその定義</a:t>
            </a:r>
            <a:endParaRPr lang="en-US" altLang="ja-JP" sz="1100" dirty="0">
              <a:solidFill>
                <a:schemeClr val="bg1">
                  <a:lumMod val="75000"/>
                </a:schemeClr>
              </a:solidFill>
              <a:latin typeface="Meiryo UI" panose="020B0604030504040204" pitchFamily="34" charset="-128"/>
            </a:endParaRPr>
          </a:p>
          <a:p>
            <a:r>
              <a:rPr kumimoji="1" lang="en-US" altLang="ja-JP" sz="1100" dirty="0">
                <a:latin typeface="Meiryo UI" panose="020B0604030504040204" pitchFamily="34" charset="-128"/>
              </a:rPr>
              <a:t>Section4</a:t>
            </a:r>
            <a:r>
              <a:rPr kumimoji="1" lang="ja-JP" altLang="en-US" sz="1100" dirty="0">
                <a:latin typeface="Meiryo UI" panose="020B0604030504040204" pitchFamily="34" charset="-128"/>
              </a:rPr>
              <a:t>　</a:t>
            </a:r>
            <a:r>
              <a:rPr kumimoji="1" lang="en" altLang="ja-JP" sz="1100" dirty="0">
                <a:latin typeface="Meiryo UI" panose="020B0604030504040204" pitchFamily="34" charset="-128"/>
              </a:rPr>
              <a:t> ADS</a:t>
            </a:r>
            <a:r>
              <a:rPr kumimoji="1" lang="ja-JP" altLang="en-US" sz="1100" dirty="0">
                <a:latin typeface="Meiryo UI" panose="020B0604030504040204" pitchFamily="34" charset="-128"/>
              </a:rPr>
              <a:t>の安全要件、評価および検証の概要</a:t>
            </a:r>
            <a:endParaRPr kumimoji="1" lang="en-US" altLang="ja-JP" sz="1100" dirty="0">
              <a:latin typeface="Meiryo UI" panose="020B0604030504040204" pitchFamily="34" charset="-128"/>
            </a:endParaRPr>
          </a:p>
          <a:p>
            <a:r>
              <a:rPr kumimoji="1" lang="en-US" altLang="ja-JP" sz="1100" dirty="0">
                <a:latin typeface="Meiryo UI" panose="020B0604030504040204" pitchFamily="34" charset="-128"/>
              </a:rPr>
              <a:t>Section5</a:t>
            </a:r>
            <a:r>
              <a:rPr kumimoji="1" lang="ja-JP" altLang="en-US" sz="1100" dirty="0">
                <a:latin typeface="Meiryo UI" panose="020B0604030504040204" pitchFamily="34" charset="-128"/>
              </a:rPr>
              <a:t>　審査、安全性</a:t>
            </a:r>
            <a:r>
              <a:rPr kumimoji="1" lang="ja-JP" altLang="en-US" sz="1100">
                <a:latin typeface="Meiryo UI" panose="020B0604030504040204" pitchFamily="34" charset="-128"/>
              </a:rPr>
              <a:t>評価、メーカの</a:t>
            </a:r>
            <a:r>
              <a:rPr kumimoji="1" lang="ja-JP" altLang="en-US" sz="1100" dirty="0">
                <a:latin typeface="Meiryo UI" panose="020B0604030504040204" pitchFamily="34" charset="-128"/>
              </a:rPr>
              <a:t>システムに関する文書</a:t>
            </a:r>
            <a:endParaRPr lang="en-US" altLang="ja-JP" sz="1100" dirty="0">
              <a:latin typeface="Meiryo UI" panose="020B0604030504040204" pitchFamily="34" charset="-128"/>
            </a:endParaRPr>
          </a:p>
          <a:p>
            <a:r>
              <a:rPr kumimoji="1" lang="en-US" altLang="ja-JP" sz="1100" dirty="0">
                <a:latin typeface="Meiryo UI" panose="020B0604030504040204" pitchFamily="34" charset="-128"/>
              </a:rPr>
              <a:t>Section6</a:t>
            </a:r>
            <a:r>
              <a:rPr kumimoji="1" lang="ja-JP" altLang="en-US" sz="1100" dirty="0">
                <a:latin typeface="Meiryo UI" panose="020B0604030504040204" pitchFamily="34" charset="-128"/>
              </a:rPr>
              <a:t>　</a:t>
            </a:r>
            <a:r>
              <a:rPr kumimoji="1" lang="en" altLang="ja-JP" sz="1100" dirty="0">
                <a:latin typeface="Meiryo UI" panose="020B0604030504040204" pitchFamily="34" charset="-128"/>
              </a:rPr>
              <a:t> </a:t>
            </a:r>
            <a:r>
              <a:rPr kumimoji="1" lang="en-US" altLang="ja-JP" sz="1100" dirty="0">
                <a:latin typeface="Meiryo UI" panose="020B0604030504040204" pitchFamily="34" charset="-128"/>
              </a:rPr>
              <a:t>ADS</a:t>
            </a:r>
            <a:r>
              <a:rPr kumimoji="1" lang="ja-JP" altLang="en-US" sz="1100" dirty="0">
                <a:latin typeface="Meiryo UI" panose="020B0604030504040204" pitchFamily="34" charset="-128"/>
              </a:rPr>
              <a:t>の動的運転タスク性能要件</a:t>
            </a:r>
            <a:endParaRPr kumimoji="1" lang="en-US" altLang="ja-JP" sz="1100" dirty="0">
              <a:latin typeface="Meiryo UI" panose="020B0604030504040204" pitchFamily="34" charset="-128"/>
            </a:endParaRPr>
          </a:p>
          <a:p>
            <a:r>
              <a:rPr kumimoji="1" lang="en-US" altLang="ja-JP" sz="1100" dirty="0">
                <a:latin typeface="Meiryo UI" panose="020B0604030504040204" pitchFamily="34" charset="-128"/>
              </a:rPr>
              <a:t>Section7</a:t>
            </a:r>
            <a:r>
              <a:rPr kumimoji="1" lang="ja-JP" altLang="en-US" sz="1100" dirty="0">
                <a:latin typeface="Meiryo UI" panose="020B0604030504040204" pitchFamily="34" charset="-128"/>
              </a:rPr>
              <a:t>　ユーザと</a:t>
            </a:r>
            <a:r>
              <a:rPr kumimoji="1" lang="en" altLang="ja-JP" sz="1100" dirty="0">
                <a:latin typeface="Meiryo UI" panose="020B0604030504040204" pitchFamily="34" charset="-128"/>
              </a:rPr>
              <a:t>ADS</a:t>
            </a:r>
            <a:r>
              <a:rPr kumimoji="1" lang="ja-JP" altLang="en-US" sz="1100" dirty="0">
                <a:latin typeface="Meiryo UI" panose="020B0604030504040204" pitchFamily="34" charset="-128"/>
              </a:rPr>
              <a:t>の安全なインタラクションの要件</a:t>
            </a:r>
            <a:endParaRPr lang="en-US" altLang="ja-JP" sz="1100" dirty="0">
              <a:latin typeface="Meiryo UI" panose="020B0604030504040204" pitchFamily="34" charset="-128"/>
            </a:endParaRPr>
          </a:p>
          <a:p>
            <a:r>
              <a:rPr kumimoji="1" lang="en-US" altLang="ja-JP" sz="1100" dirty="0">
                <a:latin typeface="Meiryo UI" panose="020B0604030504040204" pitchFamily="34" charset="-128"/>
              </a:rPr>
              <a:t>Section8</a:t>
            </a:r>
            <a:r>
              <a:rPr kumimoji="1" lang="ja-JP" altLang="en-US" sz="1100" dirty="0">
                <a:latin typeface="Meiryo UI" panose="020B0604030504040204" pitchFamily="34" charset="-128"/>
              </a:rPr>
              <a:t>　使用中の監視と報告</a:t>
            </a:r>
            <a:endParaRPr kumimoji="1" lang="en-US" altLang="ja-JP" sz="1100" dirty="0">
              <a:latin typeface="Meiryo UI" panose="020B0604030504040204" pitchFamily="34" charset="-128"/>
            </a:endParaRPr>
          </a:p>
          <a:p>
            <a:endParaRPr lang="en-US" altLang="ja-JP" sz="1100" dirty="0">
              <a:latin typeface="Meiryo UI" panose="020B0604030504040204" pitchFamily="34" charset="-128"/>
            </a:endParaRPr>
          </a:p>
          <a:p>
            <a:endParaRPr lang="en-US" altLang="ja-JP" sz="1100" dirty="0">
              <a:latin typeface="Meiryo UI" panose="020B0604030504040204" pitchFamily="34" charset="-128"/>
            </a:endParaRPr>
          </a:p>
          <a:p>
            <a:r>
              <a:rPr lang="en-US" altLang="ja-JP" sz="1100" dirty="0">
                <a:latin typeface="Meiryo UI" panose="020B0604030504040204" pitchFamily="34" charset="-128"/>
              </a:rPr>
              <a:t>Annex1</a:t>
            </a:r>
            <a:r>
              <a:rPr lang="ja-JP" altLang="en-US" sz="1100">
                <a:latin typeface="Meiryo UI" panose="020B0604030504040204" pitchFamily="34" charset="-128"/>
              </a:rPr>
              <a:t>　</a:t>
            </a:r>
            <a:r>
              <a:rPr lang="en" altLang="ja-JP" sz="1100" dirty="0">
                <a:latin typeface="Meiryo UI" panose="020B0604030504040204" pitchFamily="34" charset="-128"/>
              </a:rPr>
              <a:t> ADS</a:t>
            </a:r>
            <a:r>
              <a:rPr lang="ja-JP" altLang="en-US" sz="1100">
                <a:latin typeface="Meiryo UI" panose="020B0604030504040204" pitchFamily="34" charset="-128"/>
              </a:rPr>
              <a:t>安全要件の作成の背景</a:t>
            </a:r>
            <a:endParaRPr lang="en-US" altLang="ja-JP" sz="1100" dirty="0">
              <a:latin typeface="Meiryo UI" panose="020B0604030504040204" pitchFamily="34" charset="-128"/>
            </a:endParaRPr>
          </a:p>
          <a:p>
            <a:r>
              <a:rPr lang="en-US" altLang="ja-JP" sz="1100" dirty="0">
                <a:latin typeface="Meiryo UI" panose="020B0604030504040204" pitchFamily="34" charset="-128"/>
              </a:rPr>
              <a:t>Annex2</a:t>
            </a:r>
            <a:r>
              <a:rPr lang="ja-JP" altLang="en-US" sz="1100">
                <a:latin typeface="Meiryo UI" panose="020B0604030504040204" pitchFamily="34" charset="-128"/>
              </a:rPr>
              <a:t>　適切な検証ピラーへの</a:t>
            </a:r>
            <a:r>
              <a:rPr lang="en" altLang="ja-JP" sz="1100" dirty="0">
                <a:latin typeface="Meiryo UI" panose="020B0604030504040204" pitchFamily="34" charset="-128"/>
              </a:rPr>
              <a:t>DDT </a:t>
            </a:r>
            <a:r>
              <a:rPr lang="ja-JP" altLang="en-US" sz="1100">
                <a:latin typeface="Meiryo UI" panose="020B0604030504040204" pitchFamily="34" charset="-128"/>
              </a:rPr>
              <a:t>とユーザ要件の基準</a:t>
            </a:r>
            <a:endParaRPr lang="en-US" altLang="ja-JP" sz="1100" dirty="0">
              <a:latin typeface="Meiryo UI" panose="020B0604030504040204" pitchFamily="34" charset="-128"/>
            </a:endParaRPr>
          </a:p>
          <a:p>
            <a:r>
              <a:rPr lang="en-US" altLang="ja-JP" sz="1100" dirty="0">
                <a:latin typeface="Meiryo UI" panose="020B0604030504040204" pitchFamily="34" charset="-128"/>
              </a:rPr>
              <a:t>Annex3</a:t>
            </a:r>
            <a:r>
              <a:rPr lang="ja-JP" altLang="en-US" sz="1100">
                <a:latin typeface="Meiryo UI" panose="020B0604030504040204" pitchFamily="34" charset="-128"/>
              </a:rPr>
              <a:t>　検証可能な性能基準を導くアプローチ</a:t>
            </a:r>
            <a:endParaRPr lang="en-US" altLang="ja-JP" sz="1100" dirty="0">
              <a:latin typeface="Meiryo UI" panose="020B0604030504040204" pitchFamily="34" charset="-128"/>
            </a:endParaRPr>
          </a:p>
          <a:p>
            <a:r>
              <a:rPr lang="en-US" altLang="ja-JP" sz="1100" dirty="0">
                <a:latin typeface="Meiryo UI" panose="020B0604030504040204" pitchFamily="34" charset="-128"/>
              </a:rPr>
              <a:t>Annex4</a:t>
            </a:r>
            <a:r>
              <a:rPr lang="ja-JP" altLang="en-US" sz="1100">
                <a:latin typeface="Meiryo UI" panose="020B0604030504040204" pitchFamily="34" charset="-128"/>
              </a:rPr>
              <a:t>　交通シナリオ</a:t>
            </a:r>
            <a:endParaRPr lang="en-US" altLang="ja-JP" sz="1100" dirty="0">
              <a:latin typeface="Meiryo UI" panose="020B0604030504040204" pitchFamily="34" charset="-128"/>
            </a:endParaRPr>
          </a:p>
          <a:p>
            <a:r>
              <a:rPr lang="en-US" altLang="ja-JP" sz="1100" dirty="0">
                <a:latin typeface="Meiryo UI" panose="020B0604030504040204" pitchFamily="34" charset="-128"/>
              </a:rPr>
              <a:t>Annex5</a:t>
            </a:r>
            <a:r>
              <a:rPr lang="ja-JP" altLang="en-US" sz="1100">
                <a:latin typeface="Meiryo UI" panose="020B0604030504040204" pitchFamily="34" charset="-128"/>
              </a:rPr>
              <a:t>　シュミレーションと信頼性評価</a:t>
            </a:r>
            <a:endParaRPr lang="en-US" altLang="ja-JP" sz="1100" dirty="0">
              <a:latin typeface="Meiryo UI" panose="020B0604030504040204" pitchFamily="34" charset="-128"/>
            </a:endParaRPr>
          </a:p>
          <a:p>
            <a:r>
              <a:rPr lang="en-US" altLang="ja-JP" sz="1100" dirty="0">
                <a:latin typeface="Meiryo UI" panose="020B0604030504040204" pitchFamily="34" charset="-128"/>
              </a:rPr>
              <a:t>Annex6</a:t>
            </a:r>
            <a:r>
              <a:rPr lang="ja-JP" altLang="en-US" sz="1100">
                <a:latin typeface="Meiryo UI" panose="020B0604030504040204" pitchFamily="34" charset="-128"/>
              </a:rPr>
              <a:t>　トラック試験と実世界での試験</a:t>
            </a:r>
            <a:endParaRPr lang="en-US" altLang="ja-JP" sz="1100" dirty="0">
              <a:latin typeface="Meiryo UI" panose="020B0604030504040204" pitchFamily="34" charset="-128"/>
            </a:endParaRPr>
          </a:p>
          <a:p>
            <a:r>
              <a:rPr lang="en-US" altLang="ja-JP" sz="1100" dirty="0">
                <a:latin typeface="Meiryo UI" panose="020B0604030504040204" pitchFamily="34" charset="-128"/>
              </a:rPr>
              <a:t>Annex7</a:t>
            </a:r>
            <a:r>
              <a:rPr lang="ja-JP" altLang="en-US" sz="1100">
                <a:latin typeface="Meiryo UI" panose="020B0604030504040204" pitchFamily="34" charset="-128"/>
              </a:rPr>
              <a:t>　</a:t>
            </a:r>
            <a:r>
              <a:rPr lang="en" altLang="ja-JP" sz="1100" dirty="0">
                <a:latin typeface="Meiryo UI" panose="020B0604030504040204" pitchFamily="34" charset="-128"/>
              </a:rPr>
              <a:t> ISMR</a:t>
            </a:r>
            <a:r>
              <a:rPr lang="ja-JP" altLang="en-US" sz="1100">
                <a:latin typeface="Meiryo UI" panose="020B0604030504040204" pitchFamily="34" charset="-128"/>
              </a:rPr>
              <a:t>と安全要件のマトリクス</a:t>
            </a:r>
            <a:endParaRPr lang="en-US" altLang="ja-JP" sz="1100" dirty="0">
              <a:latin typeface="Meiryo UI" panose="020B0604030504040204" pitchFamily="34" charset="-128"/>
            </a:endParaRPr>
          </a:p>
          <a:p>
            <a:r>
              <a:rPr lang="en-US" altLang="ja-JP" sz="1100" dirty="0">
                <a:latin typeface="Meiryo UI" panose="020B0604030504040204" pitchFamily="34" charset="-128"/>
              </a:rPr>
              <a:t>Annex8</a:t>
            </a:r>
            <a:r>
              <a:rPr lang="ja-JP" altLang="en-US" sz="1100">
                <a:latin typeface="Meiryo UI" panose="020B0604030504040204" pitchFamily="34" charset="-128"/>
              </a:rPr>
              <a:t>　</a:t>
            </a:r>
            <a:r>
              <a:rPr lang="en" altLang="ja-JP" sz="1100" dirty="0">
                <a:latin typeface="Meiryo UI" panose="020B0604030504040204" pitchFamily="34" charset="-128"/>
              </a:rPr>
              <a:t> ISMR</a:t>
            </a:r>
            <a:r>
              <a:rPr lang="ja-JP" altLang="en-US" sz="1100">
                <a:latin typeface="Meiryo UI" panose="020B0604030504040204" pitchFamily="34" charset="-128"/>
              </a:rPr>
              <a:t>報告テンプレート</a:t>
            </a:r>
            <a:endParaRPr lang="en-US" altLang="ja-JP" sz="1100" dirty="0">
              <a:latin typeface="Meiryo UI" panose="020B0604030504040204" pitchFamily="34" charset="-128"/>
            </a:endParaRPr>
          </a:p>
          <a:p>
            <a:r>
              <a:rPr lang="en-US" altLang="ja-JP" sz="1100" dirty="0">
                <a:latin typeface="Meiryo UI" panose="020B0604030504040204" pitchFamily="34" charset="-128"/>
              </a:rPr>
              <a:t>Annex9</a:t>
            </a:r>
            <a:r>
              <a:rPr lang="ja-JP" altLang="en-US" sz="1100">
                <a:latin typeface="Meiryo UI" panose="020B0604030504040204" pitchFamily="34" charset="-128"/>
              </a:rPr>
              <a:t>　使用中の監視を効果的に実施するための推奨事項</a:t>
            </a:r>
            <a:endParaRPr lang="en-US" altLang="ja-JP" sz="1100" dirty="0">
              <a:latin typeface="Meiryo UI" panose="020B0604030504040204" pitchFamily="34" charset="-128"/>
            </a:endParaRPr>
          </a:p>
          <a:p>
            <a:r>
              <a:rPr lang="en-US" altLang="ja-JP" sz="1100" dirty="0">
                <a:latin typeface="Meiryo UI" panose="020B0604030504040204" pitchFamily="34" charset="-128"/>
              </a:rPr>
              <a:t>Annex10</a:t>
            </a:r>
            <a:r>
              <a:rPr lang="ja-JP" altLang="en-US" sz="1100">
                <a:latin typeface="Meiryo UI" panose="020B0604030504040204" pitchFamily="34" charset="-128"/>
              </a:rPr>
              <a:t>　今後の活動におけるさらなる議論</a:t>
            </a:r>
            <a:endParaRPr lang="en-US" altLang="ja-JP" sz="1100" dirty="0">
              <a:latin typeface="Meiryo UI" panose="020B0604030504040204" pitchFamily="34" charset="-128"/>
            </a:endParaRPr>
          </a:p>
          <a:p>
            <a:endParaRPr lang="en-US" altLang="ja-JP" sz="1100" dirty="0">
              <a:latin typeface="Meiryo UI" panose="020B0604030504040204" pitchFamily="34" charset="-128"/>
            </a:endParaRPr>
          </a:p>
          <a:p>
            <a:r>
              <a:rPr lang="ja-JP" altLang="en-US" sz="1100" dirty="0">
                <a:latin typeface="Meiryo UI" panose="020B0604030504040204" pitchFamily="34" charset="-128"/>
              </a:rPr>
              <a:t>⇐各</a:t>
            </a:r>
            <a:r>
              <a:rPr lang="en-US" altLang="ja-JP" sz="1100" dirty="0">
                <a:latin typeface="Meiryo UI" panose="020B0604030504040204" pitchFamily="34" charset="-128"/>
              </a:rPr>
              <a:t>Section</a:t>
            </a:r>
            <a:r>
              <a:rPr lang="ja-JP" altLang="en-US" sz="1100" dirty="0">
                <a:latin typeface="Meiryo UI" panose="020B0604030504040204" pitchFamily="34" charset="-128"/>
              </a:rPr>
              <a:t>の中で</a:t>
            </a:r>
            <a:r>
              <a:rPr lang="en-US" altLang="ja-JP" sz="1100" dirty="0">
                <a:latin typeface="Meiryo UI" panose="020B0604030504040204" pitchFamily="34" charset="-128"/>
              </a:rPr>
              <a:t>Annex</a:t>
            </a:r>
            <a:r>
              <a:rPr lang="ja-JP" altLang="en-US" sz="1100" dirty="0">
                <a:latin typeface="Meiryo UI" panose="020B0604030504040204" pitchFamily="34" charset="-128"/>
              </a:rPr>
              <a:t>や</a:t>
            </a:r>
            <a:r>
              <a:rPr lang="en-US" altLang="ja-JP" sz="1100" dirty="0">
                <a:latin typeface="Meiryo UI" panose="020B0604030504040204" pitchFamily="34" charset="-128"/>
              </a:rPr>
              <a:t>ISO</a:t>
            </a:r>
            <a:r>
              <a:rPr lang="ja-JP" altLang="en-US" sz="1100" dirty="0">
                <a:latin typeface="Meiryo UI" panose="020B0604030504040204" pitchFamily="34" charset="-128"/>
              </a:rPr>
              <a:t>が参照される</a:t>
            </a:r>
            <a:endParaRPr lang="en-US" altLang="ja-JP" sz="1100" dirty="0">
              <a:latin typeface="Meiryo UI" panose="020B0604030504040204" pitchFamily="34" charset="-128"/>
            </a:endParaRPr>
          </a:p>
        </p:txBody>
      </p:sp>
      <p:sp>
        <p:nvSpPr>
          <p:cNvPr id="6" name="正方形/長方形 5">
            <a:extLst>
              <a:ext uri="{FF2B5EF4-FFF2-40B4-BE49-F238E27FC236}">
                <a16:creationId xmlns:a16="http://schemas.microsoft.com/office/drawing/2014/main" id="{F509B5D2-3C8F-19B5-CA38-C9E15F1E4AF6}"/>
              </a:ext>
            </a:extLst>
          </p:cNvPr>
          <p:cNvSpPr/>
          <p:nvPr/>
        </p:nvSpPr>
        <p:spPr>
          <a:xfrm>
            <a:off x="6943420" y="2086177"/>
            <a:ext cx="966546" cy="295200"/>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ja-JP" sz="1200" dirty="0">
                <a:highlight>
                  <a:srgbClr val="0000FF"/>
                </a:highlight>
                <a:latin typeface="Meiryo UI" panose="020B0604030504040204" pitchFamily="34" charset="-128"/>
              </a:rPr>
              <a:t>Section8</a:t>
            </a:r>
            <a:endParaRPr lang="en-US" altLang="ja-JP" sz="1200" dirty="0">
              <a:highlight>
                <a:srgbClr val="008000"/>
              </a:highlight>
              <a:latin typeface="Meiryo UI" panose="020B0604030504040204" pitchFamily="34" charset="-128"/>
            </a:endParaRPr>
          </a:p>
        </p:txBody>
      </p:sp>
      <p:sp>
        <p:nvSpPr>
          <p:cNvPr id="10" name="正方形/長方形 9">
            <a:extLst>
              <a:ext uri="{FF2B5EF4-FFF2-40B4-BE49-F238E27FC236}">
                <a16:creationId xmlns:a16="http://schemas.microsoft.com/office/drawing/2014/main" id="{5AF71AD2-037E-2CE4-D52C-4D139B3F3F5F}"/>
              </a:ext>
            </a:extLst>
          </p:cNvPr>
          <p:cNvSpPr/>
          <p:nvPr/>
        </p:nvSpPr>
        <p:spPr>
          <a:xfrm>
            <a:off x="2963681" y="1899711"/>
            <a:ext cx="825701" cy="331165"/>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1200" dirty="0">
                <a:highlight>
                  <a:srgbClr val="0000FF"/>
                </a:highlight>
                <a:latin typeface="Meiryo UI" panose="020B0604030504040204" pitchFamily="34" charset="-128"/>
              </a:rPr>
              <a:t>Section5</a:t>
            </a:r>
          </a:p>
        </p:txBody>
      </p:sp>
      <p:sp>
        <p:nvSpPr>
          <p:cNvPr id="20" name="正方形/長方形 19">
            <a:extLst>
              <a:ext uri="{FF2B5EF4-FFF2-40B4-BE49-F238E27FC236}">
                <a16:creationId xmlns:a16="http://schemas.microsoft.com/office/drawing/2014/main" id="{DD64F952-4B1A-1D28-A117-4A940FF8D091}"/>
              </a:ext>
            </a:extLst>
          </p:cNvPr>
          <p:cNvSpPr/>
          <p:nvPr/>
        </p:nvSpPr>
        <p:spPr>
          <a:xfrm>
            <a:off x="3331426" y="3498298"/>
            <a:ext cx="1767291" cy="321563"/>
          </a:xfrm>
          <a:prstGeom prst="rect">
            <a:avLst/>
          </a:prstGeom>
          <a:solidFill>
            <a:schemeClr val="accent5"/>
          </a:solidFill>
          <a:ln>
            <a:noFill/>
          </a:ln>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r>
              <a:rPr lang="ja-JP" altLang="en-US" sz="1200" kern="10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実世界での試験</a:t>
            </a:r>
            <a:endParaRPr lang="ja-JP" altLang="ja-JP" sz="1200" kern="10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23" name="正方形/長方形 22">
            <a:extLst>
              <a:ext uri="{FF2B5EF4-FFF2-40B4-BE49-F238E27FC236}">
                <a16:creationId xmlns:a16="http://schemas.microsoft.com/office/drawing/2014/main" id="{AAF99D76-D159-7764-7BE1-1323944D8465}"/>
              </a:ext>
            </a:extLst>
          </p:cNvPr>
          <p:cNvSpPr/>
          <p:nvPr/>
        </p:nvSpPr>
        <p:spPr>
          <a:xfrm>
            <a:off x="257273" y="2167710"/>
            <a:ext cx="979601" cy="494710"/>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1200" dirty="0">
                <a:highlight>
                  <a:srgbClr val="0000FF"/>
                </a:highlight>
                <a:latin typeface="Meiryo UI" panose="020B0604030504040204" pitchFamily="34" charset="-128"/>
              </a:rPr>
              <a:t>Section6</a:t>
            </a:r>
          </a:p>
          <a:p>
            <a:pPr algn="ctr"/>
            <a:r>
              <a:rPr lang="en-US" altLang="ja-JP" sz="1200" dirty="0">
                <a:highlight>
                  <a:srgbClr val="0000FF"/>
                </a:highlight>
                <a:latin typeface="Meiryo UI" panose="020B0604030504040204" pitchFamily="34" charset="-128"/>
              </a:rPr>
              <a:t>Section7</a:t>
            </a:r>
          </a:p>
        </p:txBody>
      </p:sp>
      <p:sp>
        <p:nvSpPr>
          <p:cNvPr id="25" name="フリーフォーム 20">
            <a:extLst>
              <a:ext uri="{FF2B5EF4-FFF2-40B4-BE49-F238E27FC236}">
                <a16:creationId xmlns:a16="http://schemas.microsoft.com/office/drawing/2014/main" id="{E04C62C3-EB76-FC0E-8230-24F8FBFBCE59}"/>
              </a:ext>
            </a:extLst>
          </p:cNvPr>
          <p:cNvSpPr/>
          <p:nvPr/>
        </p:nvSpPr>
        <p:spPr>
          <a:xfrm>
            <a:off x="1750391" y="1912120"/>
            <a:ext cx="5238898" cy="2832562"/>
          </a:xfrm>
          <a:custGeom>
            <a:avLst/>
            <a:gdLst>
              <a:gd name="connsiteX0" fmla="*/ 4060242 w 5600968"/>
              <a:gd name="connsiteY0" fmla="*/ 0 h 2832562"/>
              <a:gd name="connsiteX1" fmla="*/ 5600968 w 5600968"/>
              <a:gd name="connsiteY1" fmla="*/ 0 h 2832562"/>
              <a:gd name="connsiteX2" fmla="*/ 5600968 w 5600968"/>
              <a:gd name="connsiteY2" fmla="*/ 2832562 h 2832562"/>
              <a:gd name="connsiteX3" fmla="*/ 4060242 w 5600968"/>
              <a:gd name="connsiteY3" fmla="*/ 2832562 h 2832562"/>
              <a:gd name="connsiteX4" fmla="*/ 4060242 w 5600968"/>
              <a:gd name="connsiteY4" fmla="*/ 577736 h 2832562"/>
              <a:gd name="connsiteX5" fmla="*/ 0 w 5600968"/>
              <a:gd name="connsiteY5" fmla="*/ 577736 h 2832562"/>
              <a:gd name="connsiteX6" fmla="*/ 0 w 5600968"/>
              <a:gd name="connsiteY6" fmla="*/ 7366 h 2832562"/>
              <a:gd name="connsiteX7" fmla="*/ 4060242 w 5600968"/>
              <a:gd name="connsiteY7" fmla="*/ 7366 h 283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00968" h="2832562">
                <a:moveTo>
                  <a:pt x="4060242" y="0"/>
                </a:moveTo>
                <a:lnTo>
                  <a:pt x="5600968" y="0"/>
                </a:lnTo>
                <a:lnTo>
                  <a:pt x="5600968" y="2832562"/>
                </a:lnTo>
                <a:lnTo>
                  <a:pt x="4060242" y="2832562"/>
                </a:lnTo>
                <a:lnTo>
                  <a:pt x="4060242" y="577736"/>
                </a:lnTo>
                <a:lnTo>
                  <a:pt x="0" y="577736"/>
                </a:lnTo>
                <a:lnTo>
                  <a:pt x="0" y="7366"/>
                </a:lnTo>
                <a:lnTo>
                  <a:pt x="4060242" y="7366"/>
                </a:lnTo>
                <a:close/>
              </a:path>
            </a:pathLst>
          </a:custGeom>
          <a:noFill/>
          <a:ln>
            <a:solidFill>
              <a:srgbClr val="0000FF"/>
            </a:solidFill>
            <a:prstDash val="solid"/>
          </a:ln>
        </p:spPr>
        <p:style>
          <a:lnRef idx="2">
            <a:schemeClr val="accent1"/>
          </a:lnRef>
          <a:fillRef idx="1">
            <a:schemeClr val="lt1"/>
          </a:fillRef>
          <a:effectRef idx="0">
            <a:schemeClr val="accent1"/>
          </a:effectRef>
          <a:fontRef idx="minor">
            <a:schemeClr val="dk1"/>
          </a:fontRef>
        </p:style>
        <p:txBody>
          <a:bodyPr wrap="square" rtlCol="0" anchor="ctr">
            <a:noAutofit/>
          </a:bodyPr>
          <a:lstStyle/>
          <a:p>
            <a:pPr algn="ctr">
              <a:lnSpc>
                <a:spcPts val="900"/>
              </a:lnSpc>
              <a:spcAft>
                <a:spcPts val="800"/>
              </a:spcAft>
            </a:pPr>
            <a:endParaRPr lang="ja-JP" altLang="ja-JP" sz="1200" kern="10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26" name="正方形/長方形 25">
            <a:extLst>
              <a:ext uri="{FF2B5EF4-FFF2-40B4-BE49-F238E27FC236}">
                <a16:creationId xmlns:a16="http://schemas.microsoft.com/office/drawing/2014/main" id="{7F5D333F-A96F-47DB-EDA7-F27219F830DA}"/>
              </a:ext>
            </a:extLst>
          </p:cNvPr>
          <p:cNvSpPr/>
          <p:nvPr/>
        </p:nvSpPr>
        <p:spPr>
          <a:xfrm>
            <a:off x="5739466" y="1978750"/>
            <a:ext cx="825701" cy="331165"/>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1200" dirty="0">
                <a:highlight>
                  <a:srgbClr val="0000FF"/>
                </a:highlight>
                <a:latin typeface="Meiryo UI" panose="020B0604030504040204" pitchFamily="34" charset="-128"/>
              </a:rPr>
              <a:t>Section5</a:t>
            </a:r>
          </a:p>
        </p:txBody>
      </p:sp>
      <p:sp>
        <p:nvSpPr>
          <p:cNvPr id="9" name="正方形/長方形 8">
            <a:extLst>
              <a:ext uri="{FF2B5EF4-FFF2-40B4-BE49-F238E27FC236}">
                <a16:creationId xmlns:a16="http://schemas.microsoft.com/office/drawing/2014/main" id="{D1A3E52D-7E3A-2735-AB30-D2CE2050A492}"/>
              </a:ext>
            </a:extLst>
          </p:cNvPr>
          <p:cNvSpPr/>
          <p:nvPr/>
        </p:nvSpPr>
        <p:spPr>
          <a:xfrm>
            <a:off x="1682635" y="2696125"/>
            <a:ext cx="1165317" cy="331165"/>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1200" dirty="0">
                <a:highlight>
                  <a:srgbClr val="0000FF"/>
                </a:highlight>
                <a:latin typeface="Meiryo UI" panose="020B0604030504040204" pitchFamily="34" charset="-128"/>
              </a:rPr>
              <a:t>Section4.2.</a:t>
            </a:r>
            <a:r>
              <a:rPr lang="en-US" altLang="ja-JP" sz="1200" dirty="0">
                <a:highlight>
                  <a:srgbClr val="0000FF"/>
                </a:highlight>
                <a:latin typeface="Meiryo UI" panose="020B0604030504040204" pitchFamily="34" charset="-128"/>
              </a:rPr>
              <a:t>2</a:t>
            </a:r>
            <a:endParaRPr kumimoji="1" lang="en-US" altLang="ja-JP" sz="1200" dirty="0">
              <a:highlight>
                <a:srgbClr val="0000FF"/>
              </a:highlight>
              <a:latin typeface="Meiryo UI" panose="020B0604030504040204" pitchFamily="34" charset="-128"/>
            </a:endParaRPr>
          </a:p>
        </p:txBody>
      </p:sp>
      <p:sp>
        <p:nvSpPr>
          <p:cNvPr id="11" name="正方形/長方形 10">
            <a:extLst>
              <a:ext uri="{FF2B5EF4-FFF2-40B4-BE49-F238E27FC236}">
                <a16:creationId xmlns:a16="http://schemas.microsoft.com/office/drawing/2014/main" id="{1B7599A1-EE9B-1C26-C365-E9E9B96DDD47}"/>
              </a:ext>
            </a:extLst>
          </p:cNvPr>
          <p:cNvSpPr/>
          <p:nvPr/>
        </p:nvSpPr>
        <p:spPr>
          <a:xfrm>
            <a:off x="1750391" y="4094835"/>
            <a:ext cx="3455737" cy="1009453"/>
          </a:xfrm>
          <a:prstGeom prst="rect">
            <a:avLst/>
          </a:prstGeom>
          <a:noFill/>
          <a:ln>
            <a:solidFill>
              <a:schemeClr val="tx1"/>
            </a:solidFill>
            <a:prstDash val="solid"/>
          </a:ln>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endParaRPr lang="ja-JP" altLang="ja-JP" sz="1200" kern="10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5" name="正方形/長方形 4">
            <a:extLst>
              <a:ext uri="{FF2B5EF4-FFF2-40B4-BE49-F238E27FC236}">
                <a16:creationId xmlns:a16="http://schemas.microsoft.com/office/drawing/2014/main" id="{806A59A7-9AC4-77FD-4F17-A93D0C3F2B81}"/>
              </a:ext>
            </a:extLst>
          </p:cNvPr>
          <p:cNvSpPr/>
          <p:nvPr/>
        </p:nvSpPr>
        <p:spPr>
          <a:xfrm>
            <a:off x="219162" y="4036128"/>
            <a:ext cx="1142444" cy="331165"/>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1200" dirty="0">
                <a:highlight>
                  <a:srgbClr val="0000FF"/>
                </a:highlight>
                <a:latin typeface="Meiryo UI" panose="020B0604030504040204" pitchFamily="34" charset="-128"/>
              </a:rPr>
              <a:t>Section4.2.3</a:t>
            </a:r>
          </a:p>
        </p:txBody>
      </p:sp>
      <p:sp>
        <p:nvSpPr>
          <p:cNvPr id="12" name="正方形/長方形 11">
            <a:extLst>
              <a:ext uri="{FF2B5EF4-FFF2-40B4-BE49-F238E27FC236}">
                <a16:creationId xmlns:a16="http://schemas.microsoft.com/office/drawing/2014/main" id="{ED14A405-19A2-BE25-D0D7-508D22970FF8}"/>
              </a:ext>
            </a:extLst>
          </p:cNvPr>
          <p:cNvSpPr/>
          <p:nvPr/>
        </p:nvSpPr>
        <p:spPr>
          <a:xfrm>
            <a:off x="1681985" y="2068394"/>
            <a:ext cx="1165967" cy="331165"/>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1200" dirty="0">
                <a:highlight>
                  <a:srgbClr val="0000FF"/>
                </a:highlight>
                <a:latin typeface="Meiryo UI" panose="020B0604030504040204" pitchFamily="34" charset="-128"/>
              </a:rPr>
              <a:t>Section4.2.1</a:t>
            </a:r>
          </a:p>
        </p:txBody>
      </p:sp>
      <p:sp>
        <p:nvSpPr>
          <p:cNvPr id="2" name="正方形/長方形 1">
            <a:extLst>
              <a:ext uri="{FF2B5EF4-FFF2-40B4-BE49-F238E27FC236}">
                <a16:creationId xmlns:a16="http://schemas.microsoft.com/office/drawing/2014/main" id="{D9BC16FA-2476-AE45-F509-31D026D43AA7}"/>
              </a:ext>
            </a:extLst>
          </p:cNvPr>
          <p:cNvSpPr/>
          <p:nvPr/>
        </p:nvSpPr>
        <p:spPr>
          <a:xfrm>
            <a:off x="319404" y="4093708"/>
            <a:ext cx="4899498" cy="1009453"/>
          </a:xfrm>
          <a:prstGeom prst="rect">
            <a:avLst/>
          </a:prstGeom>
          <a:noFill/>
          <a:ln>
            <a:solidFill>
              <a:srgbClr val="0000FF"/>
            </a:solidFill>
            <a:prstDash val="solid"/>
          </a:ln>
        </p:spPr>
        <p:style>
          <a:lnRef idx="2">
            <a:schemeClr val="accent1"/>
          </a:lnRef>
          <a:fillRef idx="1">
            <a:schemeClr val="lt1"/>
          </a:fillRef>
          <a:effectRef idx="0">
            <a:schemeClr val="accent1"/>
          </a:effectRef>
          <a:fontRef idx="minor">
            <a:schemeClr val="dk1"/>
          </a:fontRef>
        </p:style>
        <p:txBody>
          <a:bodyPr wrap="none" rtlCol="0" anchor="ctr"/>
          <a:lstStyle/>
          <a:p>
            <a:pPr algn="ctr">
              <a:lnSpc>
                <a:spcPts val="900"/>
              </a:lnSpc>
              <a:spcAft>
                <a:spcPts val="800"/>
              </a:spcAft>
            </a:pPr>
            <a:endParaRPr lang="ja-JP" altLang="ja-JP" sz="1200" kern="10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13" name="正方形/長方形 12">
            <a:extLst>
              <a:ext uri="{FF2B5EF4-FFF2-40B4-BE49-F238E27FC236}">
                <a16:creationId xmlns:a16="http://schemas.microsoft.com/office/drawing/2014/main" id="{7A59A16D-7D53-6FB0-60D7-C2E55AA95FF4}"/>
              </a:ext>
            </a:extLst>
          </p:cNvPr>
          <p:cNvSpPr/>
          <p:nvPr/>
        </p:nvSpPr>
        <p:spPr>
          <a:xfrm>
            <a:off x="302807" y="2577301"/>
            <a:ext cx="886794" cy="224554"/>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1100" dirty="0">
                <a:highlight>
                  <a:srgbClr val="008000"/>
                </a:highlight>
                <a:latin typeface="Meiryo UI" panose="020B0604030504040204" pitchFamily="34" charset="-128"/>
              </a:rPr>
              <a:t>Annex1</a:t>
            </a:r>
            <a:endParaRPr kumimoji="1" lang="ja-JP" altLang="en-US" sz="1100" dirty="0">
              <a:highlight>
                <a:srgbClr val="008000"/>
              </a:highlight>
              <a:latin typeface="Meiryo UI" panose="020B0604030504040204" pitchFamily="34" charset="-128"/>
            </a:endParaRPr>
          </a:p>
        </p:txBody>
      </p:sp>
      <p:sp>
        <p:nvSpPr>
          <p:cNvPr id="14" name="正方形/長方形 13">
            <a:extLst>
              <a:ext uri="{FF2B5EF4-FFF2-40B4-BE49-F238E27FC236}">
                <a16:creationId xmlns:a16="http://schemas.microsoft.com/office/drawing/2014/main" id="{F9633C9E-5D3D-3949-4184-4AF634479107}"/>
              </a:ext>
            </a:extLst>
          </p:cNvPr>
          <p:cNvSpPr/>
          <p:nvPr/>
        </p:nvSpPr>
        <p:spPr>
          <a:xfrm>
            <a:off x="173852" y="4240394"/>
            <a:ext cx="825701" cy="295200"/>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1100" dirty="0">
                <a:highlight>
                  <a:srgbClr val="008000"/>
                </a:highlight>
                <a:latin typeface="Meiryo UI" panose="020B0604030504040204" pitchFamily="34" charset="-128"/>
              </a:rPr>
              <a:t>Annex3</a:t>
            </a:r>
            <a:endParaRPr kumimoji="1" lang="ja-JP" altLang="en-US" sz="1100" dirty="0">
              <a:highlight>
                <a:srgbClr val="008000"/>
              </a:highlight>
              <a:latin typeface="Meiryo UI" panose="020B0604030504040204" pitchFamily="34" charset="-128"/>
            </a:endParaRPr>
          </a:p>
        </p:txBody>
      </p:sp>
      <p:sp>
        <p:nvSpPr>
          <p:cNvPr id="16" name="正方形/長方形 15">
            <a:extLst>
              <a:ext uri="{FF2B5EF4-FFF2-40B4-BE49-F238E27FC236}">
                <a16:creationId xmlns:a16="http://schemas.microsoft.com/office/drawing/2014/main" id="{5D8A6B83-560B-E28A-70B8-C7A8CC8BBF1C}"/>
              </a:ext>
            </a:extLst>
          </p:cNvPr>
          <p:cNvSpPr/>
          <p:nvPr/>
        </p:nvSpPr>
        <p:spPr>
          <a:xfrm>
            <a:off x="3806481" y="4234573"/>
            <a:ext cx="968339" cy="295200"/>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1100" dirty="0">
                <a:highlight>
                  <a:srgbClr val="008000"/>
                </a:highlight>
                <a:latin typeface="Meiryo UI" panose="020B0604030504040204" pitchFamily="34" charset="-128"/>
              </a:rPr>
              <a:t>Annex4</a:t>
            </a:r>
            <a:endParaRPr kumimoji="1" lang="ja-JP" altLang="en-US" sz="1100" dirty="0">
              <a:highlight>
                <a:srgbClr val="008000"/>
              </a:highlight>
              <a:latin typeface="Meiryo UI" panose="020B0604030504040204" pitchFamily="34" charset="-128"/>
            </a:endParaRPr>
          </a:p>
        </p:txBody>
      </p:sp>
      <p:sp>
        <p:nvSpPr>
          <p:cNvPr id="17" name="正方形/長方形 16">
            <a:extLst>
              <a:ext uri="{FF2B5EF4-FFF2-40B4-BE49-F238E27FC236}">
                <a16:creationId xmlns:a16="http://schemas.microsoft.com/office/drawing/2014/main" id="{006CC02E-5F18-400A-487E-9225D7CD6961}"/>
              </a:ext>
            </a:extLst>
          </p:cNvPr>
          <p:cNvSpPr/>
          <p:nvPr/>
        </p:nvSpPr>
        <p:spPr>
          <a:xfrm>
            <a:off x="4529517" y="3067651"/>
            <a:ext cx="746871" cy="295200"/>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1100" dirty="0">
                <a:highlight>
                  <a:srgbClr val="008000"/>
                </a:highlight>
                <a:latin typeface="Meiryo UI" panose="020B0604030504040204" pitchFamily="34" charset="-128"/>
              </a:rPr>
              <a:t>Annex6</a:t>
            </a:r>
            <a:endParaRPr kumimoji="1" lang="ja-JP" altLang="en-US" sz="1100" dirty="0">
              <a:highlight>
                <a:srgbClr val="008000"/>
              </a:highlight>
              <a:latin typeface="Meiryo UI" panose="020B0604030504040204" pitchFamily="34" charset="-128"/>
            </a:endParaRPr>
          </a:p>
        </p:txBody>
      </p:sp>
      <p:sp>
        <p:nvSpPr>
          <p:cNvPr id="18" name="正方形/長方形 17">
            <a:extLst>
              <a:ext uri="{FF2B5EF4-FFF2-40B4-BE49-F238E27FC236}">
                <a16:creationId xmlns:a16="http://schemas.microsoft.com/office/drawing/2014/main" id="{AF4C5192-2E06-62BF-08BD-9C89A4EA823A}"/>
              </a:ext>
            </a:extLst>
          </p:cNvPr>
          <p:cNvSpPr/>
          <p:nvPr/>
        </p:nvSpPr>
        <p:spPr>
          <a:xfrm>
            <a:off x="4337783" y="2653621"/>
            <a:ext cx="802105" cy="246066"/>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1100" dirty="0">
                <a:highlight>
                  <a:srgbClr val="008000"/>
                </a:highlight>
                <a:latin typeface="Meiryo UI" panose="020B0604030504040204" pitchFamily="34" charset="-128"/>
              </a:rPr>
              <a:t>Annex5</a:t>
            </a:r>
            <a:endParaRPr kumimoji="1" lang="ja-JP" altLang="en-US" sz="1100" dirty="0">
              <a:highlight>
                <a:srgbClr val="008000"/>
              </a:highlight>
              <a:latin typeface="Meiryo UI" panose="020B0604030504040204" pitchFamily="34" charset="-128"/>
            </a:endParaRPr>
          </a:p>
        </p:txBody>
      </p:sp>
      <p:sp>
        <p:nvSpPr>
          <p:cNvPr id="19" name="正方形/長方形 18">
            <a:extLst>
              <a:ext uri="{FF2B5EF4-FFF2-40B4-BE49-F238E27FC236}">
                <a16:creationId xmlns:a16="http://schemas.microsoft.com/office/drawing/2014/main" id="{61856FF0-D0D6-D107-677B-4F230D2E7D66}"/>
              </a:ext>
            </a:extLst>
          </p:cNvPr>
          <p:cNvSpPr/>
          <p:nvPr/>
        </p:nvSpPr>
        <p:spPr>
          <a:xfrm>
            <a:off x="1639612" y="2901912"/>
            <a:ext cx="825701" cy="295200"/>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1100" dirty="0">
                <a:highlight>
                  <a:srgbClr val="008000"/>
                </a:highlight>
                <a:latin typeface="Meiryo UI" panose="020B0604030504040204" pitchFamily="34" charset="-128"/>
              </a:rPr>
              <a:t>Annex2</a:t>
            </a:r>
            <a:endParaRPr kumimoji="1" lang="ja-JP" altLang="en-US" sz="1100" dirty="0">
              <a:highlight>
                <a:srgbClr val="008000"/>
              </a:highlight>
              <a:latin typeface="Meiryo UI" panose="020B0604030504040204" pitchFamily="34" charset="-128"/>
            </a:endParaRPr>
          </a:p>
        </p:txBody>
      </p:sp>
      <p:sp>
        <p:nvSpPr>
          <p:cNvPr id="21" name="正方形/長方形 20">
            <a:extLst>
              <a:ext uri="{FF2B5EF4-FFF2-40B4-BE49-F238E27FC236}">
                <a16:creationId xmlns:a16="http://schemas.microsoft.com/office/drawing/2014/main" id="{5DCC7DE1-B1CC-78AC-F711-D4FBCCF20C1C}"/>
              </a:ext>
            </a:extLst>
          </p:cNvPr>
          <p:cNvSpPr/>
          <p:nvPr/>
        </p:nvSpPr>
        <p:spPr>
          <a:xfrm>
            <a:off x="4649911" y="3539624"/>
            <a:ext cx="746871" cy="295200"/>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sz="1100" dirty="0">
                <a:highlight>
                  <a:srgbClr val="008000"/>
                </a:highlight>
                <a:latin typeface="Meiryo UI" panose="020B0604030504040204" pitchFamily="34" charset="-128"/>
              </a:rPr>
              <a:t>Annex6</a:t>
            </a:r>
            <a:endParaRPr kumimoji="1" lang="ja-JP" altLang="en-US" sz="1100" dirty="0">
              <a:highlight>
                <a:srgbClr val="008000"/>
              </a:highlight>
              <a:latin typeface="Meiryo UI" panose="020B0604030504040204" pitchFamily="34" charset="-128"/>
            </a:endParaRPr>
          </a:p>
        </p:txBody>
      </p:sp>
      <p:sp>
        <p:nvSpPr>
          <p:cNvPr id="37" name="正方形/長方形 36">
            <a:extLst>
              <a:ext uri="{FF2B5EF4-FFF2-40B4-BE49-F238E27FC236}">
                <a16:creationId xmlns:a16="http://schemas.microsoft.com/office/drawing/2014/main" id="{5D4821D2-1BA3-9508-67C9-87E108038190}"/>
              </a:ext>
            </a:extLst>
          </p:cNvPr>
          <p:cNvSpPr/>
          <p:nvPr/>
        </p:nvSpPr>
        <p:spPr>
          <a:xfrm>
            <a:off x="5605872" y="3819225"/>
            <a:ext cx="966546" cy="295200"/>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ja-JP" sz="1100" dirty="0">
                <a:highlight>
                  <a:srgbClr val="008000"/>
                </a:highlight>
                <a:latin typeface="Meiryo UI" panose="020B0604030504040204" pitchFamily="34" charset="-128"/>
              </a:rPr>
              <a:t>Annex5</a:t>
            </a:r>
          </a:p>
        </p:txBody>
      </p:sp>
      <p:sp>
        <p:nvSpPr>
          <p:cNvPr id="38" name="正方形/長方形 37">
            <a:extLst>
              <a:ext uri="{FF2B5EF4-FFF2-40B4-BE49-F238E27FC236}">
                <a16:creationId xmlns:a16="http://schemas.microsoft.com/office/drawing/2014/main" id="{3C2C9202-E619-8F09-4CDA-CC7031B2D999}"/>
              </a:ext>
            </a:extLst>
          </p:cNvPr>
          <p:cNvSpPr/>
          <p:nvPr/>
        </p:nvSpPr>
        <p:spPr>
          <a:xfrm>
            <a:off x="6929388" y="2291809"/>
            <a:ext cx="966546" cy="734763"/>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t"/>
          <a:lstStyle/>
          <a:p>
            <a:pPr algn="ctr"/>
            <a:r>
              <a:rPr lang="en-US" altLang="ja-JP" sz="1100" dirty="0">
                <a:highlight>
                  <a:srgbClr val="008000"/>
                </a:highlight>
                <a:latin typeface="Meiryo UI" panose="020B0604030504040204" pitchFamily="34" charset="-128"/>
              </a:rPr>
              <a:t>Annex7</a:t>
            </a:r>
          </a:p>
          <a:p>
            <a:pPr algn="ctr"/>
            <a:r>
              <a:rPr lang="en-US" altLang="ja-JP" sz="1100" dirty="0">
                <a:highlight>
                  <a:srgbClr val="008000"/>
                </a:highlight>
                <a:latin typeface="Meiryo UI" panose="020B0604030504040204" pitchFamily="34" charset="-128"/>
              </a:rPr>
              <a:t>Annex8</a:t>
            </a:r>
          </a:p>
          <a:p>
            <a:pPr algn="ctr"/>
            <a:r>
              <a:rPr lang="en-US" altLang="ja-JP" sz="1100" dirty="0">
                <a:highlight>
                  <a:srgbClr val="008000"/>
                </a:highlight>
                <a:latin typeface="Meiryo UI" panose="020B0604030504040204" pitchFamily="34" charset="-128"/>
              </a:rPr>
              <a:t>Annex9</a:t>
            </a:r>
          </a:p>
        </p:txBody>
      </p:sp>
    </p:spTree>
    <p:extLst>
      <p:ext uri="{BB962C8B-B14F-4D97-AF65-F5344CB8AC3E}">
        <p14:creationId xmlns:p14="http://schemas.microsoft.com/office/powerpoint/2010/main" val="22835200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E986B42-6F7C-6385-BA79-BC5778B8DC45}"/>
              </a:ext>
            </a:extLst>
          </p:cNvPr>
          <p:cNvSpPr txBox="1"/>
          <p:nvPr/>
        </p:nvSpPr>
        <p:spPr>
          <a:xfrm>
            <a:off x="97059" y="650918"/>
            <a:ext cx="775154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4.2.1 </a:t>
            </a:r>
            <a:r>
              <a:rPr lang="ja-JP" altLang="en-US" sz="1400" dirty="0">
                <a:latin typeface="Meiryo UI" panose="020B0604030504040204" pitchFamily="50" charset="-128"/>
                <a:ea typeface="Meiryo UI" panose="020B0604030504040204" pitchFamily="50" charset="-128"/>
              </a:rPr>
              <a:t>審査</a:t>
            </a:r>
            <a:endParaRPr lang="en-US" altLang="ja-JP" sz="1200" dirty="0">
              <a:latin typeface="Meiryo UI" panose="020B0604030504040204" pitchFamily="50" charset="-128"/>
              <a:ea typeface="Meiryo UI" panose="020B0604030504040204" pitchFamily="50" charset="-128"/>
            </a:endParaRPr>
          </a:p>
          <a:p>
            <a:pPr>
              <a:defRPr/>
            </a:pPr>
            <a:r>
              <a:rPr lang="ja-JP" altLang="en-US" sz="1200" dirty="0">
                <a:latin typeface="Meiryo UI" panose="020B0604030504040204" pitchFamily="50" charset="-128"/>
                <a:ea typeface="Meiryo UI" panose="020B0604030504040204" pitchFamily="50" charset="-128"/>
              </a:rPr>
              <a:t>　評価対象の明確な理解に</a:t>
            </a:r>
            <a:r>
              <a:rPr lang="ja-JP" altLang="en-US" sz="1200">
                <a:latin typeface="Meiryo UI" panose="020B0604030504040204" pitchFamily="50" charset="-128"/>
                <a:ea typeface="Meiryo UI" panose="020B0604030504040204" pitchFamily="50" charset="-128"/>
              </a:rPr>
              <a:t>基づく、安全性評価プロセス</a:t>
            </a:r>
            <a:r>
              <a:rPr lang="ja-JP" altLang="en-US" sz="1200" dirty="0">
                <a:latin typeface="Meiryo UI" panose="020B0604030504040204" pitchFamily="50" charset="-128"/>
                <a:ea typeface="Meiryo UI" panose="020B0604030504040204" pitchFamily="50" charset="-128"/>
              </a:rPr>
              <a:t>と機能安全性の検証</a:t>
            </a:r>
            <a:endParaRPr lang="en-US" altLang="ja-JP" sz="1200" dirty="0">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B7B7F733-F4A2-ED08-F4E2-921F4480A5A9}"/>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4 </a:t>
            </a:r>
            <a:r>
              <a:rPr lang="en" altLang="ja-JP" dirty="0">
                <a:solidFill>
                  <a:schemeClr val="bg1"/>
                </a:solidFill>
                <a:latin typeface="Meiryo UI" panose="020B0604030504040204" pitchFamily="50" charset="-128"/>
                <a:ea typeface="Meiryo UI" panose="020B0604030504040204" pitchFamily="50" charset="-128"/>
              </a:rPr>
              <a:t>ADS</a:t>
            </a:r>
            <a:r>
              <a:rPr lang="ja-JP" altLang="en-US">
                <a:solidFill>
                  <a:schemeClr val="bg1"/>
                </a:solidFill>
                <a:latin typeface="Meiryo UI" panose="020B0604030504040204" pitchFamily="50" charset="-128"/>
                <a:ea typeface="Meiryo UI" panose="020B0604030504040204" pitchFamily="50" charset="-128"/>
              </a:rPr>
              <a:t>の安全要件、評価と検証の概要</a:t>
            </a:r>
          </a:p>
        </p:txBody>
      </p:sp>
      <p:sp>
        <p:nvSpPr>
          <p:cNvPr id="12" name="テキスト ボックス 2">
            <a:extLst>
              <a:ext uri="{FF2B5EF4-FFF2-40B4-BE49-F238E27FC236}">
                <a16:creationId xmlns:a16="http://schemas.microsoft.com/office/drawing/2014/main" id="{11E65215-95AD-5F69-F92A-AA002FCAD8BB}"/>
              </a:ext>
            </a:extLst>
          </p:cNvPr>
          <p:cNvSpPr txBox="1">
            <a:spLocks noChangeArrowheads="1"/>
          </p:cNvSpPr>
          <p:nvPr/>
        </p:nvSpPr>
        <p:spPr bwMode="auto">
          <a:xfrm>
            <a:off x="158715" y="2566725"/>
            <a:ext cx="4895886" cy="390430"/>
          </a:xfrm>
          <a:prstGeom prst="rect">
            <a:avLst/>
          </a:prstGeom>
          <a:noFill/>
          <a:ln w="9525">
            <a:noFill/>
            <a:miter lim="800000"/>
            <a:headEnd/>
            <a:tailEnd/>
          </a:ln>
        </p:spPr>
        <p:txBody>
          <a:bodyPr rot="0" vert="horz" wrap="none" lIns="0" tIns="0" rIns="0" bIns="0" anchor="t"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ts val="900"/>
              </a:lnSpc>
              <a:spcAft>
                <a:spcPts val="800"/>
              </a:spcAft>
            </a:pPr>
            <a:r>
              <a:rPr lang="ja-JP" altLang="en-US" sz="1400" kern="100">
                <a:latin typeface="Meiryo UI" panose="020B0604030504040204" pitchFamily="50" charset="-128"/>
                <a:ea typeface="Meiryo UI" panose="020B0604030504040204" pitchFamily="50" charset="-128"/>
                <a:cs typeface="Times New Roman" panose="02020603050405020304" pitchFamily="18" charset="0"/>
              </a:rPr>
              <a:t>◾️</a:t>
            </a:r>
            <a:r>
              <a:rPr lang="en-US" altLang="ja-JP" sz="1400" kern="100" dirty="0">
                <a:latin typeface="Meiryo UI" panose="020B0604030504040204" pitchFamily="50" charset="-128"/>
                <a:ea typeface="Meiryo UI" panose="020B0604030504040204" pitchFamily="50" charset="-128"/>
                <a:cs typeface="Times New Roman" panose="02020603050405020304" pitchFamily="18" charset="0"/>
              </a:rPr>
              <a:t>4.2.2 </a:t>
            </a:r>
            <a:r>
              <a:rPr lang="ja-JP" altLang="en-US" sz="1400" kern="100" dirty="0">
                <a:latin typeface="Meiryo UI" panose="020B0604030504040204" pitchFamily="50" charset="-128"/>
                <a:ea typeface="Meiryo UI" panose="020B0604030504040204" pitchFamily="50" charset="-128"/>
                <a:cs typeface="Times New Roman" panose="02020603050405020304" pitchFamily="18" charset="0"/>
              </a:rPr>
              <a:t>試験方法</a:t>
            </a:r>
            <a:endParaRPr lang="en-US" altLang="ja-JP" sz="1400" kern="100" dirty="0">
              <a:latin typeface="Meiryo UI" panose="020B0604030504040204" pitchFamily="50" charset="-128"/>
              <a:ea typeface="Meiryo UI" panose="020B0604030504040204" pitchFamily="50" charset="-128"/>
              <a:cs typeface="Times New Roman" panose="02020603050405020304" pitchFamily="18" charset="0"/>
            </a:endParaRPr>
          </a:p>
          <a:p>
            <a:pPr>
              <a:lnSpc>
                <a:spcPts val="900"/>
              </a:lnSpc>
              <a:spcAft>
                <a:spcPts val="800"/>
              </a:spcAft>
            </a:pPr>
            <a:r>
              <a:rPr lang="ja-JP" altLang="en-US" sz="1200" kern="100" dirty="0">
                <a:latin typeface="Meiryo UI" panose="020B0604030504040204" pitchFamily="50" charset="-128"/>
                <a:ea typeface="Meiryo UI" panose="020B0604030504040204" pitchFamily="50" charset="-128"/>
                <a:cs typeface="Times New Roman" panose="02020603050405020304" pitchFamily="18" charset="0"/>
              </a:rPr>
              <a:t>　　目的と長所に合わせて各試験方法を使い分けることで、カバレッジを拡大</a:t>
            </a:r>
            <a:endParaRPr lang="en-US" altLang="ja-JP" sz="1400" kern="100" dirty="0">
              <a:latin typeface="Meiryo UI" panose="020B0604030504040204" pitchFamily="50" charset="-128"/>
              <a:ea typeface="Meiryo UI" panose="020B0604030504040204" pitchFamily="50" charset="-128"/>
              <a:cs typeface="Times New Roman" panose="02020603050405020304" pitchFamily="18" charset="0"/>
            </a:endParaRPr>
          </a:p>
        </p:txBody>
      </p:sp>
      <p:graphicFrame>
        <p:nvGraphicFramePr>
          <p:cNvPr id="29" name="表 28">
            <a:extLst>
              <a:ext uri="{FF2B5EF4-FFF2-40B4-BE49-F238E27FC236}">
                <a16:creationId xmlns:a16="http://schemas.microsoft.com/office/drawing/2014/main" id="{38FA54BC-28B4-3392-C372-8838E18B2370}"/>
              </a:ext>
            </a:extLst>
          </p:cNvPr>
          <p:cNvGraphicFramePr>
            <a:graphicFrameLocks noGrp="1"/>
          </p:cNvGraphicFramePr>
          <p:nvPr/>
        </p:nvGraphicFramePr>
        <p:xfrm>
          <a:off x="404261" y="3014115"/>
          <a:ext cx="11364404" cy="2827885"/>
        </p:xfrm>
        <a:graphic>
          <a:graphicData uri="http://schemas.openxmlformats.org/drawingml/2006/table">
            <a:tbl>
              <a:tblPr firstRow="1" bandRow="1">
                <a:tableStyleId>{5C22544A-7EE6-4342-B048-85BDC9FD1C3A}</a:tableStyleId>
              </a:tblPr>
              <a:tblGrid>
                <a:gridCol w="712628">
                  <a:extLst>
                    <a:ext uri="{9D8B030D-6E8A-4147-A177-3AD203B41FA5}">
                      <a16:colId xmlns:a16="http://schemas.microsoft.com/office/drawing/2014/main" val="2726417211"/>
                    </a:ext>
                  </a:extLst>
                </a:gridCol>
                <a:gridCol w="3422910">
                  <a:extLst>
                    <a:ext uri="{9D8B030D-6E8A-4147-A177-3AD203B41FA5}">
                      <a16:colId xmlns:a16="http://schemas.microsoft.com/office/drawing/2014/main" val="1397472351"/>
                    </a:ext>
                  </a:extLst>
                </a:gridCol>
                <a:gridCol w="2973180">
                  <a:extLst>
                    <a:ext uri="{9D8B030D-6E8A-4147-A177-3AD203B41FA5}">
                      <a16:colId xmlns:a16="http://schemas.microsoft.com/office/drawing/2014/main" val="983846962"/>
                    </a:ext>
                  </a:extLst>
                </a:gridCol>
                <a:gridCol w="4255686">
                  <a:extLst>
                    <a:ext uri="{9D8B030D-6E8A-4147-A177-3AD203B41FA5}">
                      <a16:colId xmlns:a16="http://schemas.microsoft.com/office/drawing/2014/main" val="412692465"/>
                    </a:ext>
                  </a:extLst>
                </a:gridCol>
              </a:tblGrid>
              <a:tr h="433495">
                <a:tc>
                  <a:txBody>
                    <a:bodyPr/>
                    <a:lstStyle/>
                    <a:p>
                      <a:endParaRPr kumimoji="1" lang="ja-JP" altLang="en-US" sz="1200" b="0" i="0">
                        <a:solidFill>
                          <a:schemeClr val="tx1"/>
                        </a:solidFill>
                        <a:latin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200" b="0" i="0" dirty="0">
                          <a:solidFill>
                            <a:schemeClr val="bg1"/>
                          </a:solidFill>
                          <a:latin typeface="Meiryo UI" panose="020B0604030504040204" pitchFamily="34" charset="-128"/>
                        </a:rPr>
                        <a:t>シュミレーション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kumimoji="1" lang="ja-JP" altLang="en-US" sz="1200" b="0" i="0">
                          <a:solidFill>
                            <a:schemeClr val="bg1"/>
                          </a:solidFill>
                          <a:latin typeface="Meiryo UI" panose="020B0604030504040204" pitchFamily="34" charset="-128"/>
                        </a:rPr>
                        <a:t>トラック試験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kumimoji="1" lang="ja-JP" altLang="en-US" sz="1200" b="0" i="0">
                          <a:solidFill>
                            <a:schemeClr val="bg1"/>
                          </a:solidFill>
                          <a:latin typeface="Meiryo UI" panose="020B0604030504040204" pitchFamily="34" charset="-128"/>
                        </a:rPr>
                        <a:t>実世界での試験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2245892817"/>
                  </a:ext>
                </a:extLst>
              </a:tr>
              <a:tr h="534446">
                <a:tc>
                  <a:txBody>
                    <a:bodyPr/>
                    <a:lstStyle/>
                    <a:p>
                      <a:r>
                        <a:rPr kumimoji="1" lang="ja-JP" altLang="en-US" sz="1200" b="0" i="0">
                          <a:solidFill>
                            <a:schemeClr val="tx1"/>
                          </a:solidFill>
                          <a:latin typeface="Meiryo UI" panose="020B0604030504040204" pitchFamily="34" charset="-128"/>
                        </a:rPr>
                        <a:t>目的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dirty="0">
                          <a:latin typeface="Meiryo UI" panose="020B0604030504040204" pitchFamily="50" charset="-128"/>
                          <a:ea typeface="Meiryo UI" panose="020B0604030504040204" pitchFamily="50" charset="-128"/>
                        </a:rPr>
                        <a:t>物理的に再現するのが困難なものを含む、幅広い交通シナリオの検証</a:t>
                      </a:r>
                      <a:endParaRPr kumimoji="1" lang="ja-JP" altLang="en-US" sz="1200" b="0" i="0" dirty="0">
                        <a:solidFill>
                          <a:schemeClr val="tx1"/>
                        </a:solidFill>
                        <a:latin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dirty="0">
                          <a:latin typeface="Meiryo UI" panose="020B0604030504040204" pitchFamily="34" charset="-128"/>
                          <a:ea typeface="Meiryo UI" panose="020B0604030504040204" pitchFamily="34" charset="-128"/>
                        </a:rPr>
                        <a:t>公道より</a:t>
                      </a:r>
                      <a:r>
                        <a:rPr lang="ja-JP" altLang="en-US" sz="1200" u="none" strike="noStrike" dirty="0">
                          <a:effectLst/>
                          <a:latin typeface="Meiryo UI" panose="020B0604030504040204" pitchFamily="34" charset="-128"/>
                          <a:ea typeface="Meiryo UI" panose="020B0604030504040204" pitchFamily="34" charset="-128"/>
                        </a:rPr>
                        <a:t>閉鎖された制御条件下での、</a:t>
                      </a:r>
                      <a:endParaRPr lang="en-US" altLang="ja-JP" sz="1200" u="none" strike="noStrike" dirty="0">
                        <a:effectLst/>
                        <a:latin typeface="Meiryo UI" panose="020B0604030504040204" pitchFamily="34" charset="-128"/>
                        <a:ea typeface="Meiryo UI" panose="020B0604030504040204" pitchFamily="34" charset="-128"/>
                      </a:endParaRPr>
                    </a:p>
                    <a:p>
                      <a:r>
                        <a:rPr lang="en-US" altLang="ja-JP" sz="1200" u="none" strike="noStrike" dirty="0">
                          <a:effectLst/>
                          <a:latin typeface="Meiryo UI" panose="020B0604030504040204" pitchFamily="34" charset="-128"/>
                          <a:ea typeface="Meiryo UI" panose="020B0604030504040204" pitchFamily="34" charset="-128"/>
                        </a:rPr>
                        <a:t>ADS</a:t>
                      </a:r>
                      <a:r>
                        <a:rPr lang="ja-JP" altLang="en-US" sz="1200" u="none" strike="noStrike" dirty="0">
                          <a:effectLst/>
                          <a:latin typeface="Meiryo UI" panose="020B0604030504040204" pitchFamily="34" charset="-128"/>
                          <a:ea typeface="Meiryo UI" panose="020B0604030504040204" pitchFamily="34" charset="-128"/>
                        </a:rPr>
                        <a:t>性能の物理的検証</a:t>
                      </a:r>
                      <a:endParaRPr kumimoji="1" lang="ja-JP" altLang="en-US" sz="1200" b="0" i="0" dirty="0">
                        <a:solidFill>
                          <a:schemeClr val="tx1"/>
                        </a:solidFill>
                        <a:latin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公道での、高い忠実度での</a:t>
                      </a:r>
                      <a:r>
                        <a:rPr lang="en" altLang="ja-JP" sz="1200" dirty="0">
                          <a:latin typeface="Meiryo UI" panose="020B0604030504040204" pitchFamily="50" charset="-128"/>
                          <a:ea typeface="Meiryo UI" panose="020B0604030504040204" pitchFamily="50" charset="-128"/>
                        </a:rPr>
                        <a:t>DDT</a:t>
                      </a:r>
                      <a:r>
                        <a:rPr lang="ja-JP" altLang="en-US" sz="1200" dirty="0">
                          <a:latin typeface="Meiryo UI" panose="020B0604030504040204" pitchFamily="50" charset="-128"/>
                          <a:ea typeface="Meiryo UI" panose="020B0604030504040204" pitchFamily="50" charset="-128"/>
                        </a:rPr>
                        <a:t>性能と、</a:t>
                      </a:r>
                      <a:endParaRPr lang="en-US" altLang="ja-JP" sz="1200"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ユーザインタラクションの安全性準拠の検証</a:t>
                      </a:r>
                      <a:endParaRPr lang="en-US" altLang="ja-JP" sz="1200"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409989"/>
                  </a:ext>
                </a:extLst>
              </a:tr>
              <a:tr h="1389560">
                <a:tc>
                  <a:txBody>
                    <a:bodyPr/>
                    <a:lstStyle/>
                    <a:p>
                      <a:r>
                        <a:rPr lang="ja-JP" altLang="en-US" sz="1200">
                          <a:latin typeface="Meiryo UI" panose="020B0604030504040204" pitchFamily="50" charset="-128"/>
                          <a:ea typeface="Meiryo UI" panose="020B0604030504040204" pitchFamily="50" charset="-128"/>
                        </a:rPr>
                        <a:t>長所</a:t>
                      </a:r>
                      <a:endParaRPr kumimoji="1" lang="ja-JP" altLang="en-US" sz="1200" b="0" i="0">
                        <a:solidFill>
                          <a:schemeClr val="tx1"/>
                        </a:solidFill>
                        <a:latin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・スイープパラメータによるカバレッジ拡大</a:t>
                      </a:r>
                      <a:endParaRPr lang="en-US" altLang="ja-JP" sz="1200"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・パラメータランダム化による低確率イベントの評価</a:t>
                      </a:r>
                      <a:endParaRPr lang="en-US" altLang="ja-JP" sz="1200"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・トラック試験へ適用できる価値の高いシナリオの特定</a:t>
                      </a:r>
                      <a:endParaRPr lang="en-US" altLang="ja-JP" sz="1200"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・基準</a:t>
                      </a:r>
                      <a:r>
                        <a:rPr lang="en" altLang="ja-JP" sz="1200" dirty="0">
                          <a:latin typeface="Meiryo UI" panose="020B0604030504040204" pitchFamily="50" charset="-128"/>
                          <a:ea typeface="Meiryo UI" panose="020B0604030504040204" pitchFamily="50" charset="-128"/>
                        </a:rPr>
                        <a:t>DDT</a:t>
                      </a:r>
                      <a:r>
                        <a:rPr lang="ja-JP" altLang="en-US" sz="1200" dirty="0">
                          <a:latin typeface="Meiryo UI" panose="020B0604030504040204" pitchFamily="50" charset="-128"/>
                          <a:ea typeface="Meiryo UI" panose="020B0604030504040204" pitchFamily="50" charset="-128"/>
                        </a:rPr>
                        <a:t>性能要件の例外 </a:t>
                      </a:r>
                      <a:endParaRPr lang="en-US" altLang="ja-JP" sz="1200"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rPr>
                        <a:t>(</a:t>
                      </a:r>
                      <a:r>
                        <a:rPr lang="ja-JP" altLang="en-US" sz="1200" dirty="0">
                          <a:latin typeface="Meiryo UI" panose="020B0604030504040204" pitchFamily="50" charset="-128"/>
                          <a:ea typeface="Meiryo UI" panose="020B0604030504040204" pitchFamily="50" charset="-128"/>
                        </a:rPr>
                        <a:t>交通ルールからの逸脱、回避操作、衝突結果など</a:t>
                      </a:r>
                      <a:r>
                        <a:rPr lang="en-US" altLang="ja-JP" sz="1200" dirty="0">
                          <a:latin typeface="Meiryo UI" panose="020B0604030504040204" pitchFamily="50" charset="-128"/>
                          <a:ea typeface="Meiryo UI" panose="020B0604030504040204" pitchFamily="50" charset="-128"/>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　をもたらすシナリオの特定</a:t>
                      </a:r>
                      <a:endParaRPr lang="en-US" altLang="ja-JP" sz="1200"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34" charset="-128"/>
                          <a:ea typeface="Meiryo UI" panose="020B0604030504040204" pitchFamily="34" charset="-128"/>
                        </a:rPr>
                        <a:t>同じシナリオを実行した場合の、シュミレーションとの比較により、ツールチェーンの精度を評価</a:t>
                      </a:r>
                      <a:endParaRPr lang="en-US" altLang="ja-JP" sz="1200" dirty="0">
                        <a:latin typeface="Meiryo UI" panose="020B0604030504040204" pitchFamily="34" charset="-128"/>
                        <a:ea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高い忠実性（例：他の道路利用者とのインタラクションや認識機能）を保証</a:t>
                      </a:r>
                      <a:endParaRPr lang="en-US" altLang="ja-JP" sz="1200"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1689561"/>
                  </a:ext>
                </a:extLst>
              </a:tr>
              <a:tr h="470384">
                <a:tc>
                  <a:txBody>
                    <a:bodyPr/>
                    <a:lstStyle/>
                    <a:p>
                      <a:r>
                        <a:rPr kumimoji="1" lang="ja-JP" altLang="en-US" sz="1200" b="0" i="0" dirty="0">
                          <a:solidFill>
                            <a:schemeClr val="tx1"/>
                          </a:solidFill>
                          <a:latin typeface="Meiryo UI" panose="020B0604030504040204" pitchFamily="34" charset="-128"/>
                        </a:rPr>
                        <a:t>参考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Meiryo UI" panose="020B0604030504040204" pitchFamily="50" charset="-128"/>
                          <a:ea typeface="Meiryo UI" panose="020B0604030504040204" pitchFamily="50" charset="-128"/>
                        </a:rPr>
                        <a:t>Annex5</a:t>
                      </a:r>
                      <a:r>
                        <a:rPr lang="ja-JP" altLang="en-US" sz="1200" dirty="0">
                          <a:latin typeface="Meiryo UI" panose="020B0604030504040204" pitchFamily="50" charset="-128"/>
                          <a:ea typeface="Meiryo UI" panose="020B0604030504040204" pitchFamily="50" charset="-128"/>
                        </a:rPr>
                        <a:t>　シュミレーションと信頼性評価</a:t>
                      </a:r>
                      <a:endParaRPr lang="en-US" altLang="ja-JP" sz="1200"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Meiryo UI" panose="020B0604030504040204" pitchFamily="50" charset="-128"/>
                          <a:ea typeface="Meiryo UI" panose="020B0604030504040204" pitchFamily="50" charset="-128"/>
                        </a:rPr>
                        <a:t>Annex6</a:t>
                      </a:r>
                      <a:r>
                        <a:rPr lang="ja-JP" altLang="en-US" sz="1200" dirty="0">
                          <a:latin typeface="Meiryo UI" panose="020B0604030504040204" pitchFamily="50" charset="-128"/>
                          <a:ea typeface="Meiryo UI" panose="020B0604030504040204" pitchFamily="50" charset="-128"/>
                        </a:rPr>
                        <a:t>　トラック試験と実世界での試験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Meiryo UI" panose="020B0604030504040204" pitchFamily="50" charset="-128"/>
                          <a:ea typeface="Meiryo UI" panose="020B0604030504040204" pitchFamily="50" charset="-128"/>
                        </a:rPr>
                        <a:t>Annex6</a:t>
                      </a:r>
                      <a:r>
                        <a:rPr lang="ja-JP" altLang="en-US" sz="1200" dirty="0">
                          <a:latin typeface="Meiryo UI" panose="020B0604030504040204" pitchFamily="50" charset="-128"/>
                          <a:ea typeface="Meiryo UI" panose="020B0604030504040204" pitchFamily="50" charset="-128"/>
                        </a:rPr>
                        <a:t>　トラック試験と実世界での試験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6304588"/>
                  </a:ext>
                </a:extLst>
              </a:tr>
            </a:tbl>
          </a:graphicData>
        </a:graphic>
      </p:graphicFrame>
      <p:sp>
        <p:nvSpPr>
          <p:cNvPr id="33" name="左右矢印 32">
            <a:extLst>
              <a:ext uri="{FF2B5EF4-FFF2-40B4-BE49-F238E27FC236}">
                <a16:creationId xmlns:a16="http://schemas.microsoft.com/office/drawing/2014/main" id="{ECC1D0C9-44A6-11F6-3446-68655061ABAF}"/>
              </a:ext>
            </a:extLst>
          </p:cNvPr>
          <p:cNvSpPr/>
          <p:nvPr/>
        </p:nvSpPr>
        <p:spPr>
          <a:xfrm>
            <a:off x="1135781" y="5910374"/>
            <a:ext cx="10172984" cy="259734"/>
          </a:xfrm>
          <a:prstGeom prst="leftRightArrow">
            <a:avLst/>
          </a:prstGeom>
          <a:solidFill>
            <a:schemeClr val="bg1"/>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kumimoji="1" lang="ja-JP" altLang="en-US">
              <a:latin typeface="Meiryo UI" panose="020B0604030504040204" pitchFamily="34" charset="-128"/>
            </a:endParaRPr>
          </a:p>
        </p:txBody>
      </p:sp>
      <p:sp>
        <p:nvSpPr>
          <p:cNvPr id="34" name="テキスト ボックス 33">
            <a:extLst>
              <a:ext uri="{FF2B5EF4-FFF2-40B4-BE49-F238E27FC236}">
                <a16:creationId xmlns:a16="http://schemas.microsoft.com/office/drawing/2014/main" id="{09D04D5C-077B-D22D-48A9-26E78D829A34}"/>
              </a:ext>
            </a:extLst>
          </p:cNvPr>
          <p:cNvSpPr txBox="1"/>
          <p:nvPr/>
        </p:nvSpPr>
        <p:spPr>
          <a:xfrm>
            <a:off x="10506823" y="6175510"/>
            <a:ext cx="956296" cy="276999"/>
          </a:xfrm>
          <a:prstGeom prst="rect">
            <a:avLst/>
          </a:prstGeom>
          <a:noFill/>
        </p:spPr>
        <p:txBody>
          <a:bodyPr wrap="square">
            <a:spAutoFit/>
          </a:bodyPr>
          <a:lstStyle/>
          <a:p>
            <a:r>
              <a:rPr kumimoji="1" lang="ja-JP" altLang="en-US" sz="1200" dirty="0">
                <a:latin typeface="Meiryo UI" panose="020B0604030504040204" pitchFamily="34" charset="-128"/>
                <a:ea typeface="Meiryo UI" panose="020B0604030504040204" pitchFamily="34" charset="-128"/>
              </a:rPr>
              <a:t>環境忠実度</a:t>
            </a:r>
          </a:p>
        </p:txBody>
      </p:sp>
      <p:sp>
        <p:nvSpPr>
          <p:cNvPr id="35" name="テキスト ボックス 34">
            <a:extLst>
              <a:ext uri="{FF2B5EF4-FFF2-40B4-BE49-F238E27FC236}">
                <a16:creationId xmlns:a16="http://schemas.microsoft.com/office/drawing/2014/main" id="{E2FB764E-60B1-B9C2-1207-A19092D1D173}"/>
              </a:ext>
            </a:extLst>
          </p:cNvPr>
          <p:cNvSpPr txBox="1"/>
          <p:nvPr/>
        </p:nvSpPr>
        <p:spPr>
          <a:xfrm>
            <a:off x="1111814" y="6170107"/>
            <a:ext cx="1842361" cy="276999"/>
          </a:xfrm>
          <a:prstGeom prst="rect">
            <a:avLst/>
          </a:prstGeom>
          <a:noFill/>
        </p:spPr>
        <p:txBody>
          <a:bodyPr wrap="square">
            <a:spAutoFit/>
          </a:bodyPr>
          <a:lstStyle/>
          <a:p>
            <a:r>
              <a:rPr lang="ja-JP" altLang="en-US" sz="1200">
                <a:latin typeface="Meiryo UI" panose="020B0604030504040204" pitchFamily="34" charset="-128"/>
                <a:ea typeface="Meiryo UI" panose="020B0604030504040204" pitchFamily="34" charset="-128"/>
              </a:rPr>
              <a:t>検証するシナリオの数</a:t>
            </a:r>
            <a:endParaRPr kumimoji="1" lang="ja-JP" altLang="en-US" sz="1200">
              <a:latin typeface="Meiryo UI" panose="020B0604030504040204" pitchFamily="34" charset="-128"/>
              <a:ea typeface="Meiryo UI" panose="020B0604030504040204" pitchFamily="34" charset="-128"/>
            </a:endParaRPr>
          </a:p>
        </p:txBody>
      </p:sp>
      <p:sp>
        <p:nvSpPr>
          <p:cNvPr id="3" name="テキスト ボックス 2">
            <a:extLst>
              <a:ext uri="{FF2B5EF4-FFF2-40B4-BE49-F238E27FC236}">
                <a16:creationId xmlns:a16="http://schemas.microsoft.com/office/drawing/2014/main" id="{49CFACB5-1237-3457-C577-7142895FEEEF}"/>
              </a:ext>
            </a:extLst>
          </p:cNvPr>
          <p:cNvSpPr txBox="1"/>
          <p:nvPr/>
        </p:nvSpPr>
        <p:spPr>
          <a:xfrm>
            <a:off x="0" y="6452509"/>
            <a:ext cx="12192000" cy="369332"/>
          </a:xfrm>
          <a:prstGeom prst="rect">
            <a:avLst/>
          </a:prstGeom>
          <a:noFill/>
        </p:spPr>
        <p:txBody>
          <a:bodyPr wrap="square" rtlCol="0">
            <a:spAutoFit/>
          </a:bodyPr>
          <a:lstStyle/>
          <a:p>
            <a:pPr algn="ctr"/>
            <a:r>
              <a:rPr lang="ja-JP" altLang="en-US">
                <a:latin typeface="Meiryo UI" panose="020B0604030504040204" pitchFamily="50" charset="-128"/>
                <a:ea typeface="Meiryo UI" panose="020B0604030504040204" pitchFamily="50" charset="-128"/>
              </a:rPr>
              <a:t>審査：</a:t>
            </a:r>
            <a:r>
              <a:rPr lang="ja-JP" altLang="en-US" sz="1800">
                <a:latin typeface="Meiryo UI" panose="020B0604030504040204" pitchFamily="50" charset="-128"/>
                <a:ea typeface="Meiryo UI" panose="020B0604030504040204" pitchFamily="50" charset="-128"/>
              </a:rPr>
              <a:t>安全性評価</a:t>
            </a:r>
            <a:r>
              <a:rPr lang="ja-JP" altLang="en-US">
                <a:latin typeface="Meiryo UI" panose="020B0604030504040204" pitchFamily="50" charset="-128"/>
                <a:ea typeface="Meiryo UI" panose="020B0604030504040204" pitchFamily="50" charset="-128"/>
              </a:rPr>
              <a:t>プロセス</a:t>
            </a:r>
            <a:r>
              <a:rPr lang="ja-JP" altLang="en-US" dirty="0">
                <a:latin typeface="Meiryo UI" panose="020B0604030504040204" pitchFamily="50" charset="-128"/>
                <a:ea typeface="Meiryo UI" panose="020B0604030504040204" pitchFamily="50" charset="-128"/>
              </a:rPr>
              <a:t>の堅牢性と、車両の安全性を保証　試験方法：安全性評価のカバレッジ拡大</a:t>
            </a:r>
            <a:endParaRPr lang="en-US" altLang="ja-JP" dirty="0">
              <a:latin typeface="Meiryo UI" panose="020B0604030504040204" pitchFamily="50" charset="-128"/>
              <a:ea typeface="Meiryo UI" panose="020B0604030504040204" pitchFamily="50" charset="-128"/>
            </a:endParaRPr>
          </a:p>
        </p:txBody>
      </p:sp>
      <p:graphicFrame>
        <p:nvGraphicFramePr>
          <p:cNvPr id="4" name="表 4">
            <a:extLst>
              <a:ext uri="{FF2B5EF4-FFF2-40B4-BE49-F238E27FC236}">
                <a16:creationId xmlns:a16="http://schemas.microsoft.com/office/drawing/2014/main" id="{FCC62226-F083-AE16-71F1-F945E06FBCD7}"/>
              </a:ext>
            </a:extLst>
          </p:cNvPr>
          <p:cNvGraphicFramePr>
            <a:graphicFrameLocks noGrp="1"/>
          </p:cNvGraphicFramePr>
          <p:nvPr/>
        </p:nvGraphicFramePr>
        <p:xfrm>
          <a:off x="404261" y="1135255"/>
          <a:ext cx="11331717" cy="1285240"/>
        </p:xfrm>
        <a:graphic>
          <a:graphicData uri="http://schemas.openxmlformats.org/drawingml/2006/table">
            <a:tbl>
              <a:tblPr firstRow="1" bandRow="1">
                <a:tableStyleId>{5C22544A-7EE6-4342-B048-85BDC9FD1C3A}</a:tableStyleId>
              </a:tblPr>
              <a:tblGrid>
                <a:gridCol w="690482">
                  <a:extLst>
                    <a:ext uri="{9D8B030D-6E8A-4147-A177-3AD203B41FA5}">
                      <a16:colId xmlns:a16="http://schemas.microsoft.com/office/drawing/2014/main" val="3817541327"/>
                    </a:ext>
                  </a:extLst>
                </a:gridCol>
                <a:gridCol w="3683318">
                  <a:extLst>
                    <a:ext uri="{9D8B030D-6E8A-4147-A177-3AD203B41FA5}">
                      <a16:colId xmlns:a16="http://schemas.microsoft.com/office/drawing/2014/main" val="2667355822"/>
                    </a:ext>
                  </a:extLst>
                </a:gridCol>
                <a:gridCol w="3400743">
                  <a:extLst>
                    <a:ext uri="{9D8B030D-6E8A-4147-A177-3AD203B41FA5}">
                      <a16:colId xmlns:a16="http://schemas.microsoft.com/office/drawing/2014/main" val="4023408946"/>
                    </a:ext>
                  </a:extLst>
                </a:gridCol>
                <a:gridCol w="3557174">
                  <a:extLst>
                    <a:ext uri="{9D8B030D-6E8A-4147-A177-3AD203B41FA5}">
                      <a16:colId xmlns:a16="http://schemas.microsoft.com/office/drawing/2014/main" val="2452068689"/>
                    </a:ext>
                  </a:extLst>
                </a:gridCol>
              </a:tblGrid>
              <a:tr h="370840">
                <a:tc>
                  <a:txBody>
                    <a:bodyPr/>
                    <a:lstStyle/>
                    <a:p>
                      <a:endParaRPr kumimoji="1" lang="ja-JP" altLang="en-US" sz="1200" b="0" i="0" dirty="0">
                        <a:solidFill>
                          <a:schemeClr val="tx1"/>
                        </a:solidFill>
                        <a:latin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200" b="0" i="0">
                          <a:solidFill>
                            <a:schemeClr val="bg1"/>
                          </a:solidFill>
                          <a:latin typeface="Meiryo UI" panose="020B0604030504040204" pitchFamily="34" charset="-128"/>
                        </a:rPr>
                        <a:t>メーカの</a:t>
                      </a:r>
                      <a:r>
                        <a:rPr kumimoji="1" lang="ja-JP" altLang="en-US" sz="1200" b="0" i="0" dirty="0">
                          <a:solidFill>
                            <a:schemeClr val="bg1"/>
                          </a:solidFill>
                          <a:latin typeface="Meiryo UI" panose="020B0604030504040204" pitchFamily="34" charset="-128"/>
                        </a:rPr>
                        <a:t>安全管理システム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ja-JP" sz="1200" b="0" i="0"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ADS</a:t>
                      </a:r>
                      <a:r>
                        <a:rPr lang="ja-JP" altLang="ja-JP" sz="1200" b="0" i="0"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の安全性評価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試験環境の評価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062083390"/>
                  </a:ext>
                </a:extLst>
              </a:tr>
              <a:tr h="370840">
                <a:tc>
                  <a:txBody>
                    <a:bodyPr/>
                    <a:lstStyle/>
                    <a:p>
                      <a:r>
                        <a:rPr kumimoji="1" lang="ja-JP" altLang="en-US" sz="1200" b="0" i="0" dirty="0">
                          <a:latin typeface="Meiryo UI" panose="020B0604030504040204" pitchFamily="34" charset="-128"/>
                        </a:rPr>
                        <a:t>目的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ja-JP" altLang="en-US" sz="1200">
                          <a:latin typeface="Meiryo UI" panose="020B0604030504040204" pitchFamily="50" charset="-128"/>
                          <a:ea typeface="Meiryo UI" panose="020B0604030504040204" pitchFamily="50" charset="-128"/>
                        </a:rPr>
                        <a:t>車両のライフサイクルを通じたプロセス</a:t>
                      </a:r>
                      <a:r>
                        <a:rPr lang="ja-JP" altLang="en-US" sz="1200" dirty="0">
                          <a:latin typeface="Meiryo UI" panose="020B0604030504040204" pitchFamily="50" charset="-128"/>
                          <a:ea typeface="Meiryo UI" panose="020B0604030504040204" pitchFamily="50" charset="-128"/>
                        </a:rPr>
                        <a:t>の堅牢性</a:t>
                      </a:r>
                      <a:r>
                        <a:rPr lang="ja-JP" altLang="en-US" sz="1200">
                          <a:latin typeface="Meiryo UI" panose="020B0604030504040204" pitchFamily="50" charset="-128"/>
                          <a:ea typeface="Meiryo UI" panose="020B0604030504040204" pitchFamily="50" charset="-128"/>
                        </a:rPr>
                        <a:t>の検証と</a:t>
                      </a:r>
                      <a:endParaRPr lang="en-US" altLang="ja-JP" sz="1200" dirty="0">
                        <a:latin typeface="Meiryo UI" panose="020B0604030504040204" pitchFamily="50" charset="-128"/>
                        <a:ea typeface="Meiryo UI" panose="020B0604030504040204" pitchFamily="50" charset="-128"/>
                      </a:endParaRPr>
                    </a:p>
                    <a:p>
                      <a:pPr algn="l"/>
                      <a:r>
                        <a:rPr lang="ja-JP" altLang="en-US" sz="1200">
                          <a:latin typeface="Meiryo UI" panose="020B0604030504040204" pitchFamily="50" charset="-128"/>
                          <a:ea typeface="Meiryo UI" panose="020B0604030504040204" pitchFamily="50" charset="-128"/>
                        </a:rPr>
                        <a:t>安全</a:t>
                      </a:r>
                      <a:r>
                        <a:rPr lang="ja-JP" altLang="en-US" sz="1200">
                          <a:solidFill>
                            <a:schemeClr val="tx1"/>
                          </a:solidFill>
                          <a:latin typeface="Meiryo UI" panose="020B0604030504040204" pitchFamily="50" charset="-128"/>
                          <a:ea typeface="Meiryo UI" panose="020B0604030504040204" pitchFamily="50" charset="-128"/>
                        </a:rPr>
                        <a:t>コンセプトを適用することにより特定されたリスクの軽減</a:t>
                      </a:r>
                      <a:endParaRPr kumimoji="1" lang="ja-JP" altLang="en-US" sz="1200" b="0" i="0">
                        <a:solidFill>
                          <a:schemeClr val="tx1"/>
                        </a:solidFill>
                        <a:latin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a:latin typeface="Meiryo UI" panose="020B0604030504040204" pitchFamily="50" charset="-128"/>
                          <a:ea typeface="Meiryo UI" panose="020B0604030504040204" pitchFamily="50" charset="-128"/>
                        </a:rPr>
                        <a:t>特定されたリスクを軽減する一貫した安全コンセプトが</a:t>
                      </a:r>
                      <a:endParaRPr lang="en-US" altLang="ja-JP" sz="1200" dirty="0">
                        <a:latin typeface="Meiryo UI" panose="020B0604030504040204" pitchFamily="50" charset="-128"/>
                        <a:ea typeface="Meiryo UI" panose="020B0604030504040204" pitchFamily="50" charset="-128"/>
                      </a:endParaRPr>
                    </a:p>
                    <a:p>
                      <a:r>
                        <a:rPr lang="ja-JP" altLang="en-US" sz="1200">
                          <a:latin typeface="Meiryo UI" panose="020B0604030504040204" pitchFamily="50" charset="-128"/>
                          <a:ea typeface="Meiryo UI" panose="020B0604030504040204" pitchFamily="50" charset="-128"/>
                        </a:rPr>
                        <a:t>導入されていることを安全当局に証明する実証</a:t>
                      </a:r>
                      <a:endParaRPr kumimoji="1" lang="ja-JP" altLang="en-US" sz="1200" b="0" i="0" dirty="0">
                        <a:latin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200" b="0" i="0" dirty="0">
                          <a:latin typeface="Meiryo UI" panose="020B0604030504040204" pitchFamily="34" charset="-128"/>
                        </a:rPr>
                        <a:t>検証の信頼性向上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6580321"/>
                  </a:ext>
                </a:extLst>
              </a:tr>
              <a:tr h="370840">
                <a:tc>
                  <a:txBody>
                    <a:bodyPr/>
                    <a:lstStyle/>
                    <a:p>
                      <a:r>
                        <a:rPr kumimoji="1" lang="ja-JP" altLang="en-US" sz="1200" b="0" i="0" dirty="0">
                          <a:latin typeface="Meiryo UI" panose="020B0604030504040204" pitchFamily="34" charset="-128"/>
                        </a:rPr>
                        <a:t>評価</a:t>
                      </a:r>
                      <a:endParaRPr kumimoji="1" lang="en-US" altLang="ja-JP" sz="1200" dirty="0"/>
                    </a:p>
                    <a:p>
                      <a:r>
                        <a:rPr kumimoji="1" lang="ja-JP" altLang="en-US" sz="1200" dirty="0"/>
                        <a:t>対象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Meiryo UI" panose="020B0604030504040204" pitchFamily="50" charset="-128"/>
                          <a:ea typeface="Meiryo UI" panose="020B0604030504040204" pitchFamily="50" charset="-128"/>
                        </a:rPr>
                        <a:t>安全ポリシー、</a:t>
                      </a:r>
                      <a:r>
                        <a:rPr lang="ja-JP" altLang="en-US" sz="1200" b="0">
                          <a:solidFill>
                            <a:schemeClr val="tx1"/>
                          </a:solidFill>
                          <a:latin typeface="Meiryo UI" panose="020B0604030504040204" pitchFamily="50" charset="-128"/>
                          <a:ea typeface="Meiryo UI" panose="020B0604030504040204" pitchFamily="50" charset="-128"/>
                        </a:rPr>
                        <a:t>安全リスク管理プロセス</a:t>
                      </a:r>
                      <a:r>
                        <a:rPr lang="ja-JP" altLang="en-US" sz="1200">
                          <a:latin typeface="Meiryo UI" panose="020B0604030504040204" pitchFamily="50" charset="-128"/>
                          <a:ea typeface="Meiryo UI" panose="020B0604030504040204" pitchFamily="50" charset="-128"/>
                        </a:rPr>
                        <a:t>、</a:t>
                      </a:r>
                      <a:r>
                        <a:rPr lang="ja-JP" altLang="en-US" sz="1200" b="0">
                          <a:solidFill>
                            <a:schemeClr val="tx1"/>
                          </a:solidFill>
                          <a:latin typeface="Meiryo UI" panose="020B0604030504040204" pitchFamily="50" charset="-128"/>
                          <a:ea typeface="Meiryo UI" panose="020B0604030504040204" pitchFamily="50" charset="-128"/>
                        </a:rPr>
                        <a:t>設計と開発のプロセス</a:t>
                      </a:r>
                      <a:r>
                        <a:rPr kumimoji="1" lang="ja-JP" altLang="en-US" sz="1200" b="0">
                          <a:solidFill>
                            <a:schemeClr val="tx1"/>
                          </a:solidFill>
                          <a:latin typeface="Meiryo UI" panose="020B0604030504040204" pitchFamily="50" charset="-128"/>
                          <a:ea typeface="Meiryo UI" panose="020B0604030504040204" pitchFamily="50" charset="-128"/>
                        </a:rPr>
                        <a:t>、</a:t>
                      </a:r>
                      <a:r>
                        <a:rPr lang="ja-JP" altLang="en-US" sz="1200" b="0">
                          <a:solidFill>
                            <a:schemeClr val="tx1"/>
                          </a:solidFill>
                          <a:latin typeface="Meiryo UI" panose="020B0604030504040204" pitchFamily="50" charset="-128"/>
                          <a:ea typeface="Meiryo UI" panose="020B0604030504040204" pitchFamily="50" charset="-128"/>
                        </a:rPr>
                        <a:t>生産と導入のプロセス</a:t>
                      </a:r>
                      <a:endParaRPr kumimoji="1" lang="ja-JP" altLang="en-US" sz="1200" b="0" i="0">
                        <a:solidFill>
                          <a:schemeClr val="tx1"/>
                        </a:solidFill>
                        <a:latin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設計の安全性、</a:t>
                      </a:r>
                      <a:r>
                        <a:rPr lang="en" altLang="ja-JP" sz="1200" dirty="0">
                          <a:latin typeface="Meiryo UI" panose="020B0604030504040204" pitchFamily="50" charset="-128"/>
                          <a:ea typeface="Meiryo UI" panose="020B0604030504040204" pitchFamily="50" charset="-128"/>
                        </a:rPr>
                        <a:t>ODD</a:t>
                      </a:r>
                      <a:r>
                        <a:rPr lang="ja-JP" altLang="en-US" sz="1200" dirty="0">
                          <a:latin typeface="Meiryo UI" panose="020B0604030504040204" pitchFamily="50" charset="-128"/>
                          <a:ea typeface="Meiryo UI" panose="020B0604030504040204" pitchFamily="50" charset="-128"/>
                        </a:rPr>
                        <a:t>、交通シナリオ</a:t>
                      </a:r>
                      <a:endParaRPr kumimoji="1" lang="ja-JP" altLang="en-US" sz="1200" b="0" i="0" dirty="0">
                        <a:latin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latin typeface="Meiryo UI" panose="020B0604030504040204" pitchFamily="34" charset="-128"/>
                        </a:rPr>
                        <a:t>試験</a:t>
                      </a:r>
                      <a:r>
                        <a:rPr kumimoji="1" lang="ja-JP" altLang="en-US" sz="1200" dirty="0"/>
                        <a:t>環境</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t>
                      </a:r>
                      <a:r>
                        <a:rPr kumimoji="1" lang="ja-JP" altLang="en-US" sz="1200" dirty="0"/>
                        <a:t>参考</a:t>
                      </a:r>
                      <a:r>
                        <a:rPr kumimoji="1" lang="en-US" altLang="ja-JP" sz="1200" dirty="0"/>
                        <a:t>]</a:t>
                      </a:r>
                      <a:r>
                        <a:rPr lang="en-US" altLang="ja-JP" sz="1200" dirty="0">
                          <a:latin typeface="Meiryo UI" panose="020B0604030504040204" pitchFamily="50" charset="-128"/>
                          <a:ea typeface="Meiryo UI" panose="020B0604030504040204" pitchFamily="50" charset="-128"/>
                        </a:rPr>
                        <a:t> Annex5</a:t>
                      </a:r>
                      <a:r>
                        <a:rPr lang="ja-JP" altLang="en-US" sz="1200" dirty="0">
                          <a:latin typeface="Meiryo UI" panose="020B0604030504040204" pitchFamily="50" charset="-128"/>
                          <a:ea typeface="Meiryo UI" panose="020B0604030504040204" pitchFamily="50" charset="-128"/>
                        </a:rPr>
                        <a:t>　シュミレーションと信頼性評価</a:t>
                      </a:r>
                      <a:endParaRPr lang="en-US" altLang="ja-JP" sz="1200"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382192"/>
                  </a:ext>
                </a:extLst>
              </a:tr>
            </a:tbl>
          </a:graphicData>
        </a:graphic>
      </p:graphicFrame>
    </p:spTree>
    <p:extLst>
      <p:ext uri="{BB962C8B-B14F-4D97-AF65-F5344CB8AC3E}">
        <p14:creationId xmlns:p14="http://schemas.microsoft.com/office/powerpoint/2010/main" val="3675503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テキスト ボックス 18">
            <a:extLst>
              <a:ext uri="{FF2B5EF4-FFF2-40B4-BE49-F238E27FC236}">
                <a16:creationId xmlns:a16="http://schemas.microsoft.com/office/drawing/2014/main" id="{C2894478-2F87-3AF4-B2D6-C0F685C8E538}"/>
              </a:ext>
            </a:extLst>
          </p:cNvPr>
          <p:cNvSpPr txBox="1"/>
          <p:nvPr/>
        </p:nvSpPr>
        <p:spPr>
          <a:xfrm>
            <a:off x="319404" y="46585"/>
            <a:ext cx="11528188" cy="369332"/>
          </a:xfrm>
          <a:prstGeom prst="rect">
            <a:avLst/>
          </a:prstGeom>
          <a:noFill/>
        </p:spPr>
        <p:txBody>
          <a:bodyPr wrap="square" rtlCol="0">
            <a:spAutoFit/>
          </a:bodyPr>
          <a:lstStyle/>
          <a:p>
            <a:pPr algn="ctr"/>
            <a:r>
              <a:rPr lang="en-US" altLang="ja-JP">
                <a:solidFill>
                  <a:schemeClr val="bg1"/>
                </a:solidFill>
                <a:latin typeface="Meiryo UI" panose="020B0604030504040204" pitchFamily="50" charset="-128"/>
                <a:ea typeface="Meiryo UI" panose="020B0604030504040204" pitchFamily="50" charset="-128"/>
              </a:rPr>
              <a:t>Section 4 </a:t>
            </a:r>
            <a:r>
              <a:rPr lang="en" altLang="ja-JP">
                <a:solidFill>
                  <a:schemeClr val="bg1"/>
                </a:solidFill>
                <a:latin typeface="Meiryo UI" panose="020B0604030504040204" pitchFamily="50" charset="-128"/>
                <a:ea typeface="Meiryo UI" panose="020B0604030504040204" pitchFamily="50" charset="-128"/>
              </a:rPr>
              <a:t>ADS</a:t>
            </a:r>
            <a:r>
              <a:rPr lang="ja-JP" altLang="en-US">
                <a:solidFill>
                  <a:schemeClr val="bg1"/>
                </a:solidFill>
                <a:latin typeface="Meiryo UI" panose="020B0604030504040204" pitchFamily="50" charset="-128"/>
                <a:ea typeface="Meiryo UI" panose="020B0604030504040204" pitchFamily="50" charset="-128"/>
              </a:rPr>
              <a:t>の安全要件、評価と検証の概要</a:t>
            </a:r>
          </a:p>
        </p:txBody>
      </p:sp>
      <p:sp>
        <p:nvSpPr>
          <p:cNvPr id="3" name="テキスト ボックス 2">
            <a:extLst>
              <a:ext uri="{FF2B5EF4-FFF2-40B4-BE49-F238E27FC236}">
                <a16:creationId xmlns:a16="http://schemas.microsoft.com/office/drawing/2014/main" id="{F56EE3DD-C2BB-704D-B42D-D32878111F8F}"/>
              </a:ext>
            </a:extLst>
          </p:cNvPr>
          <p:cNvSpPr txBox="1"/>
          <p:nvPr/>
        </p:nvSpPr>
        <p:spPr>
          <a:xfrm>
            <a:off x="0" y="6416630"/>
            <a:ext cx="12192000" cy="369332"/>
          </a:xfrm>
          <a:prstGeom prst="rect">
            <a:avLst/>
          </a:prstGeom>
          <a:noFill/>
        </p:spPr>
        <p:txBody>
          <a:bodyPr wrap="square" rtlCol="0">
            <a:spAutoFit/>
          </a:bodyPr>
          <a:lstStyle/>
          <a:p>
            <a:pPr algn="ctr"/>
            <a:r>
              <a:rPr lang="en-US" altLang="ja-JP" sz="1800" kern="100" dirty="0">
                <a:latin typeface="Meiryo UI" panose="020B0604030504040204" pitchFamily="50" charset="-128"/>
                <a:ea typeface="Meiryo UI" panose="020B0604030504040204" pitchFamily="50" charset="-128"/>
                <a:cs typeface="Times New Roman" panose="02020603050405020304" pitchFamily="18" charset="0"/>
              </a:rPr>
              <a:t>ODD</a:t>
            </a:r>
            <a:r>
              <a:rPr lang="ja-JP" altLang="en-US" sz="1800" kern="100" dirty="0">
                <a:latin typeface="Meiryo UI" panose="020B0604030504040204" pitchFamily="50" charset="-128"/>
                <a:ea typeface="Meiryo UI" panose="020B0604030504040204" pitchFamily="50" charset="-128"/>
                <a:cs typeface="Times New Roman" panose="02020603050405020304" pitchFamily="18" charset="0"/>
              </a:rPr>
              <a:t>枠組み：</a:t>
            </a:r>
            <a:r>
              <a:rPr lang="en-US" altLang="ja-JP" sz="1800" kern="100" dirty="0">
                <a:latin typeface="Meiryo UI" panose="020B0604030504040204" pitchFamily="50" charset="-128"/>
                <a:ea typeface="Meiryo UI" panose="020B0604030504040204" pitchFamily="50" charset="-128"/>
                <a:cs typeface="Times New Roman" panose="02020603050405020304" pitchFamily="18" charset="0"/>
              </a:rPr>
              <a:t>ODD</a:t>
            </a:r>
            <a:r>
              <a:rPr lang="ja-JP" altLang="en-US" sz="1800" kern="100" dirty="0">
                <a:latin typeface="Meiryo UI" panose="020B0604030504040204" pitchFamily="50" charset="-128"/>
                <a:ea typeface="Meiryo UI" panose="020B0604030504040204" pitchFamily="50" charset="-128"/>
                <a:cs typeface="Times New Roman" panose="02020603050405020304" pitchFamily="18" charset="0"/>
              </a:rPr>
              <a:t>を分析してシナリオとその動作性能を定義</a:t>
            </a:r>
            <a:r>
              <a:rPr lang="ja-JP" altLang="en-US" kern="100" dirty="0">
                <a:latin typeface="Meiryo UI" panose="020B0604030504040204" pitchFamily="50" charset="-128"/>
                <a:ea typeface="Meiryo UI" panose="020B0604030504040204" pitchFamily="50" charset="-128"/>
                <a:cs typeface="Times New Roman" panose="02020603050405020304" pitchFamily="18" charset="0"/>
              </a:rPr>
              <a:t>　</a:t>
            </a:r>
            <a:r>
              <a:rPr lang="en-US" altLang="ja-JP" sz="1800" dirty="0">
                <a:solidFill>
                  <a:schemeClr val="tx1"/>
                </a:solidFill>
                <a:latin typeface="Meiryo UI" panose="020B0604030504040204" pitchFamily="34" charset="-128"/>
                <a:ea typeface="Meiryo UI" panose="020B0604030504040204" pitchFamily="34" charset="-128"/>
              </a:rPr>
              <a:t>ISMR</a:t>
            </a:r>
            <a:r>
              <a:rPr lang="ja-JP" altLang="en-US" sz="1800" dirty="0">
                <a:solidFill>
                  <a:schemeClr val="tx1"/>
                </a:solidFill>
                <a:latin typeface="Meiryo UI" panose="020B0604030504040204" pitchFamily="34" charset="-128"/>
                <a:ea typeface="Meiryo UI" panose="020B0604030504040204" pitchFamily="34" charset="-128"/>
              </a:rPr>
              <a:t>：</a:t>
            </a:r>
            <a:r>
              <a:rPr lang="ja-JP" altLang="en-US" dirty="0">
                <a:latin typeface="Meiryo UI" panose="020B0604030504040204" pitchFamily="50" charset="-128"/>
                <a:ea typeface="Meiryo UI" panose="020B0604030504040204" pitchFamily="50" charset="-128"/>
              </a:rPr>
              <a:t>市場導入後の</a:t>
            </a:r>
            <a:r>
              <a:rPr lang="en-US" altLang="ja-JP" dirty="0">
                <a:latin typeface="Meiryo UI" panose="020B0604030504040204" pitchFamily="50" charset="-128"/>
                <a:ea typeface="Meiryo UI" panose="020B0604030504040204" pitchFamily="50" charset="-128"/>
              </a:rPr>
              <a:t>ADS</a:t>
            </a:r>
            <a:r>
              <a:rPr lang="ja-JP" altLang="en-US" dirty="0">
                <a:latin typeface="Meiryo UI" panose="020B0604030504040204" pitchFamily="50" charset="-128"/>
                <a:ea typeface="Meiryo UI" panose="020B0604030504040204" pitchFamily="50" charset="-128"/>
              </a:rPr>
              <a:t>の継続的な評価と改善</a:t>
            </a:r>
            <a:endParaRPr lang="en-US" altLang="ja-JP" dirty="0">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9C57551F-A416-3261-A07F-81B4B1C21A32}"/>
              </a:ext>
            </a:extLst>
          </p:cNvPr>
          <p:cNvSpPr txBox="1"/>
          <p:nvPr/>
        </p:nvSpPr>
        <p:spPr>
          <a:xfrm>
            <a:off x="159497" y="3650912"/>
            <a:ext cx="5936503" cy="492443"/>
          </a:xfrm>
          <a:prstGeom prst="rect">
            <a:avLst/>
          </a:prstGeom>
          <a:noFill/>
        </p:spPr>
        <p:txBody>
          <a:bodyPr wrap="square" rtlCol="0">
            <a:spAutoFit/>
          </a:bodyPr>
          <a:lstStyle/>
          <a:p>
            <a:r>
              <a:rPr lang="ja-JP" altLang="en-US"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rPr>
              <a:t>4.2.4 </a:t>
            </a:r>
            <a:r>
              <a:rPr lang="ja-JP" altLang="en-US" sz="1400">
                <a:solidFill>
                  <a:schemeClr val="tx1"/>
                </a:solidFill>
                <a:latin typeface="Meiryo UI" panose="020B0604030504040204" pitchFamily="50" charset="-128"/>
                <a:ea typeface="Meiryo UI" panose="020B0604030504040204" pitchFamily="50" charset="-128"/>
              </a:rPr>
              <a:t>使用中の監視と報告</a:t>
            </a:r>
            <a:r>
              <a:rPr lang="en-US" altLang="ja-JP" sz="1400">
                <a:solidFill>
                  <a:schemeClr val="tx1"/>
                </a:solidFill>
                <a:latin typeface="Meiryo UI" panose="020B0604030504040204" pitchFamily="50" charset="-128"/>
                <a:ea typeface="Meiryo UI" panose="020B0604030504040204" pitchFamily="50" charset="-128"/>
              </a:rPr>
              <a:t>(ISMR)</a:t>
            </a:r>
            <a:endParaRPr lang="en-US" altLang="ja-JP" sz="1400">
              <a:latin typeface="Meiryo UI" panose="020B0604030504040204" pitchFamily="50" charset="-128"/>
              <a:ea typeface="Meiryo UI" panose="020B0604030504040204" pitchFamily="50" charset="-128"/>
            </a:endParaRPr>
          </a:p>
          <a:p>
            <a:r>
              <a:rPr lang="ja-JP" altLang="en-US" sz="1200">
                <a:latin typeface="Meiryo UI" panose="020B0604030504040204" pitchFamily="50" charset="-128"/>
                <a:ea typeface="Meiryo UI" panose="020B0604030504040204" pitchFamily="50" charset="-128"/>
              </a:rPr>
              <a:t>　　市場導入後の</a:t>
            </a:r>
            <a:r>
              <a:rPr lang="en" altLang="ja-JP" sz="1200">
                <a:latin typeface="Meiryo UI" panose="020B0604030504040204" pitchFamily="50" charset="-128"/>
                <a:ea typeface="Meiryo UI" panose="020B0604030504040204" pitchFamily="50" charset="-128"/>
              </a:rPr>
              <a:t>ADS</a:t>
            </a:r>
            <a:r>
              <a:rPr lang="ja-JP" altLang="en-US" sz="1200">
                <a:latin typeface="Meiryo UI" panose="020B0604030504040204" pitchFamily="50" charset="-128"/>
                <a:ea typeface="Meiryo UI" panose="020B0604030504040204" pitchFamily="50" charset="-128"/>
              </a:rPr>
              <a:t>性能を評価し、安全リスクに対する改善を行う</a:t>
            </a:r>
            <a:endParaRPr lang="en-US" altLang="ja-JP" sz="1200">
              <a:latin typeface="Meiryo UI" panose="020B0604030504040204" pitchFamily="50" charset="-128"/>
              <a:ea typeface="Meiryo UI" panose="020B0604030504040204" pitchFamily="50" charset="-128"/>
            </a:endParaRPr>
          </a:p>
        </p:txBody>
      </p:sp>
      <p:graphicFrame>
        <p:nvGraphicFramePr>
          <p:cNvPr id="7" name="表 6">
            <a:extLst>
              <a:ext uri="{FF2B5EF4-FFF2-40B4-BE49-F238E27FC236}">
                <a16:creationId xmlns:a16="http://schemas.microsoft.com/office/drawing/2014/main" id="{67884594-27FF-9BB4-28F6-24EF51EB6317}"/>
              </a:ext>
            </a:extLst>
          </p:cNvPr>
          <p:cNvGraphicFramePr>
            <a:graphicFrameLocks noGrp="1"/>
          </p:cNvGraphicFramePr>
          <p:nvPr>
            <p:extLst>
              <p:ext uri="{D42A27DB-BD31-4B8C-83A1-F6EECF244321}">
                <p14:modId xmlns:p14="http://schemas.microsoft.com/office/powerpoint/2010/main" val="1090962864"/>
              </p:ext>
            </p:extLst>
          </p:nvPr>
        </p:nvGraphicFramePr>
        <p:xfrm>
          <a:off x="319404" y="4207983"/>
          <a:ext cx="11358245" cy="2059975"/>
        </p:xfrm>
        <a:graphic>
          <a:graphicData uri="http://schemas.openxmlformats.org/drawingml/2006/table">
            <a:tbl>
              <a:tblPr firstRow="1" bandRow="1">
                <a:tableStyleId>{5C22544A-7EE6-4342-B048-85BDC9FD1C3A}</a:tableStyleId>
              </a:tblPr>
              <a:tblGrid>
                <a:gridCol w="743485">
                  <a:extLst>
                    <a:ext uri="{9D8B030D-6E8A-4147-A177-3AD203B41FA5}">
                      <a16:colId xmlns:a16="http://schemas.microsoft.com/office/drawing/2014/main" val="1397472351"/>
                    </a:ext>
                  </a:extLst>
                </a:gridCol>
                <a:gridCol w="4873755">
                  <a:extLst>
                    <a:ext uri="{9D8B030D-6E8A-4147-A177-3AD203B41FA5}">
                      <a16:colId xmlns:a16="http://schemas.microsoft.com/office/drawing/2014/main" val="3802692826"/>
                    </a:ext>
                  </a:extLst>
                </a:gridCol>
                <a:gridCol w="5741005">
                  <a:extLst>
                    <a:ext uri="{9D8B030D-6E8A-4147-A177-3AD203B41FA5}">
                      <a16:colId xmlns:a16="http://schemas.microsoft.com/office/drawing/2014/main" val="3020632202"/>
                    </a:ext>
                  </a:extLst>
                </a:gridCol>
              </a:tblGrid>
              <a:tr h="549518">
                <a:tc>
                  <a:txBody>
                    <a:bodyPr/>
                    <a:lstStyle/>
                    <a:p>
                      <a:endParaRPr kumimoji="1" lang="ja-JP" alt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a:solidFill>
                            <a:schemeClr val="bg1"/>
                          </a:solidFill>
                        </a:rPr>
                        <a:t>監視</a:t>
                      </a:r>
                    </a:p>
                    <a:p>
                      <a:endParaRPr lang="ja-JP" alt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a:solidFill>
                            <a:schemeClr val="bg1"/>
                          </a:solidFill>
                        </a:rPr>
                        <a:t>報告</a:t>
                      </a:r>
                    </a:p>
                    <a:p>
                      <a:endParaRPr lang="ja-JP" alt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233854658"/>
                  </a:ext>
                </a:extLst>
              </a:tr>
              <a:tr h="543920">
                <a:tc>
                  <a:txBody>
                    <a:bodyPr/>
                    <a:lstStyle/>
                    <a:p>
                      <a:r>
                        <a:rPr kumimoji="1" lang="ja-JP" altLang="en-US" sz="1200" b="0">
                          <a:solidFill>
                            <a:schemeClr val="tx1"/>
                          </a:solidFill>
                        </a:rPr>
                        <a:t>目的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solidFill>
                            <a:sysClr val="windowText" lastClr="000000"/>
                          </a:solidFill>
                        </a:rPr>
                        <a:t>新たなリスク傾向、実証された動作性能と矛盾する動作を特定し、安全性の継続的検証を実施すること</a:t>
                      </a:r>
                      <a:endParaRPr lang="ja-JP"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dirty="0"/>
                        <a:t>安全上の懸念に対処する是正措置の着実な実施と、新しい交通シナリオの追加を含む検証の改善すること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409989"/>
                  </a:ext>
                </a:extLst>
              </a:tr>
              <a:tr h="3264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rPr>
                        <a:t>手段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監視プログラムによる使用中のデータ収集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dirty="0">
                          <a:latin typeface="Meiryo UI" panose="020B0604030504040204" pitchFamily="50" charset="-128"/>
                          <a:ea typeface="Meiryo UI" panose="020B0604030504040204" pitchFamily="50" charset="-128"/>
                        </a:rPr>
                        <a:t>特定された安全関連の懸念事項を</a:t>
                      </a:r>
                      <a:r>
                        <a:rPr lang="ja-JP" altLang="en-US" sz="1200" dirty="0"/>
                        <a:t>安全当局へ報告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8826337"/>
                  </a:ext>
                </a:extLst>
              </a:tr>
              <a:tr h="3264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latin typeface="Meiryo UI" panose="020B0604030504040204" pitchFamily="50" charset="-128"/>
                          <a:ea typeface="Meiryo UI" panose="020B0604030504040204" pitchFamily="50" charset="-128"/>
                        </a:rPr>
                        <a:t>参考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Meiryo UI" panose="020B0604030504040204" pitchFamily="50" charset="-128"/>
                          <a:ea typeface="Meiryo UI" panose="020B0604030504040204" pitchFamily="50" charset="-128"/>
                        </a:rPr>
                        <a:t>Annex7 </a:t>
                      </a:r>
                      <a:r>
                        <a:rPr lang="en" altLang="ja-JP" sz="1200" dirty="0"/>
                        <a:t>ISMR</a:t>
                      </a:r>
                      <a:r>
                        <a:rPr lang="ja-JP" altLang="en-US" sz="1200" dirty="0"/>
                        <a:t>と安全要件のマトリクス</a:t>
                      </a:r>
                      <a:r>
                        <a:rPr lang="en-US" altLang="ja-JP" sz="1200" dirty="0">
                          <a:latin typeface="+mn-lt"/>
                          <a:ea typeface="+mn-ea"/>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Meiryo UI" panose="020B0604030504040204" pitchFamily="50" charset="-128"/>
                          <a:ea typeface="Meiryo UI" panose="020B0604030504040204" pitchFamily="50" charset="-128"/>
                        </a:rPr>
                        <a:t>Annex8</a:t>
                      </a:r>
                      <a:r>
                        <a:rPr lang="ja-JP" altLang="en-US" sz="1200" dirty="0">
                          <a:latin typeface="Meiryo UI" panose="020B0604030504040204" pitchFamily="50" charset="-128"/>
                          <a:ea typeface="Meiryo UI" panose="020B0604030504040204" pitchFamily="50" charset="-128"/>
                        </a:rPr>
                        <a:t> </a:t>
                      </a:r>
                      <a:r>
                        <a:rPr lang="en" altLang="ja-JP" sz="1200" dirty="0"/>
                        <a:t>ISMR</a:t>
                      </a:r>
                      <a:r>
                        <a:rPr lang="ja-JP" altLang="en-US" sz="1200" dirty="0"/>
                        <a:t>報告テンプレート</a:t>
                      </a:r>
                      <a:endParaRPr lang="en-US" altLang="ja-JP" sz="1200"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Meiryo UI" panose="020B0604030504040204" pitchFamily="50" charset="-128"/>
                          <a:ea typeface="Meiryo UI" panose="020B0604030504040204" pitchFamily="50" charset="-128"/>
                        </a:rPr>
                        <a:t>Annex9 </a:t>
                      </a:r>
                      <a:r>
                        <a:rPr lang="ja-JP" altLang="en-US" sz="1200" dirty="0"/>
                        <a:t>使用中の監視を効果的に実施するための推奨事項</a:t>
                      </a:r>
                      <a:endParaRPr lang="en-US" altLang="ja-JP"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r>
                        <a:rPr lang="en-US" altLang="ja-JP" sz="1200" dirty="0"/>
                        <a:t>Annex7</a:t>
                      </a:r>
                      <a:r>
                        <a:rPr lang="ja-JP" altLang="en-US" sz="1200" dirty="0"/>
                        <a:t>、</a:t>
                      </a:r>
                      <a:r>
                        <a:rPr lang="en-US" altLang="ja-JP" sz="1200" dirty="0"/>
                        <a:t>Annex8</a:t>
                      </a:r>
                      <a:r>
                        <a:rPr lang="ja-JP" altLang="en-US" sz="1200" dirty="0"/>
                        <a:t>、</a:t>
                      </a:r>
                      <a:r>
                        <a:rPr lang="en-US" altLang="ja-JP" sz="1200" dirty="0"/>
                        <a:t>Annex9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5670178"/>
                  </a:ext>
                </a:extLst>
              </a:tr>
            </a:tbl>
          </a:graphicData>
        </a:graphic>
      </p:graphicFrame>
      <p:graphicFrame>
        <p:nvGraphicFramePr>
          <p:cNvPr id="4" name="表 3">
            <a:extLst>
              <a:ext uri="{FF2B5EF4-FFF2-40B4-BE49-F238E27FC236}">
                <a16:creationId xmlns:a16="http://schemas.microsoft.com/office/drawing/2014/main" id="{84E9FD42-9D20-51C9-BFD0-93120B7FB0E9}"/>
              </a:ext>
            </a:extLst>
          </p:cNvPr>
          <p:cNvGraphicFramePr>
            <a:graphicFrameLocks noGrp="1"/>
          </p:cNvGraphicFramePr>
          <p:nvPr>
            <p:extLst>
              <p:ext uri="{D42A27DB-BD31-4B8C-83A1-F6EECF244321}">
                <p14:modId xmlns:p14="http://schemas.microsoft.com/office/powerpoint/2010/main" val="479375097"/>
              </p:ext>
            </p:extLst>
          </p:nvPr>
        </p:nvGraphicFramePr>
        <p:xfrm>
          <a:off x="319404" y="1322735"/>
          <a:ext cx="11358245" cy="2249140"/>
        </p:xfrm>
        <a:graphic>
          <a:graphicData uri="http://schemas.openxmlformats.org/drawingml/2006/table">
            <a:tbl>
              <a:tblPr firstRow="1" bandRow="1">
                <a:tableStyleId>{5C22544A-7EE6-4342-B048-85BDC9FD1C3A}</a:tableStyleId>
              </a:tblPr>
              <a:tblGrid>
                <a:gridCol w="320031">
                  <a:extLst>
                    <a:ext uri="{9D8B030D-6E8A-4147-A177-3AD203B41FA5}">
                      <a16:colId xmlns:a16="http://schemas.microsoft.com/office/drawing/2014/main" val="1221790991"/>
                    </a:ext>
                  </a:extLst>
                </a:gridCol>
                <a:gridCol w="2504670">
                  <a:extLst>
                    <a:ext uri="{9D8B030D-6E8A-4147-A177-3AD203B41FA5}">
                      <a16:colId xmlns:a16="http://schemas.microsoft.com/office/drawing/2014/main" val="1431495114"/>
                    </a:ext>
                  </a:extLst>
                </a:gridCol>
                <a:gridCol w="2504670">
                  <a:extLst>
                    <a:ext uri="{9D8B030D-6E8A-4147-A177-3AD203B41FA5}">
                      <a16:colId xmlns:a16="http://schemas.microsoft.com/office/drawing/2014/main" val="1826693444"/>
                    </a:ext>
                  </a:extLst>
                </a:gridCol>
                <a:gridCol w="2888134">
                  <a:extLst>
                    <a:ext uri="{9D8B030D-6E8A-4147-A177-3AD203B41FA5}">
                      <a16:colId xmlns:a16="http://schemas.microsoft.com/office/drawing/2014/main" val="464626213"/>
                    </a:ext>
                  </a:extLst>
                </a:gridCol>
                <a:gridCol w="3140740">
                  <a:extLst>
                    <a:ext uri="{9D8B030D-6E8A-4147-A177-3AD203B41FA5}">
                      <a16:colId xmlns:a16="http://schemas.microsoft.com/office/drawing/2014/main" val="3382387889"/>
                    </a:ext>
                  </a:extLst>
                </a:gridCol>
              </a:tblGrid>
              <a:tr h="520578">
                <a:tc>
                  <a:txBody>
                    <a:bodyPr/>
                    <a:lstStyle/>
                    <a:p>
                      <a:pPr algn="l"/>
                      <a:endParaRPr kumimoji="1" lang="en-US" altLang="ja-JP" sz="1200" b="0">
                        <a:solidFill>
                          <a:schemeClr val="tx1"/>
                        </a:solidFill>
                      </a:endParaRPr>
                    </a:p>
                  </a:txBody>
                  <a:tcPr marL="11880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ja-JP" sz="1200" b="1" i="0" u="none" strike="noStrike">
                          <a:solidFill>
                            <a:schemeClr val="bg1"/>
                          </a:solidFill>
                          <a:effectLst/>
                          <a:latin typeface="Meiryo UI" panose="020B0604030504040204" pitchFamily="34" charset="-128"/>
                          <a:ea typeface="Meiryo UI" panose="020B0604030504040204" pitchFamily="34" charset="-128"/>
                        </a:rPr>
                        <a:t>ODD(</a:t>
                      </a:r>
                      <a:r>
                        <a:rPr lang="ja-JP" altLang="en-US" sz="1200" b="1" i="0" u="none" strike="noStrike">
                          <a:solidFill>
                            <a:schemeClr val="bg1"/>
                          </a:solidFill>
                          <a:effectLst/>
                          <a:latin typeface="Meiryo UI" panose="020B0604030504040204" pitchFamily="34" charset="-128"/>
                          <a:ea typeface="Meiryo UI" panose="020B0604030504040204" pitchFamily="34" charset="-128"/>
                        </a:rPr>
                        <a:t>運行設計領域</a:t>
                      </a:r>
                      <a:r>
                        <a:rPr lang="en-US" altLang="ja-JP" sz="1200" b="1" i="0" u="none" strike="noStrike">
                          <a:solidFill>
                            <a:schemeClr val="bg1"/>
                          </a:solidFill>
                          <a:effectLst/>
                          <a:latin typeface="Meiryo UI" panose="020B0604030504040204" pitchFamily="34" charset="-128"/>
                          <a:ea typeface="Meiryo UI" panose="020B0604030504040204" pitchFamily="34" charset="-128"/>
                        </a:rPr>
                        <a:t>)</a:t>
                      </a:r>
                    </a:p>
                  </a:txBody>
                  <a:tcPr marL="1188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ja-JP" altLang="en-US" sz="1200" b="1" i="0" u="none" strike="noStrike">
                          <a:solidFill>
                            <a:schemeClr val="bg1"/>
                          </a:solidFill>
                          <a:effectLst/>
                          <a:latin typeface="Meiryo UI" panose="020B0604030504040204" pitchFamily="34" charset="-128"/>
                          <a:ea typeface="Meiryo UI" panose="020B0604030504040204" pitchFamily="34" charset="-128"/>
                        </a:rPr>
                        <a:t>シナリオ生成アプローチ</a:t>
                      </a:r>
                      <a:endParaRPr lang="en-US" altLang="ja-JP" sz="1200" b="1" i="0" u="none" strike="noStrike">
                        <a:solidFill>
                          <a:schemeClr val="bg1"/>
                        </a:solidFill>
                        <a:effectLst/>
                        <a:latin typeface="Meiryo UI" panose="020B0604030504040204" pitchFamily="34" charset="-128"/>
                        <a:ea typeface="Meiryo UI" panose="020B0604030504040204" pitchFamily="34" charset="-128"/>
                      </a:endParaRPr>
                    </a:p>
                  </a:txBody>
                  <a:tcPr marL="1188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ja-JP" altLang="en-US" sz="1200" b="1" i="0" u="none" strike="noStrike">
                          <a:solidFill>
                            <a:schemeClr val="bg1"/>
                          </a:solidFill>
                          <a:effectLst/>
                          <a:latin typeface="Meiryo UI" panose="020B0604030504040204" pitchFamily="34" charset="-128"/>
                          <a:ea typeface="Meiryo UI" panose="020B0604030504040204" pitchFamily="34" charset="-128"/>
                        </a:rPr>
                        <a:t>動作性能</a:t>
                      </a:r>
                      <a:endParaRPr lang="en-US" altLang="ja-JP" sz="1200" b="1" i="0" u="none" strike="noStrike">
                        <a:solidFill>
                          <a:schemeClr val="bg1"/>
                        </a:solidFill>
                        <a:effectLst/>
                        <a:latin typeface="Meiryo UI" panose="020B0604030504040204" pitchFamily="34" charset="-128"/>
                        <a:ea typeface="Meiryo UI" panose="020B0604030504040204" pitchFamily="34" charset="-128"/>
                      </a:endParaRPr>
                    </a:p>
                  </a:txBody>
                  <a:tcPr marL="1188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ja-JP" altLang="en-US" sz="1200" b="1" i="0" u="none" strike="noStrike">
                          <a:solidFill>
                            <a:schemeClr val="bg1"/>
                          </a:solidFill>
                          <a:effectLst/>
                          <a:latin typeface="Meiryo UI" panose="020B0604030504040204" pitchFamily="34" charset="-128"/>
                          <a:ea typeface="Meiryo UI" panose="020B0604030504040204" pitchFamily="34" charset="-128"/>
                        </a:rPr>
                        <a:t>シナリオ</a:t>
                      </a:r>
                      <a:endParaRPr lang="en-US" altLang="ja-JP" sz="1200" b="1" i="0" u="none" strike="noStrike">
                        <a:solidFill>
                          <a:schemeClr val="bg1"/>
                        </a:solidFill>
                        <a:effectLst/>
                        <a:latin typeface="Meiryo UI" panose="020B0604030504040204" pitchFamily="34" charset="-128"/>
                        <a:ea typeface="Meiryo UI" panose="020B0604030504040204" pitchFamily="34" charset="-128"/>
                      </a:endParaRPr>
                    </a:p>
                  </a:txBody>
                  <a:tcPr marL="1188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4019980094"/>
                  </a:ext>
                </a:extLst>
              </a:tr>
              <a:tr h="1252312">
                <a:tc>
                  <a:txBody>
                    <a:bodyPr/>
                    <a:lstStyle/>
                    <a:p>
                      <a:pPr algn="ctr"/>
                      <a:r>
                        <a:rPr kumimoji="1" lang="ja-JP" altLang="en-US" sz="1200" b="0">
                          <a:solidFill>
                            <a:schemeClr val="tx1"/>
                          </a:solidFill>
                        </a:rPr>
                        <a:t>目的</a:t>
                      </a:r>
                      <a:endParaRPr kumimoji="1" lang="en-US" altLang="ja-JP" sz="1200" b="0">
                        <a:solidFill>
                          <a:schemeClr val="tx1"/>
                        </a:solidFill>
                      </a:endParaRPr>
                    </a:p>
                  </a:txBody>
                  <a:tcPr marL="11880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defRPr/>
                      </a:pPr>
                      <a:r>
                        <a:rPr lang="ja-JP" altLang="en-US" sz="1200" u="none">
                          <a:solidFill>
                            <a:schemeClr val="tx1"/>
                          </a:solidFill>
                          <a:latin typeface="Meiryo UI" panose="020B0604030504040204" pitchFamily="50" charset="-128"/>
                          <a:ea typeface="Meiryo UI" panose="020B0604030504040204" pitchFamily="50" charset="-128"/>
                        </a:rPr>
                        <a:t>自動運転システムが機能するように設計された動作条件を定義すること</a:t>
                      </a:r>
                      <a:endParaRPr lang="en-US" altLang="ja-JP" sz="1200" u="none">
                        <a:solidFill>
                          <a:schemeClr val="tx1"/>
                        </a:solidFill>
                        <a:latin typeface="Meiryo UI" panose="020B0604030504040204" pitchFamily="50" charset="-128"/>
                        <a:ea typeface="Meiryo UI" panose="020B0604030504040204" pitchFamily="50" charset="-128"/>
                      </a:endParaRPr>
                    </a:p>
                  </a:txBody>
                  <a:tcPr marL="1188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defRPr/>
                      </a:pPr>
                      <a:r>
                        <a:rPr lang="ja-JP" altLang="en-US" sz="1200" u="none">
                          <a:solidFill>
                            <a:schemeClr val="tx1"/>
                          </a:solidFill>
                          <a:latin typeface="Meiryo UI" panose="020B0604030504040204" pitchFamily="50" charset="-128"/>
                          <a:ea typeface="Meiryo UI" panose="020B0604030504040204" pitchFamily="50" charset="-128"/>
                        </a:rPr>
                        <a:t>すべての</a:t>
                      </a:r>
                      <a:r>
                        <a:rPr lang="en-US" altLang="ja-JP" sz="1200" u="none">
                          <a:solidFill>
                            <a:schemeClr val="tx1"/>
                          </a:solidFill>
                          <a:latin typeface="Meiryo UI" panose="020B0604030504040204" pitchFamily="50" charset="-128"/>
                          <a:ea typeface="Meiryo UI" panose="020B0604030504040204" pitchFamily="50" charset="-128"/>
                        </a:rPr>
                        <a:t>ODD</a:t>
                      </a:r>
                      <a:r>
                        <a:rPr lang="ja-JP" altLang="en-US" sz="1200" u="none">
                          <a:solidFill>
                            <a:schemeClr val="tx1"/>
                          </a:solidFill>
                          <a:latin typeface="Meiryo UI" panose="020B0604030504040204" pitchFamily="50" charset="-128"/>
                          <a:ea typeface="Meiryo UI" panose="020B0604030504040204" pitchFamily="50" charset="-128"/>
                        </a:rPr>
                        <a:t>をカバーすること</a:t>
                      </a:r>
                      <a:endParaRPr lang="en-US" altLang="ja-JP" sz="1200" u="none">
                        <a:solidFill>
                          <a:schemeClr val="tx1"/>
                        </a:solidFill>
                        <a:latin typeface="Meiryo UI" panose="020B0604030504040204" pitchFamily="50" charset="-128"/>
                        <a:ea typeface="Meiryo UI" panose="020B0604030504040204" pitchFamily="50" charset="-128"/>
                      </a:endParaRPr>
                    </a:p>
                  </a:txBody>
                  <a:tcPr marL="1188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defRPr/>
                      </a:pPr>
                      <a:r>
                        <a:rPr lang="ja-JP" altLang="en-US" sz="1200" u="none">
                          <a:latin typeface="Meiryo UI" panose="020B0604030504040204" pitchFamily="50" charset="-128"/>
                          <a:ea typeface="Meiryo UI" panose="020B0604030504040204" pitchFamily="50" charset="-128"/>
                        </a:rPr>
                        <a:t>安全要件に準拠する</a:t>
                      </a:r>
                      <a:r>
                        <a:rPr lang="en" altLang="ja-JP" sz="1200" u="none">
                          <a:latin typeface="Meiryo UI" panose="020B0604030504040204" pitchFamily="50" charset="-128"/>
                          <a:ea typeface="Meiryo UI" panose="020B0604030504040204" pitchFamily="50" charset="-128"/>
                        </a:rPr>
                        <a:t>ADS</a:t>
                      </a:r>
                      <a:r>
                        <a:rPr lang="ja-JP" altLang="en-US" sz="1200" u="none">
                          <a:latin typeface="Meiryo UI" panose="020B0604030504040204" pitchFamily="50" charset="-128"/>
                          <a:ea typeface="Meiryo UI" panose="020B0604030504040204" pitchFamily="50" charset="-128"/>
                        </a:rPr>
                        <a:t>応答を定義して</a:t>
                      </a:r>
                      <a:r>
                        <a:rPr lang="en-US" altLang="ja-JP" sz="1200" u="none">
                          <a:latin typeface="Meiryo UI" panose="020B0604030504040204" pitchFamily="50" charset="-128"/>
                          <a:ea typeface="Meiryo UI" panose="020B0604030504040204" pitchFamily="50" charset="-128"/>
                        </a:rPr>
                        <a:t>ADS</a:t>
                      </a:r>
                      <a:r>
                        <a:rPr lang="ja-JP" altLang="en-US" sz="1200" u="none">
                          <a:latin typeface="Meiryo UI" panose="020B0604030504040204" pitchFamily="50" charset="-128"/>
                          <a:ea typeface="Meiryo UI" panose="020B0604030504040204" pitchFamily="50" charset="-128"/>
                        </a:rPr>
                        <a:t>評価を可能にすること</a:t>
                      </a:r>
                      <a:endParaRPr lang="en-US" altLang="ja-JP" sz="1200" u="none">
                        <a:latin typeface="Meiryo UI" panose="020B0604030504040204" pitchFamily="50" charset="-128"/>
                        <a:ea typeface="Meiryo UI" panose="020B0604030504040204" pitchFamily="50" charset="-128"/>
                      </a:endParaRPr>
                    </a:p>
                  </a:txBody>
                  <a:tcPr marL="1188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defRPr/>
                      </a:pPr>
                      <a:r>
                        <a:rPr lang="ja-JP" altLang="en-US" sz="1200" u="none">
                          <a:latin typeface="Meiryo UI" panose="020B0604030504040204" pitchFamily="50" charset="-128"/>
                          <a:ea typeface="Meiryo UI" panose="020B0604030504040204" pitchFamily="50" charset="-128"/>
                        </a:rPr>
                        <a:t>シナリオ生成アプローチにより網羅的に運転状況を定義して</a:t>
                      </a:r>
                      <a:r>
                        <a:rPr lang="en-US" altLang="ja-JP" sz="1200" u="none">
                          <a:latin typeface="Meiryo UI" panose="020B0604030504040204" pitchFamily="50" charset="-128"/>
                          <a:ea typeface="Meiryo UI" panose="020B0604030504040204" pitchFamily="50" charset="-128"/>
                        </a:rPr>
                        <a:t>ADS</a:t>
                      </a:r>
                      <a:r>
                        <a:rPr lang="ja-JP" altLang="en-US" sz="1200" u="none">
                          <a:latin typeface="Meiryo UI" panose="020B0604030504040204" pitchFamily="50" charset="-128"/>
                          <a:ea typeface="Meiryo UI" panose="020B0604030504040204" pitchFamily="50" charset="-128"/>
                        </a:rPr>
                        <a:t>評価を可能にすること</a:t>
                      </a:r>
                      <a:endParaRPr lang="en-US" altLang="ja-JP" sz="1200" u="none">
                        <a:latin typeface="Meiryo UI" panose="020B0604030504040204" pitchFamily="50" charset="-128"/>
                        <a:ea typeface="Meiryo UI" panose="020B0604030504040204" pitchFamily="50" charset="-128"/>
                      </a:endParaRPr>
                    </a:p>
                  </a:txBody>
                  <a:tcPr marL="1188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0971855"/>
                  </a:ext>
                </a:extLst>
              </a:tr>
              <a:tr h="476250">
                <a:tc>
                  <a:txBody>
                    <a:bodyPr/>
                    <a:lstStyle/>
                    <a:p>
                      <a:pPr algn="ctr"/>
                      <a:r>
                        <a:rPr kumimoji="1" lang="ja-JP" altLang="en-US" sz="1200">
                          <a:solidFill>
                            <a:schemeClr val="tx1"/>
                          </a:solidFill>
                        </a:rPr>
                        <a:t>参考</a:t>
                      </a:r>
                      <a:endParaRPr kumimoji="1" lang="en-US" altLang="ja-JP" sz="1200">
                        <a:solidFill>
                          <a:schemeClr val="tx1"/>
                        </a:solidFill>
                      </a:endParaRPr>
                    </a:p>
                  </a:txBody>
                  <a:tcPr marL="11880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200" dirty="0">
                          <a:latin typeface="Meiryo UI" panose="020B0604030504040204" pitchFamily="50" charset="-128"/>
                          <a:ea typeface="Meiryo UI" panose="020B0604030504040204" pitchFamily="50" charset="-128"/>
                        </a:rPr>
                        <a:t>Annex3</a:t>
                      </a:r>
                      <a:r>
                        <a:rPr lang="ja-JP" altLang="en-US" sz="1200" dirty="0">
                          <a:latin typeface="Meiryo UI" panose="020B0604030504040204" pitchFamily="50" charset="-128"/>
                          <a:ea typeface="Meiryo UI" panose="020B0604030504040204" pitchFamily="50" charset="-128"/>
                        </a:rPr>
                        <a:t>　検証可能な性能基準を導くアプローチ</a:t>
                      </a:r>
                    </a:p>
                  </a:txBody>
                  <a:tcPr marL="1188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1188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1188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200" dirty="0">
                          <a:latin typeface="Meiryo UI" panose="020B0604030504040204" pitchFamily="50" charset="-128"/>
                          <a:ea typeface="Meiryo UI" panose="020B0604030504040204" pitchFamily="50" charset="-128"/>
                        </a:rPr>
                        <a:t>Annex4</a:t>
                      </a:r>
                      <a:r>
                        <a:rPr lang="ja-JP" altLang="en-US" sz="1200" dirty="0">
                          <a:latin typeface="Meiryo UI" panose="020B0604030504040204" pitchFamily="50" charset="-128"/>
                          <a:ea typeface="Meiryo UI" panose="020B0604030504040204" pitchFamily="50" charset="-128"/>
                        </a:rPr>
                        <a:t>　交通シナリオ</a:t>
                      </a:r>
                    </a:p>
                  </a:txBody>
                  <a:tcPr marL="11880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7445358"/>
                  </a:ext>
                </a:extLst>
              </a:tr>
            </a:tbl>
          </a:graphicData>
        </a:graphic>
      </p:graphicFrame>
      <p:sp>
        <p:nvSpPr>
          <p:cNvPr id="5" name="テキスト ボックス 2">
            <a:extLst>
              <a:ext uri="{FF2B5EF4-FFF2-40B4-BE49-F238E27FC236}">
                <a16:creationId xmlns:a16="http://schemas.microsoft.com/office/drawing/2014/main" id="{43738110-812F-B318-776F-2061D8CDFF73}"/>
              </a:ext>
            </a:extLst>
          </p:cNvPr>
          <p:cNvSpPr txBox="1">
            <a:spLocks noChangeArrowheads="1"/>
          </p:cNvSpPr>
          <p:nvPr/>
        </p:nvSpPr>
        <p:spPr bwMode="auto">
          <a:xfrm>
            <a:off x="158715" y="772922"/>
            <a:ext cx="8842410" cy="492443"/>
          </a:xfrm>
          <a:prstGeom prst="rect">
            <a:avLst/>
          </a:prstGeom>
          <a:noFill/>
          <a:ln w="9525">
            <a:noFill/>
            <a:miter lim="800000"/>
            <a:headEnd/>
            <a:tailEnd/>
          </a:ln>
        </p:spPr>
        <p:txBody>
          <a:bodyPr rot="0" vert="horz" wrap="none" lIns="0" tIns="0" rIns="0" bIns="0" anchor="t"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ts val="900"/>
              </a:lnSpc>
              <a:spcAft>
                <a:spcPts val="800"/>
              </a:spcAft>
            </a:pPr>
            <a:r>
              <a:rPr lang="ja-JP" altLang="en-US" sz="1400" kern="100">
                <a:latin typeface="Meiryo UI" panose="020B0604030504040204" pitchFamily="50" charset="-128"/>
                <a:ea typeface="Meiryo UI" panose="020B0604030504040204" pitchFamily="50" charset="-128"/>
                <a:cs typeface="Times New Roman" panose="02020603050405020304" pitchFamily="18" charset="0"/>
              </a:rPr>
              <a:t>◾️</a:t>
            </a:r>
            <a:r>
              <a:rPr lang="en-US" altLang="ja-JP" sz="1400" kern="100">
                <a:latin typeface="Meiryo UI" panose="020B0604030504040204" pitchFamily="50" charset="-128"/>
                <a:ea typeface="Meiryo UI" panose="020B0604030504040204" pitchFamily="50" charset="-128"/>
                <a:cs typeface="Times New Roman" panose="02020603050405020304" pitchFamily="18" charset="0"/>
              </a:rPr>
              <a:t>4.2.3 ODD</a:t>
            </a:r>
            <a:r>
              <a:rPr lang="ja-JP" altLang="en-US" sz="1400" kern="100">
                <a:latin typeface="Meiryo UI" panose="020B0604030504040204" pitchFamily="50" charset="-128"/>
                <a:ea typeface="Meiryo UI" panose="020B0604030504040204" pitchFamily="50" charset="-128"/>
                <a:cs typeface="Times New Roman" panose="02020603050405020304" pitchFamily="18" charset="0"/>
              </a:rPr>
              <a:t>枠組み</a:t>
            </a:r>
            <a:endParaRPr lang="en-US" altLang="ja-JP" sz="1400" kern="100">
              <a:latin typeface="Meiryo UI" panose="020B0604030504040204" pitchFamily="50" charset="-128"/>
              <a:ea typeface="Meiryo UI" panose="020B0604030504040204" pitchFamily="50" charset="-128"/>
              <a:cs typeface="Times New Roman" panose="02020603050405020304" pitchFamily="18" charset="0"/>
            </a:endParaRPr>
          </a:p>
          <a:p>
            <a:pPr>
              <a:lnSpc>
                <a:spcPts val="900"/>
              </a:lnSpc>
              <a:spcAft>
                <a:spcPts val="800"/>
              </a:spcAft>
            </a:pPr>
            <a:r>
              <a:rPr lang="ja-JP" altLang="en-US" sz="1200" kern="100">
                <a:latin typeface="Meiryo UI" panose="020B0604030504040204" pitchFamily="50" charset="-128"/>
                <a:ea typeface="Meiryo UI" panose="020B0604030504040204" pitchFamily="50" charset="-128"/>
                <a:cs typeface="Times New Roman" panose="02020603050405020304" pitchFamily="18" charset="0"/>
              </a:rPr>
              <a:t>　　</a:t>
            </a:r>
            <a:r>
              <a:rPr lang="en-US" altLang="ja-JP" sz="1200" kern="100">
                <a:latin typeface="Meiryo UI" panose="020B0604030504040204" pitchFamily="50" charset="-128"/>
                <a:ea typeface="Meiryo UI" panose="020B0604030504040204" pitchFamily="50" charset="-128"/>
                <a:cs typeface="Times New Roman" panose="02020603050405020304" pitchFamily="18" charset="0"/>
              </a:rPr>
              <a:t>ODD</a:t>
            </a:r>
            <a:r>
              <a:rPr lang="ja-JP" altLang="en-US" sz="1200" kern="100">
                <a:latin typeface="Meiryo UI" panose="020B0604030504040204" pitchFamily="50" charset="-128"/>
                <a:ea typeface="Meiryo UI" panose="020B0604030504040204" pitchFamily="50" charset="-128"/>
                <a:cs typeface="Times New Roman" panose="02020603050405020304" pitchFamily="18" charset="0"/>
              </a:rPr>
              <a:t>を分析して、網羅的にカバーするシナリオを生成し、シナリオの条件に応答する動作性能を定義することにより、</a:t>
            </a:r>
            <a:r>
              <a:rPr lang="en-US" altLang="ja-JP" sz="1200" kern="100">
                <a:latin typeface="Meiryo UI" panose="020B0604030504040204" pitchFamily="50" charset="-128"/>
                <a:ea typeface="Meiryo UI" panose="020B0604030504040204" pitchFamily="50" charset="-128"/>
                <a:cs typeface="Times New Roman" panose="02020603050405020304" pitchFamily="18" charset="0"/>
              </a:rPr>
              <a:t>ADS</a:t>
            </a:r>
            <a:r>
              <a:rPr lang="ja-JP" altLang="en-US" sz="1200" kern="100">
                <a:latin typeface="Meiryo UI" panose="020B0604030504040204" pitchFamily="50" charset="-128"/>
                <a:ea typeface="Meiryo UI" panose="020B0604030504040204" pitchFamily="50" charset="-128"/>
                <a:cs typeface="Times New Roman" panose="02020603050405020304" pitchFamily="18" charset="0"/>
              </a:rPr>
              <a:t>評価を可能にする</a:t>
            </a:r>
            <a:endParaRPr lang="en-US" altLang="ja-JP" sz="1200" kern="100">
              <a:latin typeface="Meiryo UI" panose="020B0604030504040204" pitchFamily="50" charset="-128"/>
              <a:ea typeface="Meiryo UI" panose="020B0604030504040204" pitchFamily="50" charset="-128"/>
              <a:cs typeface="Times New Roman" panose="02020603050405020304" pitchFamily="18" charset="0"/>
            </a:endParaRPr>
          </a:p>
        </p:txBody>
      </p:sp>
    </p:spTree>
    <p:extLst>
      <p:ext uri="{BB962C8B-B14F-4D97-AF65-F5344CB8AC3E}">
        <p14:creationId xmlns:p14="http://schemas.microsoft.com/office/powerpoint/2010/main" val="779003481"/>
      </p:ext>
    </p:extLst>
  </p:cSld>
  <p:clrMapOvr>
    <a:masterClrMapping/>
  </p:clrMapOvr>
</p:sld>
</file>

<file path=ppt/theme/theme1.xml><?xml version="1.0" encoding="utf-8"?>
<a:theme xmlns:a="http://schemas.openxmlformats.org/drawingml/2006/main" name="Office テーマ">
  <a:themeElements>
    <a:clrScheme name="スリップストリーム">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vert="eaVert" wrap="square" rtlCol="0">
        <a:spAutoFit/>
      </a:bodyPr>
      <a:lstStyle>
        <a:defPPr algn="l">
          <a:defRPr sz="1100" b="1" dirty="0" smtClean="0">
            <a:solidFill>
              <a:srgbClr val="0070C0"/>
            </a:solidFill>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f9156674-105d-4217-b51e-a4776c30cb98">
      <Terms xmlns="http://schemas.microsoft.com/office/infopath/2007/PartnerControls"/>
    </lcf76f155ced4ddcb4097134ff3c332f>
    <TaxCatchAll xmlns="c5b92a7e-4c5f-41e9-a960-68f7f510b4a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2648FC33C91F34419F242CD2AC6E397B" ma:contentTypeVersion="18" ma:contentTypeDescription="新しいドキュメントを作成します。" ma:contentTypeScope="" ma:versionID="7746ebb6cea6f4cfce7a1437fad96789">
  <xsd:schema xmlns:xsd="http://www.w3.org/2001/XMLSchema" xmlns:xs="http://www.w3.org/2001/XMLSchema" xmlns:p="http://schemas.microsoft.com/office/2006/metadata/properties" xmlns:ns1="http://schemas.microsoft.com/sharepoint/v3" xmlns:ns2="f9156674-105d-4217-b51e-a4776c30cb98" xmlns:ns3="c5b92a7e-4c5f-41e9-a960-68f7f510b4ab" targetNamespace="http://schemas.microsoft.com/office/2006/metadata/properties" ma:root="true" ma:fieldsID="a912cc599b562ce27c921cdb0e7176d9" ns1:_="" ns2:_="" ns3:_="">
    <xsd:import namespace="http://schemas.microsoft.com/sharepoint/v3"/>
    <xsd:import namespace="f9156674-105d-4217-b51e-a4776c30cb98"/>
    <xsd:import namespace="c5b92a7e-4c5f-41e9-a960-68f7f510b4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1:_ip_UnifiedCompliancePolicyProperties" minOccurs="0"/>
                <xsd:element ref="ns1:_ip_UnifiedCompliancePolicyUIAction"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統合コンプライアンス ポリシーのプロパティ" ma:hidden="true" ma:internalName="_ip_UnifiedCompliancePolicyProperties">
      <xsd:simpleType>
        <xsd:restriction base="dms:Note"/>
      </xsd:simpleType>
    </xsd:element>
    <xsd:element name="_ip_UnifiedCompliancePolicyUIAction" ma:index="22" nillable="true" ma:displayName="統合コンプライアンス ポリシーの UI アクション"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156674-105d-4217-b51e-a4776c30cb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Location" ma:index="13" nillable="true" ma:displayName="Location" ma:indexed="true"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画像タグ" ma:readOnly="false" ma:fieldId="{5cf76f15-5ced-4ddc-b409-7134ff3c332f}" ma:taxonomyMulti="true" ma:sspId="8776f33e-360e-4421-95ec-db1b42831c87"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5b92a7e-4c5f-41e9-a960-68f7f510b4a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c9776970-f051-44c2-a6fd-34674947b550}" ma:internalName="TaxCatchAll" ma:showField="CatchAllData" ma:web="c5b92a7e-4c5f-41e9-a960-68f7f510b4ab">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B031D9-D065-426C-89FF-90194664A50A}">
  <ds:schemaRefs>
    <ds:schemaRef ds:uri="http://schemas.microsoft.com/sharepoint/v3/contenttype/forms"/>
  </ds:schemaRefs>
</ds:datastoreItem>
</file>

<file path=customXml/itemProps2.xml><?xml version="1.0" encoding="utf-8"?>
<ds:datastoreItem xmlns:ds="http://schemas.openxmlformats.org/officeDocument/2006/customXml" ds:itemID="{7B783C9B-9B34-4BA7-BB01-4CEF0B0519B7}">
  <ds:schemaRefs>
    <ds:schemaRef ds:uri="http://purl.org/dc/terms/"/>
    <ds:schemaRef ds:uri="f9156674-105d-4217-b51e-a4776c30cb98"/>
    <ds:schemaRef ds:uri="http://www.w3.org/XML/1998/namespace"/>
    <ds:schemaRef ds:uri="http://schemas.microsoft.com/office/2006/documentManagement/types"/>
    <ds:schemaRef ds:uri="http://purl.org/dc/elements/1.1/"/>
    <ds:schemaRef ds:uri="c5b92a7e-4c5f-41e9-a960-68f7f510b4ab"/>
    <ds:schemaRef ds:uri="http://schemas.openxmlformats.org/package/2006/metadata/core-properties"/>
    <ds:schemaRef ds:uri="http://schemas.microsoft.com/sharepoint/v3"/>
    <ds:schemaRef ds:uri="http://schemas.microsoft.com/office/infopath/2007/PartnerControl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A8D20B6C-022D-4E40-9C42-42108365ACF1}">
  <ds:schemaRefs>
    <ds:schemaRef ds:uri="c5b92a7e-4c5f-41e9-a960-68f7f510b4ab"/>
    <ds:schemaRef ds:uri="f9156674-105d-4217-b51e-a4776c30cb9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5350</TotalTime>
  <Words>4300</Words>
  <Application>Microsoft Macintosh PowerPoint</Application>
  <PresentationFormat>ワイド画面</PresentationFormat>
  <Paragraphs>520</Paragraphs>
  <Slides>19</Slides>
  <Notes>3</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19</vt:i4>
      </vt:variant>
    </vt:vector>
  </HeadingPairs>
  <TitlesOfParts>
    <vt:vector size="25" baseType="lpstr">
      <vt:lpstr>Meiryo UI</vt:lpstr>
      <vt:lpstr>游ゴシック</vt:lpstr>
      <vt:lpstr>Arial</vt:lpstr>
      <vt:lpstr>Calibri</vt:lpstr>
      <vt:lpstr>Times New Roman</vt:lpstr>
      <vt:lpstr>Office テーマ</vt:lpstr>
      <vt:lpstr>Guidelines and recommendations for ADS safety requirements, assessments and test methods to inform regulatory development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Guidelines and recommendations for ADS safety requirements, assessments and test methods to inform regulatory development</dc:title>
  <dc:creator>Mayu Ninagawa</dc:creator>
  <cp:keywords>SecrecyB; A.01.0010; HM</cp:keywords>
  <cp:lastModifiedBy>Mayu Ninagawa</cp:lastModifiedBy>
  <cp:revision>4</cp:revision>
  <dcterms:created xsi:type="dcterms:W3CDTF">2025-05-05T08:30:15Z</dcterms:created>
  <dcterms:modified xsi:type="dcterms:W3CDTF">2026-03-01T08:36:34Z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0x0101002648FC33C91F34419F242CD2AC6E397B</vt:lpwstr>
  </property>
  <property fmtid="{D5CDD505-2E9C-101B-9397-08002B2CF9AE}" pid="3" name="MediaServiceImageTags">
    <vt:lpwstr/>
  </property>
</Properties>
</file>